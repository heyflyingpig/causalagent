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screen16x9"/>
  <p:notesSz cx="6858000" cy="9144000"/>
  <p:defaultTextStyle>
    <a:lvl1pPr marL="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130" autoAdjust="0"/>
    <p:restoredTop sz="87621" autoAdjust="0"/>
  </p:normalViewPr>
  <p:slideViewPr>
    <p:cSldViewPr showGuides="1">
      <p:cViewPr varScale="1">
        <p:scale>
          <a:sx n="72" d="100"/>
          <a:sy n="72" d="100"/>
        </p:scale>
        <p:origin x="-102" y="-222"/>
      </p:cViewPr>
      <p:guideLst>
        <p:guide orient="horz" pos="162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zh-CN" sz="1200"/>
            </a:lvl1pPr>
          </a:lstStyle>
          <a:p>
            <a:fld id="{A8ADFD5B-A66C-449C-B6E8-FB716D07777D}" type="datetimeFigureOut">
              <a:rPr/>
            </a:fld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zh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zh-CN" sz="1200"/>
            </a:lvl1pPr>
          </a:lstStyle>
          <a:p>
            <a:fld id="{CA5D3BF3-D352-46FC-8343-31F56E6730EA}" type="slidenum">
              <a:rPr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latinLnBrk="0">
              <a:buNone/>
              <a:defRPr lang="zh-CN" sz="2800">
                <a:solidFill>
                  <a:srgbClr val="FFFFFF"/>
                </a:solidFill>
              </a:defRPr>
            </a:lvl1pPr>
            <a:lvl2pPr marL="457200" indent="0" algn="ctr" latinLnBrk="0">
              <a:buNone/>
            </a:lvl2pPr>
            <a:lvl3pPr marL="914400" indent="0" algn="ctr" latinLnBrk="0">
              <a:buNone/>
            </a:lvl3pPr>
            <a:lvl4pPr marL="1371600" indent="0" algn="ctr" latinLnBrk="0">
              <a:buNone/>
            </a:lvl4pPr>
            <a:lvl5pPr marL="1828800" indent="0" algn="ctr" latinLnBrk="0">
              <a:buNone/>
            </a:lvl5pPr>
            <a:lvl6pPr marL="2286000" indent="0" algn="ctr" latinLnBrk="0">
              <a:buNone/>
            </a:lvl6pPr>
            <a:lvl7pPr marL="2743200" indent="0" algn="ctr" latinLnBrk="0">
              <a:buNone/>
            </a:lvl7pPr>
            <a:lvl8pPr marL="3200400" indent="0" algn="ctr" latinLnBrk="0">
              <a:buNone/>
            </a:lvl8pPr>
            <a:lvl9pPr marL="3657600" indent="0" algn="ctr" latinLnBrk="0">
              <a:buNone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latinLnBrk="0">
              <a:defRPr lang="zh-CN" sz="2000">
                <a:solidFill>
                  <a:srgbClr val="FFFFFF"/>
                </a:solidFill>
              </a:defRPr>
            </a:lvl1pPr>
          </a:lstStyle>
          <a:p>
            <a:pPr algn="ctr"/>
            <a:fld id="{047E157E-8DCB-4F70-A0AF-5EB586A91DD4}" type="datetime1">
              <a:rPr lang="zh-CN" altLang="en-US">
                <a:solidFill>
                  <a:srgbClr val="FFFFFF"/>
                </a:solidFill>
              </a:rPr>
            </a:fld>
            <a:endParaRPr lang="zh-CN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latinLnBrk="0">
              <a:defRPr lang="zh-CN">
                <a:solidFill>
                  <a:schemeClr val="tx2"/>
                </a:solidFill>
              </a:defRPr>
            </a:lvl1pPr>
          </a:lstStyle>
          <a:p>
            <a:pPr algn="r"/>
            <a:endParaRPr lang="zh-CN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latinLnBrk="0">
              <a:defRPr lang="zh-CN">
                <a:solidFill>
                  <a:schemeClr val="tx2"/>
                </a:solidFill>
              </a:defRPr>
            </a:lvl1pPr>
          </a:lstStyle>
          <a:p>
            <a:fld id="{8F82E0A0-C266-4798-8C8F-B9F91E9DA37E}" type="slidenum">
              <a:rPr lang="zh-CN">
                <a:solidFill>
                  <a:schemeClr val="tx2"/>
                </a:solidFill>
              </a:rPr>
            </a:fld>
            <a:endParaRPr lang="zh-CN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latinLnBrk="0">
              <a:defRPr lang="zh-CN" cap="all" baseline="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/>
            </a:fld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</a:fld>
            <a:endParaRPr lang="zh-CN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latinLnBrk="0">
              <a:buNone/>
              <a:defRPr lang="zh-CN" sz="2800">
                <a:solidFill>
                  <a:schemeClr val="tx2"/>
                </a:solidFill>
              </a:defRPr>
            </a:lvl1pPr>
            <a:lvl2pPr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latinLnBrk="0">
              <a:buNone/>
              <a:defRPr lang="zh-CN" sz="4400" b="0" cap="none">
                <a:solidFill>
                  <a:srgbClr val="FFFFFF"/>
                </a:solidFill>
              </a:defRPr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rPr/>
            </a:fld>
            <a:endParaRPr 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latinLnBrk="0">
              <a:defRPr lang="zh-CN" sz="2400">
                <a:solidFill>
                  <a:srgbClr val="FFFFFF"/>
                </a:solidFill>
              </a:defRPr>
            </a:lvl1pPr>
          </a:lstStyle>
          <a:p>
            <a:pPr algn="ctr"/>
            <a:fld id="{8F82E0A0-C266-4798-8C8F-B9F91E9DA37E}" type="slidenum">
              <a:rPr lang="zh-CN" sz="2400" b="1">
                <a:solidFill>
                  <a:srgbClr val="FFFFFF"/>
                </a:solidFill>
              </a:rPr>
            </a:fld>
            <a:endParaRPr lang="zh-CN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/>
            </a:fld>
            <a:endParaRPr 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</a:fld>
            <a:endParaRPr lang="zh-C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latinLnBrk="0">
              <a:defRPr lang="zh-CN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/>
            </a:fld>
            <a:endParaRPr lang="zh-C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</a:fld>
            <a:endParaRPr 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latinLnBrk="0">
              <a:buFontTx/>
              <a:buNone/>
              <a:defRPr lang="zh-CN"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latinLnBrk="0">
              <a:buFontTx/>
              <a:buNone/>
              <a:defRPr lang="zh-CN"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rPr/>
            </a:fld>
            <a:endParaRPr 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zh-CN">
                <a:solidFill>
                  <a:srgbClr val="FFFFFF"/>
                </a:solidFill>
              </a:defRPr>
            </a:lvl1pPr>
          </a:lstStyle>
          <a:p>
            <a:fld id="{A3F7CB7D-F184-43C7-B6FD-03D728E1BBFF}" type="slidenum">
              <a:rPr lang="zh-CN">
                <a:solidFill>
                  <a:srgbClr val="FFFFFF"/>
                </a:solidFill>
              </a:rPr>
            </a:fld>
            <a:endParaRPr 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rPr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latinLnBrk="0">
              <a:defRPr lang="zh-CN">
                <a:solidFill>
                  <a:schemeClr val="tx2"/>
                </a:solidFill>
              </a:defRPr>
            </a:lvl1pPr>
          </a:lstStyle>
          <a:p>
            <a:fld id="{A3F7CB7D-F184-43C7-B6FD-03D728E1BBFF}" type="slidenum">
              <a:rPr lang="zh-CN">
                <a:solidFill>
                  <a:schemeClr val="tx2"/>
                </a:solidFill>
              </a:rPr>
            </a:fld>
            <a:endParaRPr lang="zh-CN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latinLnBrk="0">
              <a:buNone/>
              <a:defRPr lang="zh-CN" sz="4200" b="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rPr/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zh-CN">
                <a:solidFill>
                  <a:srgbClr val="FFFFFF"/>
                </a:solidFill>
              </a:defRPr>
            </a:lvl1pPr>
          </a:lstStyle>
          <a:p>
            <a:fld id="{A3F7CB7D-F184-43C7-B6FD-03D728E1BBFF}" type="slidenum">
              <a:rPr lang="zh-CN">
                <a:solidFill>
                  <a:srgbClr val="FFFFFF"/>
                </a:solidFill>
              </a:rPr>
            </a:fld>
            <a:endParaRPr lang="zh-CN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latinLnBrk="0">
              <a:spcAft>
                <a:spcPts val="1000"/>
              </a:spcAft>
              <a:buNone/>
              <a:defRPr lang="zh-CN" sz="1800"/>
            </a:lvl1pPr>
            <a:lvl2pPr latinLnBrk="0">
              <a:buNone/>
              <a:defRPr lang="zh-CN" sz="1200"/>
            </a:lvl2pPr>
            <a:lvl3pPr latinLnBrk="0">
              <a:buNone/>
              <a:defRPr lang="zh-CN" sz="1000"/>
            </a:lvl3pPr>
            <a:lvl4pPr latinLnBrk="0">
              <a:buNone/>
              <a:defRPr lang="zh-CN" sz="900"/>
            </a:lvl4pPr>
            <a:lvl5pPr latinLnBrk="0">
              <a:buNone/>
              <a:defRPr lang="zh-CN" sz="900"/>
            </a:lvl5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latinLnBrk="0">
              <a:buNone/>
              <a:defRPr lang="zh-CN" sz="3200"/>
            </a:lvl1pPr>
          </a:lstStyle>
          <a:p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latinLnBrk="0">
              <a:buFontTx/>
              <a:buNone/>
              <a:defRPr lang="zh-CN" sz="1700"/>
            </a:lvl1pPr>
            <a:lvl2pPr latinLnBrk="0">
              <a:buFontTx/>
              <a:buNone/>
              <a:defRPr lang="zh-CN" sz="1200"/>
            </a:lvl2pPr>
            <a:lvl3pPr latinLnBrk="0">
              <a:buFontTx/>
              <a:buNone/>
              <a:defRPr lang="zh-CN" sz="1000"/>
            </a:lvl3pPr>
            <a:lvl4pPr latinLnBrk="0">
              <a:buFontTx/>
              <a:buNone/>
              <a:defRPr lang="zh-CN" sz="900"/>
            </a:lvl4pPr>
            <a:lvl5pPr latinLnBrk="0">
              <a:buFontTx/>
              <a:buNone/>
              <a:defRPr lang="zh-CN" sz="900"/>
            </a:lvl5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latinLnBrk="0">
              <a:buNone/>
              <a:defRPr lang="zh-CN" sz="2800" b="0">
                <a:solidFill>
                  <a:srgbClr val="FFFFFF"/>
                </a:solidFill>
              </a:defRPr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rPr/>
            </a:fld>
            <a:endParaRPr 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latinLnBrk="0">
              <a:defRPr lang="zh-CN" sz="2800"/>
            </a:lvl1pPr>
          </a:lstStyle>
          <a:p>
            <a:pPr algn="ctr"/>
            <a:fld id="{8F82E0A0-C266-4798-8C8F-B9F91E9DA37E}" type="slidenum">
              <a:rPr lang="zh-CN" sz="2800" b="1">
                <a:solidFill>
                  <a:srgbClr val="FFFFFF"/>
                </a:solidFill>
              </a:rPr>
            </a:fld>
            <a:endParaRPr lang="zh-CN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  <a:p>
            <a:pPr lvl="5"/>
            <a:endParaRPr lang="zh-CN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latinLnBrk="0">
              <a:defRPr lang="zh-CN" sz="1400">
                <a:solidFill>
                  <a:schemeClr val="tx2"/>
                </a:solidFill>
              </a:defRPr>
            </a:lvl1pPr>
          </a:lstStyle>
          <a:p>
            <a:fld id="{E4606EA6-EFEA-4C30-9264-4F9291A5780D}" type="datetime1">
              <a:rPr/>
            </a:fld>
            <a:endParaRPr lang="zh-CN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latinLnBrk="0">
              <a:defRPr lang="zh-CN" sz="1400">
                <a:solidFill>
                  <a:schemeClr val="tx2"/>
                </a:solidFill>
              </a:defRPr>
            </a:lvl1pPr>
          </a:lstStyle>
          <a:p>
            <a:pPr algn="r"/>
            <a:endParaRPr lang="zh-CN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latinLnBrk="0">
              <a:defRPr lang="zh-CN" sz="1400" b="1">
                <a:solidFill>
                  <a:srgbClr val="FFFFFF"/>
                </a:solidFill>
              </a:defRPr>
            </a:lvl1pPr>
          </a:lstStyle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</a:fld>
            <a:endParaRPr lang="zh-CN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latinLnBrk="0">
        <a:spcBef>
          <a:spcPct val="0"/>
        </a:spcBef>
        <a:buNone/>
        <a:defRPr lang="zh-CN" sz="4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latinLnBrk="0">
        <a:spcBef>
          <a:spcPts val="700"/>
        </a:spcBef>
        <a:buClr>
          <a:schemeClr val="accent2"/>
        </a:buClr>
        <a:buSzPct val="60000"/>
        <a:buFont typeface="Wingdings" panose="05000000000000000000"/>
        <a:buChar char=""/>
        <a:defRPr lang="zh-CN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latinLnBrk="0">
        <a:spcBef>
          <a:spcPts val="550"/>
        </a:spcBef>
        <a:buClr>
          <a:schemeClr val="accent1"/>
        </a:buClr>
        <a:buSzPct val="70000"/>
        <a:buFont typeface="Wingdings 2" panose="05020102010507070707"/>
        <a:buChar char=""/>
        <a:defRPr lang="zh-CN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latinLnBrk="0">
        <a:spcBef>
          <a:spcPts val="500"/>
        </a:spcBef>
        <a:buClr>
          <a:schemeClr val="accent2"/>
        </a:buClr>
        <a:buSzPct val="75000"/>
        <a:buFont typeface="Wingdings" panose="05000000000000000000"/>
        <a:buChar char=""/>
        <a:defRPr lang="zh-CN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latinLnBrk="0">
        <a:spcBef>
          <a:spcPts val="400"/>
        </a:spcBef>
        <a:buClr>
          <a:schemeClr val="accent3"/>
        </a:buClr>
        <a:buSzPct val="75000"/>
        <a:buFont typeface="Wingdings" panose="05000000000000000000"/>
        <a:buChar char="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latinLnBrk="0">
        <a:spcBef>
          <a:spcPts val="400"/>
        </a:spcBef>
        <a:buClr>
          <a:schemeClr val="accent4"/>
        </a:buClr>
        <a:buSzPct val="65000"/>
        <a:buFont typeface="Wingdings" panose="05000000000000000000"/>
        <a:buChar char="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latinLnBrk="0">
        <a:spcBef>
          <a:spcPct val="20000"/>
        </a:spcBef>
        <a:buClr>
          <a:schemeClr val="accent1"/>
        </a:buClr>
        <a:buFont typeface="Wingdings" panose="05000000000000000000"/>
        <a:buNone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latinLnBrk="0">
        <a:spcBef>
          <a:spcPct val="20000"/>
        </a:spcBef>
        <a:buClr>
          <a:schemeClr val="accent2"/>
        </a:buClr>
        <a:buFont typeface="Wingdings" panose="05000000000000000000"/>
        <a:buChar char="§"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latinLnBrk="0">
        <a:spcBef>
          <a:spcPct val="20000"/>
        </a:spcBef>
        <a:buClr>
          <a:schemeClr val="accent3"/>
        </a:buClr>
        <a:buFont typeface="Wingdings" panose="05000000000000000000"/>
        <a:buChar char="§"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latinLnBrk="0">
        <a:spcBef>
          <a:spcPct val="20000"/>
        </a:spcBef>
        <a:buClr>
          <a:schemeClr val="accent4"/>
        </a:buClr>
        <a:buFont typeface="Wingdings" panose="05000000000000000000"/>
        <a:buChar char="§"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04800" y="254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投屏页 01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304800" y="558800"/>
            <a:ext cx="762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阶段一把数据库变成一套可控的运行系统</a:t>
            </a:r>
            <a:endParaRPr lang="zh-CN" sz="2100"/>
          </a:p>
        </p:txBody>
      </p:sp>
      <p:sp>
        <p:nvSpPr>
          <p:cNvPr id="4" name="Rectangle 4"/>
          <p:cNvSpPr/>
          <p:nvPr/>
        </p:nvSpPr>
        <p:spPr>
          <a:xfrm>
            <a:off x="292100" y="1231900"/>
            <a:ext cx="7645400" cy="431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304800" y="1244600"/>
            <a:ext cx="127000" cy="428625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85800" y="1546225"/>
            <a:ext cx="30956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1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PHASE ONE</a:t>
            </a:r>
            <a:endParaRPr lang="zh-CN" sz="810"/>
          </a:p>
        </p:txBody>
      </p:sp>
      <p:sp>
        <p:nvSpPr>
          <p:cNvPr id="7" name="Text 7"/>
          <p:cNvSpPr txBox="1"/>
          <p:nvPr/>
        </p:nvSpPr>
        <p:spPr>
          <a:xfrm>
            <a:off x="685800" y="2054225"/>
            <a:ext cx="4683125" cy="11509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3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阶段一把数据库</a:t>
            </a:r>
            <a:endParaRPr lang="zh-CN" sz="3125"/>
          </a:p>
          <a:p>
            <a:pPr algn="l"/>
            <a:r>
              <a:rPr lang="zh-CN" altLang="en-US" sz="3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变成一套可控的运行系统</a:t>
            </a:r>
            <a:endParaRPr lang="zh-CN" sz="3125"/>
          </a:p>
        </p:txBody>
      </p:sp>
      <p:sp>
        <p:nvSpPr>
          <p:cNvPr id="8" name="Text 8"/>
          <p:cNvSpPr txBox="1"/>
          <p:nvPr/>
        </p:nvSpPr>
        <p:spPr>
          <a:xfrm>
            <a:off x="701675" y="3260725"/>
            <a:ext cx="4127500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1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从取值、降压到权限、锁与审计闭环</a:t>
            </a:r>
            <a:endParaRPr lang="zh-CN" sz="1310"/>
          </a:p>
        </p:txBody>
      </p:sp>
      <p:sp>
        <p:nvSpPr>
          <p:cNvPr id="9" name="Rectangle 9"/>
          <p:cNvSpPr/>
          <p:nvPr/>
        </p:nvSpPr>
        <p:spPr>
          <a:xfrm>
            <a:off x="5495925" y="1625600"/>
            <a:ext cx="920750" cy="92075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622925" y="1744662"/>
            <a:ext cx="6667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sz="1690"/>
          </a:p>
        </p:txBody>
      </p:sp>
      <p:sp>
        <p:nvSpPr>
          <p:cNvPr id="11" name="Text 11"/>
          <p:cNvSpPr txBox="1"/>
          <p:nvPr/>
        </p:nvSpPr>
        <p:spPr>
          <a:xfrm>
            <a:off x="5622925" y="2133600"/>
            <a:ext cx="666750" cy="325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1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数据路径</a:t>
            </a:r>
            <a:endParaRPr lang="zh-CN" sz="810"/>
          </a:p>
        </p:txBody>
      </p:sp>
      <p:sp>
        <p:nvSpPr>
          <p:cNvPr id="12" name="Rectangle 12"/>
          <p:cNvSpPr/>
          <p:nvPr/>
        </p:nvSpPr>
        <p:spPr>
          <a:xfrm>
            <a:off x="6543675" y="1625600"/>
            <a:ext cx="1000125" cy="92075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670675" y="1744662"/>
            <a:ext cx="746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sz="1690"/>
          </a:p>
        </p:txBody>
      </p:sp>
      <p:sp>
        <p:nvSpPr>
          <p:cNvPr id="14" name="Text 14"/>
          <p:cNvSpPr txBox="1"/>
          <p:nvPr/>
        </p:nvSpPr>
        <p:spPr>
          <a:xfrm>
            <a:off x="6670675" y="2133600"/>
            <a:ext cx="746125" cy="325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1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数据库账号职责</a:t>
            </a:r>
            <a:endParaRPr lang="zh-CN" sz="810"/>
          </a:p>
        </p:txBody>
      </p:sp>
      <p:sp>
        <p:nvSpPr>
          <p:cNvPr id="15" name="Rectangle 15"/>
          <p:cNvSpPr/>
          <p:nvPr/>
        </p:nvSpPr>
        <p:spPr>
          <a:xfrm>
            <a:off x="5495925" y="2673350"/>
            <a:ext cx="920750" cy="92075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5622925" y="2792412"/>
            <a:ext cx="6667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sz="1690"/>
          </a:p>
        </p:txBody>
      </p:sp>
      <p:sp>
        <p:nvSpPr>
          <p:cNvPr id="17" name="Text 17"/>
          <p:cNvSpPr txBox="1"/>
          <p:nvPr/>
        </p:nvSpPr>
        <p:spPr>
          <a:xfrm>
            <a:off x="5622925" y="3181350"/>
            <a:ext cx="666750" cy="325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1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共享快照类型</a:t>
            </a:r>
            <a:endParaRPr lang="zh-CN" sz="810"/>
          </a:p>
        </p:txBody>
      </p:sp>
      <p:sp>
        <p:nvSpPr>
          <p:cNvPr id="18" name="Rectangle 18"/>
          <p:cNvSpPr/>
          <p:nvPr/>
        </p:nvSpPr>
        <p:spPr>
          <a:xfrm>
            <a:off x="6543675" y="2673350"/>
            <a:ext cx="1000125" cy="920750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670675" y="2792412"/>
            <a:ext cx="746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37</a:t>
            </a:r>
            <a:endParaRPr lang="zh-CN" sz="1690"/>
          </a:p>
        </p:txBody>
      </p:sp>
      <p:sp>
        <p:nvSpPr>
          <p:cNvPr id="20" name="Text 20"/>
          <p:cNvSpPr txBox="1"/>
          <p:nvPr/>
        </p:nvSpPr>
        <p:spPr>
          <a:xfrm>
            <a:off x="6670675" y="3181350"/>
            <a:ext cx="746125" cy="325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1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相关提交</a:t>
            </a:r>
            <a:endParaRPr lang="zh-CN" sz="810"/>
          </a:p>
        </p:txBody>
      </p:sp>
      <p:sp>
        <p:nvSpPr>
          <p:cNvPr id="21" name="Rectangle 21"/>
          <p:cNvSpPr/>
          <p:nvPr/>
        </p:nvSpPr>
        <p:spPr>
          <a:xfrm>
            <a:off x="685800" y="4292600"/>
            <a:ext cx="6858000" cy="66675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908050" y="4459288"/>
            <a:ext cx="6413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看得见 · 读得稳 · 写得</a:t>
            </a:r>
            <a:r>
              <a:rPr lang="zh-CN" alt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进 · 查得到</a:t>
            </a:r>
            <a:endParaRPr lang="zh-CN" sz="1500"/>
          </a:p>
        </p:txBody>
      </p:sp>
      <p:sp>
        <p:nvSpPr>
          <p:cNvPr id="23" name="Text 23"/>
          <p:cNvSpPr txBox="1"/>
          <p:nvPr/>
        </p:nvSpPr>
        <p:spPr>
          <a:xfrm>
            <a:off x="7210425" y="5229225"/>
            <a:ext cx="33337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sz="750"/>
          </a:p>
        </p:txBody>
      </p:sp>
      <p:sp>
        <p:nvSpPr>
          <p:cNvPr id="24" name="Rectangle 24"/>
          <p:cNvSpPr/>
          <p:nvPr/>
        </p:nvSpPr>
        <p:spPr>
          <a:xfrm>
            <a:off x="304800" y="5816600"/>
            <a:ext cx="7620000" cy="66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558800" y="60198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投屏内容与讲稿页一一对应</a:t>
            </a:r>
            <a:endParaRPr lang="zh-CN" sz="1400"/>
          </a:p>
        </p:txBody>
      </p:sp>
      <p:sp>
        <p:nvSpPr>
          <p:cNvPr id="26" name="Rectangle 26"/>
          <p:cNvSpPr/>
          <p:nvPr/>
        </p:nvSpPr>
        <p:spPr>
          <a:xfrm>
            <a:off x="8204200" y="254000"/>
            <a:ext cx="3683000" cy="6223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8204200" y="254000"/>
            <a:ext cx="101600" cy="622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8559800" y="533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讲述稿｜01</a:t>
            </a:r>
            <a:endParaRPr lang="zh-CN" sz="1300"/>
          </a:p>
        </p:txBody>
      </p:sp>
      <p:cxnSp>
        <p:nvCxnSpPr>
          <p:cNvPr id="29" name="Connector 29"/>
          <p:cNvCxnSpPr/>
          <p:nvPr/>
        </p:nvCxnSpPr>
        <p:spPr>
          <a:xfrm>
            <a:off x="8559800" y="990600"/>
            <a:ext cx="29718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30" name="Text 30"/>
          <p:cNvSpPr txBox="1"/>
          <p:nvPr/>
        </p:nvSpPr>
        <p:spPr>
          <a:xfrm>
            <a:off x="8559800" y="1219200"/>
            <a:ext cx="2921000" cy="485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大家好，我今天不打算把页面功能从头到尾念一遍，而是想讲清楚阶段一背后的数据库逻辑。这个阶段最终做成的，不只是一个管理员看板，而是一套让数据库能被看见、被保护、被安全操作，而且事后还能追溯的运行体系。后面我会用三条数据路径，把取值、降压、权限和并发控制串成一条完整链路。</a:t>
            </a:r>
            <a:endParaRPr lang="zh-CN" sz="1500"/>
          </a:p>
        </p:txBody>
      </p:sp>
      <p:sp>
        <p:nvSpPr>
          <p:cNvPr id="31" name="Text 31"/>
          <p:cNvSpPr txBox="1"/>
          <p:nvPr/>
        </p:nvSpPr>
        <p:spPr>
          <a:xfrm>
            <a:off x="8559800" y="61214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可直接照读，也可按现场节奏删减。</a:t>
            </a:r>
            <a:endParaRPr lang="zh-CN"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04800" y="254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投屏页 02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304800" y="558800"/>
            <a:ext cx="762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真正的风险：查询会不会伤到数据库</a:t>
            </a:r>
            <a:endParaRPr lang="zh-CN" sz="2100"/>
          </a:p>
        </p:txBody>
      </p:sp>
      <p:sp>
        <p:nvSpPr>
          <p:cNvPr id="4" name="Rectangle 4"/>
          <p:cNvSpPr/>
          <p:nvPr/>
        </p:nvSpPr>
        <p:spPr>
          <a:xfrm>
            <a:off x="292100" y="1231900"/>
            <a:ext cx="7645400" cy="431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58800" y="1435100"/>
            <a:ext cx="79375" cy="79375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1371600"/>
            <a:ext cx="6667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真正的风险：查询会不会伤到数据库</a:t>
            </a:r>
            <a:endParaRPr lang="zh-CN" sz="2125"/>
          </a:p>
        </p:txBody>
      </p:sp>
      <p:cxnSp>
        <p:nvCxnSpPr>
          <p:cNvPr id="7" name="Connector 7"/>
          <p:cNvCxnSpPr/>
          <p:nvPr/>
        </p:nvCxnSpPr>
        <p:spPr>
          <a:xfrm>
            <a:off x="558800" y="5149850"/>
            <a:ext cx="7112000" cy="1270"/>
          </a:xfrm>
          <a:prstGeom prst="line">
            <a:avLst/>
          </a:prstGeom>
          <a:ln w="7938">
            <a:solidFill>
              <a:srgbClr val="B8BCC4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558800" y="5229225"/>
            <a:ext cx="238125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750"/>
          </a:p>
        </p:txBody>
      </p:sp>
      <p:sp>
        <p:nvSpPr>
          <p:cNvPr id="9" name="Text 9"/>
          <p:cNvSpPr txBox="1"/>
          <p:nvPr/>
        </p:nvSpPr>
        <p:spPr>
          <a:xfrm>
            <a:off x="7337425" y="5213350"/>
            <a:ext cx="33337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sz="750"/>
          </a:p>
        </p:txBody>
      </p:sp>
      <p:sp>
        <p:nvSpPr>
          <p:cNvPr id="10" name="Rectangle 10"/>
          <p:cNvSpPr/>
          <p:nvPr/>
        </p:nvSpPr>
        <p:spPr>
          <a:xfrm>
            <a:off x="558800" y="2149475"/>
            <a:ext cx="2206625" cy="180975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58800" y="2149475"/>
            <a:ext cx="55562" cy="180975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17550" y="2284412"/>
            <a:ext cx="1920875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7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刷新放大查询</a:t>
            </a:r>
            <a:endParaRPr lang="zh-CN" sz="1375"/>
          </a:p>
        </p:txBody>
      </p:sp>
      <p:sp>
        <p:nvSpPr>
          <p:cNvPr id="13" name="Text 13"/>
          <p:cNvSpPr txBox="1"/>
          <p:nvPr/>
        </p:nvSpPr>
        <p:spPr>
          <a:xfrm>
            <a:off x="717550" y="2601912"/>
            <a:ext cx="1920875" cy="1254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4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每个浏览器都现场采集，监控自己可能变成新负载。</a:t>
            </a:r>
            <a:endParaRPr lang="zh-CN" sz="940"/>
          </a:p>
        </p:txBody>
      </p:sp>
      <p:sp>
        <p:nvSpPr>
          <p:cNvPr id="14" name="Rectangle 14"/>
          <p:cNvSpPr/>
          <p:nvPr/>
        </p:nvSpPr>
        <p:spPr>
          <a:xfrm>
            <a:off x="3011488" y="2149475"/>
            <a:ext cx="2206625" cy="180975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3011488" y="2149475"/>
            <a:ext cx="55562" cy="180975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3170238" y="2284412"/>
            <a:ext cx="1920875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7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权限只靠前端</a:t>
            </a:r>
            <a:endParaRPr lang="zh-CN" sz="1375"/>
          </a:p>
        </p:txBody>
      </p:sp>
      <p:sp>
        <p:nvSpPr>
          <p:cNvPr id="17" name="Text 17"/>
          <p:cNvSpPr txBox="1"/>
          <p:nvPr/>
        </p:nvSpPr>
        <p:spPr>
          <a:xfrm>
            <a:off x="3170238" y="2601912"/>
            <a:ext cx="1920875" cy="1254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4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隐藏按钮挡不住直接调用接口，旧 Session 也可能保留过期角色。</a:t>
            </a:r>
            <a:endParaRPr lang="zh-CN" sz="940"/>
          </a:p>
        </p:txBody>
      </p:sp>
      <p:sp>
        <p:nvSpPr>
          <p:cNvPr id="18" name="Rectangle 18"/>
          <p:cNvSpPr/>
          <p:nvPr/>
        </p:nvSpPr>
        <p:spPr>
          <a:xfrm>
            <a:off x="5464175" y="2149475"/>
            <a:ext cx="2206625" cy="180975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464175" y="2149475"/>
            <a:ext cx="55562" cy="1809750"/>
          </a:xfrm>
          <a:prstGeom prst="rect">
            <a:avLst/>
          </a:prstGeom>
          <a:solidFill>
            <a:srgbClr val="C23B22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5622925" y="2284412"/>
            <a:ext cx="1920875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7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并发把锁拖死</a:t>
            </a:r>
            <a:endParaRPr lang="zh-CN" sz="1375"/>
          </a:p>
        </p:txBody>
      </p:sp>
      <p:sp>
        <p:nvSpPr>
          <p:cNvPr id="21" name="Text 21"/>
          <p:cNvSpPr txBox="1"/>
          <p:nvPr/>
        </p:nvSpPr>
        <p:spPr>
          <a:xfrm>
            <a:off x="5622925" y="2601912"/>
            <a:ext cx="1920875" cy="1254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4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锁顺序不稳定、等待无限、重复重试，都会放大写入风险。</a:t>
            </a:r>
            <a:endParaRPr lang="zh-CN" sz="940"/>
          </a:p>
        </p:txBody>
      </p:sp>
      <p:sp>
        <p:nvSpPr>
          <p:cNvPr id="22" name="Rectangle 22"/>
          <p:cNvSpPr/>
          <p:nvPr/>
        </p:nvSpPr>
        <p:spPr>
          <a:xfrm>
            <a:off x="558800" y="4197350"/>
            <a:ext cx="7112000" cy="60325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749300" y="4348162"/>
            <a:ext cx="6731000" cy="2778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阶段一目标：可观测 / 可控 / 可追溯</a:t>
            </a:r>
            <a:endParaRPr lang="zh-CN" sz="1440"/>
          </a:p>
        </p:txBody>
      </p:sp>
      <p:sp>
        <p:nvSpPr>
          <p:cNvPr id="24" name="Rectangle 24"/>
          <p:cNvSpPr/>
          <p:nvPr/>
        </p:nvSpPr>
        <p:spPr>
          <a:xfrm>
            <a:off x="304800" y="5816600"/>
            <a:ext cx="7620000" cy="66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558800" y="60198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投屏内容与讲稿页一一对应</a:t>
            </a:r>
            <a:endParaRPr lang="zh-CN" sz="1400"/>
          </a:p>
        </p:txBody>
      </p:sp>
      <p:sp>
        <p:nvSpPr>
          <p:cNvPr id="26" name="Rectangle 26"/>
          <p:cNvSpPr/>
          <p:nvPr/>
        </p:nvSpPr>
        <p:spPr>
          <a:xfrm>
            <a:off x="8204200" y="254000"/>
            <a:ext cx="3683000" cy="6223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8204200" y="254000"/>
            <a:ext cx="101600" cy="622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8559800" y="533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讲述稿｜02</a:t>
            </a:r>
            <a:endParaRPr lang="zh-CN" sz="1300"/>
          </a:p>
        </p:txBody>
      </p:sp>
      <p:cxnSp>
        <p:nvCxnSpPr>
          <p:cNvPr id="29" name="Connector 29"/>
          <p:cNvCxnSpPr/>
          <p:nvPr/>
        </p:nvCxnSpPr>
        <p:spPr>
          <a:xfrm>
            <a:off x="8559800" y="990600"/>
            <a:ext cx="29718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30" name="Text 30"/>
          <p:cNvSpPr txBox="1"/>
          <p:nvPr/>
        </p:nvSpPr>
        <p:spPr>
          <a:xfrm>
            <a:off x="8559800" y="1219200"/>
            <a:ext cx="2921000" cy="485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先说为什么要做这件事。数据库后台最危险的情况，往往不是查不到，而是查得太勤、查得太重，最后监控自己反而拖慢业务。第二个风险是把权限理解成页面上有没有一个管理员按钮，这个按钮可以隐藏入口，但挡不住直接调用接口。第三个风险是并发写入时锁得太久、顺序不一致，容易等待甚至死锁。所以阶段一的目标不是「多做几个页面」，而是让数据库变得可观测、可控、可追溯。</a:t>
            </a:r>
            <a:endParaRPr lang="zh-CN" sz="1500"/>
          </a:p>
        </p:txBody>
      </p:sp>
      <p:sp>
        <p:nvSpPr>
          <p:cNvPr id="31" name="Text 31"/>
          <p:cNvSpPr txBox="1"/>
          <p:nvPr/>
        </p:nvSpPr>
        <p:spPr>
          <a:xfrm>
            <a:off x="8559800" y="61214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可直接照读，也可按现场节奏删减。</a:t>
            </a:r>
            <a:endParaRPr lang="zh-CN"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04800" y="254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投屏页 03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304800" y="558800"/>
            <a:ext cx="762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所有数据库动作，先分成三条路径</a:t>
            </a:r>
            <a:endParaRPr lang="zh-CN" sz="2100"/>
          </a:p>
        </p:txBody>
      </p:sp>
      <p:sp>
        <p:nvSpPr>
          <p:cNvPr id="4" name="Rectangle 4"/>
          <p:cNvSpPr/>
          <p:nvPr/>
        </p:nvSpPr>
        <p:spPr>
          <a:xfrm>
            <a:off x="292100" y="1231900"/>
            <a:ext cx="7645400" cy="431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58800" y="1435100"/>
            <a:ext cx="79375" cy="79375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1371600"/>
            <a:ext cx="6667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所有数据库动作，先分成三条路径</a:t>
            </a:r>
            <a:endParaRPr lang="zh-CN" sz="2125"/>
          </a:p>
        </p:txBody>
      </p:sp>
      <p:cxnSp>
        <p:nvCxnSpPr>
          <p:cNvPr id="7" name="Connector 7"/>
          <p:cNvCxnSpPr/>
          <p:nvPr/>
        </p:nvCxnSpPr>
        <p:spPr>
          <a:xfrm>
            <a:off x="558800" y="5149850"/>
            <a:ext cx="7112000" cy="1270"/>
          </a:xfrm>
          <a:prstGeom prst="line">
            <a:avLst/>
          </a:prstGeom>
          <a:ln w="7938">
            <a:solidFill>
              <a:srgbClr val="B8BCC4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558800" y="5229225"/>
            <a:ext cx="238125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750"/>
          </a:p>
        </p:txBody>
      </p:sp>
      <p:sp>
        <p:nvSpPr>
          <p:cNvPr id="9" name="Text 9"/>
          <p:cNvSpPr txBox="1"/>
          <p:nvPr/>
        </p:nvSpPr>
        <p:spPr>
          <a:xfrm>
            <a:off x="7337425" y="5213350"/>
            <a:ext cx="33337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750"/>
          </a:p>
        </p:txBody>
      </p:sp>
      <p:sp>
        <p:nvSpPr>
          <p:cNvPr id="10" name="Rectangle 10"/>
          <p:cNvSpPr/>
          <p:nvPr/>
        </p:nvSpPr>
        <p:spPr>
          <a:xfrm>
            <a:off x="558800" y="2165350"/>
            <a:ext cx="682625" cy="198438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558800" y="2181225"/>
            <a:ext cx="682625" cy="15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OBSERVE</a:t>
            </a:r>
            <a:endParaRPr lang="zh-CN" sz="750"/>
          </a:p>
        </p:txBody>
      </p:sp>
      <p:sp>
        <p:nvSpPr>
          <p:cNvPr id="12" name="Text 12"/>
          <p:cNvSpPr txBox="1"/>
          <p:nvPr/>
        </p:nvSpPr>
        <p:spPr>
          <a:xfrm>
            <a:off x="1400175" y="2149475"/>
            <a:ext cx="104775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监控观测</a:t>
            </a:r>
            <a:endParaRPr lang="zh-CN" sz="1190"/>
          </a:p>
        </p:txBody>
      </p:sp>
      <p:cxnSp>
        <p:nvCxnSpPr>
          <p:cNvPr id="13" name="Connector 13"/>
          <p:cNvCxnSpPr/>
          <p:nvPr/>
        </p:nvCxnSpPr>
        <p:spPr>
          <a:xfrm>
            <a:off x="2527300" y="2260600"/>
            <a:ext cx="674688" cy="1270"/>
          </a:xfrm>
          <a:prstGeom prst="line">
            <a:avLst/>
          </a:prstGeom>
          <a:ln w="15875">
            <a:solidFill>
              <a:srgbClr val="B8BCC4"/>
            </a:solidFill>
            <a:tailEnd type="triangle" w="sm" len="sm"/>
          </a:ln>
        </p:spPr>
      </p:cxnSp>
      <p:sp>
        <p:nvSpPr>
          <p:cNvPr id="14" name="Rectangle 14"/>
          <p:cNvSpPr/>
          <p:nvPr/>
        </p:nvSpPr>
        <p:spPr>
          <a:xfrm>
            <a:off x="3336925" y="2038350"/>
            <a:ext cx="2254250" cy="4445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3479800" y="2149475"/>
            <a:ext cx="196850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94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独立 monitor → 共享快照</a:t>
            </a:r>
            <a:endParaRPr lang="zh-CN" sz="940"/>
          </a:p>
        </p:txBody>
      </p:sp>
      <p:cxnSp>
        <p:nvCxnSpPr>
          <p:cNvPr id="16" name="Connector 16"/>
          <p:cNvCxnSpPr/>
          <p:nvPr/>
        </p:nvCxnSpPr>
        <p:spPr>
          <a:xfrm>
            <a:off x="5702300" y="2260600"/>
            <a:ext cx="619125" cy="1270"/>
          </a:xfrm>
          <a:prstGeom prst="line">
            <a:avLst/>
          </a:prstGeom>
          <a:ln w="15875">
            <a:solidFill>
              <a:srgbClr val="B8BCC4"/>
            </a:solidFill>
            <a:tailEnd type="triangle" w="sm" len="sm"/>
          </a:ln>
        </p:spPr>
      </p:cxnSp>
      <p:sp>
        <p:nvSpPr>
          <p:cNvPr id="17" name="Text 17"/>
          <p:cNvSpPr txBox="1"/>
          <p:nvPr/>
        </p:nvSpPr>
        <p:spPr>
          <a:xfrm>
            <a:off x="6448425" y="2149475"/>
            <a:ext cx="1222375" cy="301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8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数据库看板</a:t>
            </a:r>
            <a:endParaRPr lang="zh-CN" sz="780"/>
          </a:p>
        </p:txBody>
      </p:sp>
      <p:sp>
        <p:nvSpPr>
          <p:cNvPr id="18" name="Rectangle 18"/>
          <p:cNvSpPr/>
          <p:nvPr/>
        </p:nvSpPr>
        <p:spPr>
          <a:xfrm>
            <a:off x="558800" y="3086100"/>
            <a:ext cx="682625" cy="198438"/>
          </a:xfrm>
          <a:prstGeom prst="rect">
            <a:avLst/>
          </a:prstGeom>
          <a:solidFill>
            <a:srgbClr val="276EF1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558800" y="3101975"/>
            <a:ext cx="682625" cy="15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zh-CN" sz="750"/>
          </a:p>
        </p:txBody>
      </p:sp>
      <p:sp>
        <p:nvSpPr>
          <p:cNvPr id="20" name="Text 20"/>
          <p:cNvSpPr txBox="1"/>
          <p:nvPr/>
        </p:nvSpPr>
        <p:spPr>
          <a:xfrm>
            <a:off x="1400175" y="3070225"/>
            <a:ext cx="104775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业务读取</a:t>
            </a:r>
            <a:endParaRPr lang="zh-CN" sz="1190"/>
          </a:p>
        </p:txBody>
      </p:sp>
      <p:cxnSp>
        <p:nvCxnSpPr>
          <p:cNvPr id="21" name="Connector 21"/>
          <p:cNvCxnSpPr/>
          <p:nvPr/>
        </p:nvCxnSpPr>
        <p:spPr>
          <a:xfrm>
            <a:off x="2527300" y="3181350"/>
            <a:ext cx="674688" cy="1270"/>
          </a:xfrm>
          <a:prstGeom prst="line">
            <a:avLst/>
          </a:prstGeom>
          <a:ln w="15875">
            <a:solidFill>
              <a:srgbClr val="B8BCC4"/>
            </a:solidFill>
            <a:tailEnd type="triangle" w="sm" len="sm"/>
          </a:ln>
        </p:spPr>
      </p:cxnSp>
      <p:sp>
        <p:nvSpPr>
          <p:cNvPr id="22" name="Rectangle 22"/>
          <p:cNvSpPr/>
          <p:nvPr/>
        </p:nvSpPr>
        <p:spPr>
          <a:xfrm>
            <a:off x="3336925" y="2959100"/>
            <a:ext cx="2254250" cy="4445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3479800" y="3070225"/>
            <a:ext cx="196850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94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strong / eventual 一致性路由</a:t>
            </a:r>
            <a:endParaRPr lang="zh-CN" sz="940"/>
          </a:p>
        </p:txBody>
      </p:sp>
      <p:cxnSp>
        <p:nvCxnSpPr>
          <p:cNvPr id="24" name="Connector 24"/>
          <p:cNvCxnSpPr/>
          <p:nvPr/>
        </p:nvCxnSpPr>
        <p:spPr>
          <a:xfrm>
            <a:off x="5702300" y="3181350"/>
            <a:ext cx="619125" cy="1270"/>
          </a:xfrm>
          <a:prstGeom prst="line">
            <a:avLst/>
          </a:prstGeom>
          <a:ln w="15875">
            <a:solidFill>
              <a:srgbClr val="B8BCC4"/>
            </a:solidFill>
            <a:tailEnd type="triangle" w="sm" len="sm"/>
          </a:ln>
        </p:spPr>
      </p:cxnSp>
      <p:sp>
        <p:nvSpPr>
          <p:cNvPr id="25" name="Text 25"/>
          <p:cNvSpPr txBox="1"/>
          <p:nvPr/>
        </p:nvSpPr>
        <p:spPr>
          <a:xfrm>
            <a:off x="6448425" y="3070225"/>
            <a:ext cx="1222375" cy="301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8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列表 / 详情 / 任务事件</a:t>
            </a:r>
            <a:endParaRPr lang="zh-CN" sz="780"/>
          </a:p>
        </p:txBody>
      </p:sp>
      <p:sp>
        <p:nvSpPr>
          <p:cNvPr id="26" name="Rectangle 26"/>
          <p:cNvSpPr/>
          <p:nvPr/>
        </p:nvSpPr>
        <p:spPr>
          <a:xfrm>
            <a:off x="558800" y="4006850"/>
            <a:ext cx="682625" cy="198438"/>
          </a:xfrm>
          <a:prstGeom prst="rect">
            <a:avLst/>
          </a:prstGeom>
          <a:solidFill>
            <a:srgbClr val="178A5B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558800" y="4022725"/>
            <a:ext cx="682625" cy="15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zh-CN" sz="750"/>
          </a:p>
        </p:txBody>
      </p:sp>
      <p:sp>
        <p:nvSpPr>
          <p:cNvPr id="28" name="Text 28"/>
          <p:cNvSpPr txBox="1"/>
          <p:nvPr/>
        </p:nvSpPr>
        <p:spPr>
          <a:xfrm>
            <a:off x="1400175" y="3990975"/>
            <a:ext cx="104775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受控写入</a:t>
            </a:r>
            <a:endParaRPr lang="zh-CN" sz="1190"/>
          </a:p>
        </p:txBody>
      </p:sp>
      <p:cxnSp>
        <p:nvCxnSpPr>
          <p:cNvPr id="29" name="Connector 29"/>
          <p:cNvCxnSpPr/>
          <p:nvPr/>
        </p:nvCxnSpPr>
        <p:spPr>
          <a:xfrm>
            <a:off x="2527300" y="4102100"/>
            <a:ext cx="674688" cy="1270"/>
          </a:xfrm>
          <a:prstGeom prst="line">
            <a:avLst/>
          </a:prstGeom>
          <a:ln w="15875">
            <a:solidFill>
              <a:srgbClr val="B8BCC4"/>
            </a:solidFill>
            <a:tailEnd type="triangle" w="sm" len="sm"/>
          </a:ln>
        </p:spPr>
      </p:cxnSp>
      <p:sp>
        <p:nvSpPr>
          <p:cNvPr id="30" name="Rectangle 30"/>
          <p:cNvSpPr/>
          <p:nvPr/>
        </p:nvSpPr>
        <p:spPr>
          <a:xfrm>
            <a:off x="3336925" y="3879850"/>
            <a:ext cx="2254250" cy="4445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3479800" y="3990975"/>
            <a:ext cx="196850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94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预览 → 认证 → 事务 → 审计</a:t>
            </a:r>
            <a:endParaRPr lang="zh-CN" sz="940"/>
          </a:p>
        </p:txBody>
      </p:sp>
      <p:cxnSp>
        <p:nvCxnSpPr>
          <p:cNvPr id="32" name="Connector 32"/>
          <p:cNvCxnSpPr/>
          <p:nvPr/>
        </p:nvCxnSpPr>
        <p:spPr>
          <a:xfrm>
            <a:off x="5702300" y="4102100"/>
            <a:ext cx="619125" cy="1270"/>
          </a:xfrm>
          <a:prstGeom prst="line">
            <a:avLst/>
          </a:prstGeom>
          <a:ln w="15875">
            <a:solidFill>
              <a:srgbClr val="B8BCC4"/>
            </a:solidFill>
            <a:tailEnd type="triangle" w="sm" len="sm"/>
          </a:ln>
        </p:spPr>
      </p:cxnSp>
      <p:sp>
        <p:nvSpPr>
          <p:cNvPr id="33" name="Text 33"/>
          <p:cNvSpPr txBox="1"/>
          <p:nvPr/>
        </p:nvSpPr>
        <p:spPr>
          <a:xfrm>
            <a:off x="6448425" y="3990975"/>
            <a:ext cx="1222375" cy="301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8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用户、角色、文件变更</a:t>
            </a:r>
            <a:endParaRPr lang="zh-CN" sz="780"/>
          </a:p>
        </p:txBody>
      </p:sp>
      <p:sp>
        <p:nvSpPr>
          <p:cNvPr id="34" name="Text 34"/>
          <p:cNvSpPr txBox="1"/>
          <p:nvPr/>
        </p:nvSpPr>
        <p:spPr>
          <a:xfrm>
            <a:off x="6130925" y="4681538"/>
            <a:ext cx="1539875" cy="2460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125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先分流，再优化</a:t>
            </a:r>
            <a:endParaRPr lang="zh-CN" sz="1125"/>
          </a:p>
        </p:txBody>
      </p:sp>
      <p:sp>
        <p:nvSpPr>
          <p:cNvPr id="35" name="Rectangle 35"/>
          <p:cNvSpPr/>
          <p:nvPr/>
        </p:nvSpPr>
        <p:spPr>
          <a:xfrm>
            <a:off x="304800" y="5816600"/>
            <a:ext cx="7620000" cy="66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558800" y="60198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投屏内容与讲稿页一一对应</a:t>
            </a:r>
            <a:endParaRPr lang="zh-CN" sz="1400"/>
          </a:p>
        </p:txBody>
      </p:sp>
      <p:sp>
        <p:nvSpPr>
          <p:cNvPr id="37" name="Rectangle 37"/>
          <p:cNvSpPr/>
          <p:nvPr/>
        </p:nvSpPr>
        <p:spPr>
          <a:xfrm>
            <a:off x="8204200" y="254000"/>
            <a:ext cx="3683000" cy="6223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8204200" y="254000"/>
            <a:ext cx="101600" cy="622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8559800" y="533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讲述稿｜03</a:t>
            </a:r>
            <a:endParaRPr lang="zh-CN" sz="1300"/>
          </a:p>
        </p:txBody>
      </p:sp>
      <p:cxnSp>
        <p:nvCxnSpPr>
          <p:cNvPr id="40" name="Connector 40"/>
          <p:cNvCxnSpPr/>
          <p:nvPr/>
        </p:nvCxnSpPr>
        <p:spPr>
          <a:xfrm>
            <a:off x="8559800" y="990600"/>
            <a:ext cx="29718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41" name="Text 41"/>
          <p:cNvSpPr txBox="1"/>
          <p:nvPr/>
        </p:nvSpPr>
        <p:spPr>
          <a:xfrm>
            <a:off x="8559800" y="1219200"/>
            <a:ext cx="2921000" cy="485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整套设计最重要的第一步，是先把所有数据库动作分成三条路。第一条是监控观测，它不直接服务某一个用户请求，而是由独立进程采集后写成共享快照。第二条是业务读取，它先判断这次读取到底要强一致，还是可以接受很短的延迟。第三条是受控写入，所有变更都必须经过预览、认证、幂等、事务和审计。先把路径分清，后面的降压和安全才有落点。</a:t>
            </a:r>
            <a:endParaRPr lang="zh-CN" sz="1500"/>
          </a:p>
        </p:txBody>
      </p:sp>
      <p:sp>
        <p:nvSpPr>
          <p:cNvPr id="42" name="Text 42"/>
          <p:cNvSpPr txBox="1"/>
          <p:nvPr/>
        </p:nvSpPr>
        <p:spPr>
          <a:xfrm>
            <a:off x="8559800" y="61214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可直接照读，也可按现场节奏删减。</a:t>
            </a:r>
            <a:endParaRPr lang="zh-CN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04800" y="254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投屏页 04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304800" y="558800"/>
            <a:ext cx="762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MySQL 的值，先标准化再展示</a:t>
            </a:r>
            <a:endParaRPr lang="zh-CN" sz="2100"/>
          </a:p>
        </p:txBody>
      </p:sp>
      <p:sp>
        <p:nvSpPr>
          <p:cNvPr id="4" name="Rectangle 4"/>
          <p:cNvSpPr/>
          <p:nvPr/>
        </p:nvSpPr>
        <p:spPr>
          <a:xfrm>
            <a:off x="292100" y="1231900"/>
            <a:ext cx="7645400" cy="431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58800" y="1435100"/>
            <a:ext cx="79375" cy="79375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1371600"/>
            <a:ext cx="6667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MySQL 的值，先标准化再展示</a:t>
            </a:r>
            <a:endParaRPr lang="zh-CN" sz="2125"/>
          </a:p>
        </p:txBody>
      </p:sp>
      <p:cxnSp>
        <p:nvCxnSpPr>
          <p:cNvPr id="7" name="Connector 7"/>
          <p:cNvCxnSpPr/>
          <p:nvPr/>
        </p:nvCxnSpPr>
        <p:spPr>
          <a:xfrm>
            <a:off x="558800" y="5149850"/>
            <a:ext cx="7112000" cy="1270"/>
          </a:xfrm>
          <a:prstGeom prst="line">
            <a:avLst/>
          </a:prstGeom>
          <a:ln w="7938">
            <a:solidFill>
              <a:srgbClr val="B8BCC4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558800" y="5229225"/>
            <a:ext cx="238125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750"/>
          </a:p>
        </p:txBody>
      </p:sp>
      <p:sp>
        <p:nvSpPr>
          <p:cNvPr id="9" name="Text 9"/>
          <p:cNvSpPr txBox="1"/>
          <p:nvPr/>
        </p:nvSpPr>
        <p:spPr>
          <a:xfrm>
            <a:off x="7337425" y="5213350"/>
            <a:ext cx="33337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sz="750"/>
          </a:p>
        </p:txBody>
      </p:sp>
      <p:sp>
        <p:nvSpPr>
          <p:cNvPr id="10" name="Rectangle 10"/>
          <p:cNvSpPr/>
          <p:nvPr/>
        </p:nvSpPr>
        <p:spPr>
          <a:xfrm>
            <a:off x="558800" y="2101850"/>
            <a:ext cx="825500" cy="19843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558800" y="2117725"/>
            <a:ext cx="825500" cy="15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MYSQL FACTS</a:t>
            </a:r>
            <a:endParaRPr lang="zh-CN" sz="750"/>
          </a:p>
        </p:txBody>
      </p:sp>
      <p:sp>
        <p:nvSpPr>
          <p:cNvPr id="12" name="Rectangle 12"/>
          <p:cNvSpPr/>
          <p:nvPr/>
        </p:nvSpPr>
        <p:spPr>
          <a:xfrm>
            <a:off x="558800" y="2466975"/>
            <a:ext cx="1555750" cy="65087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69925" y="2593975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87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SHOW STATUS</a:t>
            </a:r>
            <a:endParaRPr lang="zh-CN" sz="875"/>
          </a:p>
        </p:txBody>
      </p:sp>
      <p:sp>
        <p:nvSpPr>
          <p:cNvPr id="14" name="Text 14"/>
          <p:cNvSpPr txBox="1"/>
          <p:nvPr/>
        </p:nvSpPr>
        <p:spPr>
          <a:xfrm>
            <a:off x="669925" y="2847975"/>
            <a:ext cx="1333500" cy="15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连接 / QPS / Slow_queries</a:t>
            </a:r>
            <a:endParaRPr lang="zh-CN" sz="750"/>
          </a:p>
        </p:txBody>
      </p:sp>
      <p:cxnSp>
        <p:nvCxnSpPr>
          <p:cNvPr id="15" name="Connector 15"/>
          <p:cNvCxnSpPr/>
          <p:nvPr/>
        </p:nvCxnSpPr>
        <p:spPr>
          <a:xfrm>
            <a:off x="1336675" y="3141662"/>
            <a:ext cx="1270" cy="293688"/>
          </a:xfrm>
          <a:prstGeom prst="line">
            <a:avLst/>
          </a:prstGeom>
          <a:ln w="11906">
            <a:solidFill>
              <a:srgbClr val="B8BCC4"/>
            </a:solidFill>
            <a:tailEnd type="triangle" w="sm" len="sm"/>
          </a:ln>
        </p:spPr>
      </p:cxnSp>
      <p:sp>
        <p:nvSpPr>
          <p:cNvPr id="16" name="Rectangle 16"/>
          <p:cNvSpPr/>
          <p:nvPr/>
        </p:nvSpPr>
        <p:spPr>
          <a:xfrm>
            <a:off x="2289175" y="2466975"/>
            <a:ext cx="1555750" cy="65087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2400300" y="2593975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87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SHOW VARIABLES</a:t>
            </a:r>
            <a:endParaRPr lang="zh-CN" sz="875"/>
          </a:p>
        </p:txBody>
      </p:sp>
      <p:sp>
        <p:nvSpPr>
          <p:cNvPr id="18" name="Text 18"/>
          <p:cNvSpPr txBox="1"/>
          <p:nvPr/>
        </p:nvSpPr>
        <p:spPr>
          <a:xfrm>
            <a:off x="2400300" y="2847975"/>
            <a:ext cx="1333500" cy="15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max_connections / 运行参数</a:t>
            </a:r>
            <a:endParaRPr lang="zh-CN" sz="750"/>
          </a:p>
        </p:txBody>
      </p:sp>
      <p:cxnSp>
        <p:nvCxnSpPr>
          <p:cNvPr id="19" name="Connector 19"/>
          <p:cNvCxnSpPr/>
          <p:nvPr/>
        </p:nvCxnSpPr>
        <p:spPr>
          <a:xfrm>
            <a:off x="3067050" y="3141662"/>
            <a:ext cx="1270" cy="293688"/>
          </a:xfrm>
          <a:prstGeom prst="line">
            <a:avLst/>
          </a:prstGeom>
          <a:ln w="11906">
            <a:solidFill>
              <a:srgbClr val="B8BCC4"/>
            </a:solidFill>
            <a:tailEnd type="triangle" w="sm" len="sm"/>
          </a:ln>
        </p:spPr>
      </p:cxnSp>
      <p:sp>
        <p:nvSpPr>
          <p:cNvPr id="20" name="Rectangle 20"/>
          <p:cNvSpPr/>
          <p:nvPr/>
        </p:nvSpPr>
        <p:spPr>
          <a:xfrm>
            <a:off x="4019550" y="2466975"/>
            <a:ext cx="1555750" cy="65087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4130675" y="2593975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78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information_schema</a:t>
            </a:r>
            <a:endParaRPr lang="zh-CN" sz="780"/>
          </a:p>
        </p:txBody>
      </p:sp>
      <p:sp>
        <p:nvSpPr>
          <p:cNvPr id="22" name="Text 22"/>
          <p:cNvSpPr txBox="1"/>
          <p:nvPr/>
        </p:nvSpPr>
        <p:spPr>
          <a:xfrm>
            <a:off x="4130675" y="2847975"/>
            <a:ext cx="1333500" cy="15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表容量 / Schema 事实</a:t>
            </a:r>
            <a:endParaRPr lang="zh-CN" sz="750"/>
          </a:p>
        </p:txBody>
      </p:sp>
      <p:cxnSp>
        <p:nvCxnSpPr>
          <p:cNvPr id="23" name="Connector 23"/>
          <p:cNvCxnSpPr/>
          <p:nvPr/>
        </p:nvCxnSpPr>
        <p:spPr>
          <a:xfrm>
            <a:off x="4797425" y="3141662"/>
            <a:ext cx="1270" cy="293688"/>
          </a:xfrm>
          <a:prstGeom prst="line">
            <a:avLst/>
          </a:prstGeom>
          <a:ln w="11906">
            <a:solidFill>
              <a:srgbClr val="B8BCC4"/>
            </a:solidFill>
            <a:tailEnd type="triangle" w="sm" len="sm"/>
          </a:ln>
        </p:spPr>
      </p:cxnSp>
      <p:sp>
        <p:nvSpPr>
          <p:cNvPr id="24" name="Rectangle 24"/>
          <p:cNvSpPr/>
          <p:nvPr/>
        </p:nvSpPr>
        <p:spPr>
          <a:xfrm>
            <a:off x="5749925" y="2466975"/>
            <a:ext cx="1555750" cy="65087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5861050" y="2593975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78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performance_schema</a:t>
            </a:r>
            <a:endParaRPr lang="zh-CN" sz="780"/>
          </a:p>
        </p:txBody>
      </p:sp>
      <p:sp>
        <p:nvSpPr>
          <p:cNvPr id="26" name="Text 26"/>
          <p:cNvSpPr txBox="1"/>
          <p:nvPr/>
        </p:nvSpPr>
        <p:spPr>
          <a:xfrm>
            <a:off x="5861050" y="2847975"/>
            <a:ext cx="1333500" cy="15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SQL Digest / 高负载摘要</a:t>
            </a:r>
            <a:endParaRPr lang="zh-CN" sz="750"/>
          </a:p>
        </p:txBody>
      </p:sp>
      <p:cxnSp>
        <p:nvCxnSpPr>
          <p:cNvPr id="27" name="Connector 27"/>
          <p:cNvCxnSpPr/>
          <p:nvPr/>
        </p:nvCxnSpPr>
        <p:spPr>
          <a:xfrm>
            <a:off x="6527800" y="3141662"/>
            <a:ext cx="1270" cy="293688"/>
          </a:xfrm>
          <a:prstGeom prst="line">
            <a:avLst/>
          </a:prstGeom>
          <a:ln w="11906">
            <a:solidFill>
              <a:srgbClr val="B8BCC4"/>
            </a:solidFill>
            <a:tailEnd type="triangle" w="sm" len="sm"/>
          </a:ln>
        </p:spPr>
      </p:cxnSp>
      <p:sp>
        <p:nvSpPr>
          <p:cNvPr id="28" name="Rectangle 28"/>
          <p:cNvSpPr/>
          <p:nvPr/>
        </p:nvSpPr>
        <p:spPr>
          <a:xfrm>
            <a:off x="558800" y="3578225"/>
            <a:ext cx="1555750" cy="80962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654050" y="3744912"/>
            <a:ext cx="1365250" cy="206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84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Database.inspection</a:t>
            </a:r>
            <a:endParaRPr lang="zh-CN" sz="845"/>
          </a:p>
        </p:txBody>
      </p:sp>
      <p:sp>
        <p:nvSpPr>
          <p:cNvPr id="30" name="Text 30"/>
          <p:cNvSpPr txBox="1"/>
          <p:nvPr/>
        </p:nvSpPr>
        <p:spPr>
          <a:xfrm>
            <a:off x="654050" y="4030662"/>
            <a:ext cx="1365250" cy="174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按来源采集</a:t>
            </a:r>
            <a:endParaRPr lang="zh-CN" sz="780"/>
          </a:p>
        </p:txBody>
      </p:sp>
      <p:cxnSp>
        <p:nvCxnSpPr>
          <p:cNvPr id="31" name="Connector 31"/>
          <p:cNvCxnSpPr/>
          <p:nvPr/>
        </p:nvCxnSpPr>
        <p:spPr>
          <a:xfrm>
            <a:off x="2130425" y="3983038"/>
            <a:ext cx="142875" cy="1270"/>
          </a:xfrm>
          <a:prstGeom prst="line">
            <a:avLst/>
          </a:prstGeom>
          <a:ln w="15875">
            <a:solidFill>
              <a:srgbClr val="FF6B35"/>
            </a:solidFill>
            <a:tailEnd type="triangle" w="sm" len="sm"/>
          </a:ln>
        </p:spPr>
      </p:cxnSp>
      <p:sp>
        <p:nvSpPr>
          <p:cNvPr id="32" name="Rectangle 32"/>
          <p:cNvSpPr/>
          <p:nvPr/>
        </p:nvSpPr>
        <p:spPr>
          <a:xfrm>
            <a:off x="2289175" y="3578225"/>
            <a:ext cx="1555750" cy="80962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2384425" y="3744912"/>
            <a:ext cx="1365250" cy="206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03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标准 DTO</a:t>
            </a:r>
            <a:endParaRPr lang="zh-CN" sz="1030"/>
          </a:p>
        </p:txBody>
      </p:sp>
      <p:sp>
        <p:nvSpPr>
          <p:cNvPr id="34" name="Text 34"/>
          <p:cNvSpPr txBox="1"/>
          <p:nvPr/>
        </p:nvSpPr>
        <p:spPr>
          <a:xfrm>
            <a:off x="2384425" y="4030662"/>
            <a:ext cx="1365250" cy="174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统一字段 / 来源 / 时间</a:t>
            </a:r>
            <a:endParaRPr lang="zh-CN" sz="780"/>
          </a:p>
        </p:txBody>
      </p:sp>
      <p:cxnSp>
        <p:nvCxnSpPr>
          <p:cNvPr id="35" name="Connector 35"/>
          <p:cNvCxnSpPr/>
          <p:nvPr/>
        </p:nvCxnSpPr>
        <p:spPr>
          <a:xfrm>
            <a:off x="3860800" y="3983038"/>
            <a:ext cx="142875" cy="1270"/>
          </a:xfrm>
          <a:prstGeom prst="line">
            <a:avLst/>
          </a:prstGeom>
          <a:ln w="15875">
            <a:solidFill>
              <a:srgbClr val="FF6B35"/>
            </a:solidFill>
            <a:tailEnd type="triangle" w="sm" len="sm"/>
          </a:ln>
        </p:spPr>
      </p:cxnSp>
      <p:sp>
        <p:nvSpPr>
          <p:cNvPr id="36" name="Rectangle 36"/>
          <p:cNvSpPr/>
          <p:nvPr/>
        </p:nvSpPr>
        <p:spPr>
          <a:xfrm>
            <a:off x="4019550" y="3578225"/>
            <a:ext cx="1555750" cy="80962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4114800" y="3744912"/>
            <a:ext cx="1365250" cy="206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03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snapshot table</a:t>
            </a:r>
            <a:endParaRPr lang="zh-CN" sz="1030"/>
          </a:p>
        </p:txBody>
      </p:sp>
      <p:sp>
        <p:nvSpPr>
          <p:cNvPr id="38" name="Text 38"/>
          <p:cNvSpPr txBox="1"/>
          <p:nvPr/>
        </p:nvSpPr>
        <p:spPr>
          <a:xfrm>
            <a:off x="4114800" y="4030662"/>
            <a:ext cx="1365250" cy="174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共享快照</a:t>
            </a:r>
            <a:endParaRPr lang="zh-CN" sz="780"/>
          </a:p>
        </p:txBody>
      </p:sp>
      <p:cxnSp>
        <p:nvCxnSpPr>
          <p:cNvPr id="39" name="Connector 39"/>
          <p:cNvCxnSpPr/>
          <p:nvPr/>
        </p:nvCxnSpPr>
        <p:spPr>
          <a:xfrm>
            <a:off x="5591175" y="3983038"/>
            <a:ext cx="142875" cy="1270"/>
          </a:xfrm>
          <a:prstGeom prst="line">
            <a:avLst/>
          </a:prstGeom>
          <a:ln w="15875">
            <a:solidFill>
              <a:srgbClr val="FF6B35"/>
            </a:solidFill>
            <a:tailEnd type="triangle" w="sm" len="sm"/>
          </a:ln>
        </p:spPr>
      </p:cxnSp>
      <p:sp>
        <p:nvSpPr>
          <p:cNvPr id="40" name="Rectangle 40"/>
          <p:cNvSpPr/>
          <p:nvPr/>
        </p:nvSpPr>
        <p:spPr>
          <a:xfrm>
            <a:off x="5749925" y="3578225"/>
            <a:ext cx="1555750" cy="809625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5845175" y="3744912"/>
            <a:ext cx="1365250" cy="206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03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dashboard GET</a:t>
            </a:r>
            <a:endParaRPr lang="zh-CN" sz="1030"/>
          </a:p>
        </p:txBody>
      </p:sp>
      <p:sp>
        <p:nvSpPr>
          <p:cNvPr id="42" name="Text 42"/>
          <p:cNvSpPr txBox="1"/>
          <p:nvPr/>
        </p:nvSpPr>
        <p:spPr>
          <a:xfrm>
            <a:off x="5845175" y="4030662"/>
            <a:ext cx="1365250" cy="174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只读最近结果</a:t>
            </a:r>
            <a:endParaRPr lang="zh-CN" sz="780"/>
          </a:p>
        </p:txBody>
      </p:sp>
      <p:sp>
        <p:nvSpPr>
          <p:cNvPr id="43" name="Text 43"/>
          <p:cNvSpPr txBox="1"/>
          <p:nvPr/>
        </p:nvSpPr>
        <p:spPr>
          <a:xfrm>
            <a:off x="558800" y="4657725"/>
            <a:ext cx="40481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复制状态：专用账号执行 SHOW REPLICA STATUS</a:t>
            </a:r>
            <a:endParaRPr lang="zh-CN" sz="875"/>
          </a:p>
        </p:txBody>
      </p:sp>
      <p:sp>
        <p:nvSpPr>
          <p:cNvPr id="44" name="Rectangle 44"/>
          <p:cNvSpPr/>
          <p:nvPr/>
        </p:nvSpPr>
        <p:spPr>
          <a:xfrm>
            <a:off x="304800" y="5816600"/>
            <a:ext cx="7620000" cy="66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558800" y="60198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投屏内容与讲稿页一一对应</a:t>
            </a:r>
            <a:endParaRPr lang="zh-CN" sz="1400"/>
          </a:p>
        </p:txBody>
      </p:sp>
      <p:sp>
        <p:nvSpPr>
          <p:cNvPr id="46" name="Rectangle 46"/>
          <p:cNvSpPr/>
          <p:nvPr/>
        </p:nvSpPr>
        <p:spPr>
          <a:xfrm>
            <a:off x="8204200" y="254000"/>
            <a:ext cx="3683000" cy="6223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204200" y="254000"/>
            <a:ext cx="101600" cy="622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48" name="Text 48"/>
          <p:cNvSpPr txBox="1"/>
          <p:nvPr/>
        </p:nvSpPr>
        <p:spPr>
          <a:xfrm>
            <a:off x="8559800" y="533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讲述稿｜04</a:t>
            </a:r>
            <a:endParaRPr lang="zh-CN" sz="1300"/>
          </a:p>
        </p:txBody>
      </p:sp>
      <p:cxnSp>
        <p:nvCxnSpPr>
          <p:cNvPr id="49" name="Connector 49"/>
          <p:cNvCxnSpPr/>
          <p:nvPr/>
        </p:nvCxnSpPr>
        <p:spPr>
          <a:xfrm>
            <a:off x="8559800" y="990600"/>
            <a:ext cx="29718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50" name="Text 50"/>
          <p:cNvSpPr txBox="1"/>
          <p:nvPr/>
        </p:nvSpPr>
        <p:spPr>
          <a:xfrm>
            <a:off x="8559800" y="1219200"/>
            <a:ext cx="2921000" cy="485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/>
              <a:t>这一页讲的是数据库信息从 </a:t>
            </a:r>
            <a:r>
              <a:rPr lang="en-US" altLang="zh-CN" sz="1400"/>
              <a:t>MySQL </a:t>
            </a:r>
            <a:r>
              <a:rPr lang="zh-CN" altLang="en-US" sz="1400"/>
              <a:t>到管理页面的完整过程。最上面四个框是 </a:t>
            </a:r>
            <a:r>
              <a:rPr lang="en-US" altLang="zh-CN" sz="1400"/>
              <a:t>MySQL </a:t>
            </a:r>
            <a:r>
              <a:rPr lang="zh-CN" altLang="en-US" sz="1400"/>
              <a:t>提供原始信息的四种来源：运行状态、运行配置、数据库结构，以及 </a:t>
            </a:r>
            <a:r>
              <a:rPr lang="en-US" altLang="zh-CN" sz="1400"/>
              <a:t>SQL </a:t>
            </a:r>
            <a:r>
              <a:rPr lang="zh-CN" altLang="en-US" sz="1400"/>
              <a:t>性能统计。  </a:t>
            </a:r>
            <a:endParaRPr lang="zh-CN" altLang="en-US" sz="1400"/>
          </a:p>
          <a:p>
            <a:pPr algn="l"/>
            <a:r>
              <a:rPr lang="zh-CN" altLang="en-US" sz="1400"/>
              <a:t>后端的 </a:t>
            </a:r>
            <a:r>
              <a:rPr lang="en-US" altLang="zh-CN" sz="1400"/>
              <a:t>inspection </a:t>
            </a:r>
            <a:r>
              <a:rPr lang="zh-CN" altLang="en-US" sz="1400"/>
              <a:t>服务负责读取这些原始信息，然后整理成统一格式。这里 包括状态、数据值、采集时间、数据来源、是否为估算值和警告信息。  </a:t>
            </a:r>
            <a:endParaRPr lang="zh-CN" altLang="en-US" sz="1400"/>
          </a:p>
          <a:p>
            <a:pPr algn="l"/>
            <a:r>
              <a:rPr lang="zh-CN" altLang="en-US" sz="1400"/>
              <a:t>整理后的结果不会直接交给某一个浏览器，而是由 </a:t>
            </a:r>
            <a:r>
              <a:rPr lang="en-US" altLang="zh-CN" sz="1400"/>
              <a:t>monitor </a:t>
            </a:r>
            <a:r>
              <a:rPr lang="zh-CN" altLang="en-US" sz="1400"/>
              <a:t>写入共享快照表。管理员页面只读取最近一次快照，所以即使多个人同时打开页面，也不会让每个人都重新查询一遍 </a:t>
            </a:r>
            <a:r>
              <a:rPr lang="en-US" altLang="zh-CN" sz="1400"/>
              <a:t>MySQL。  </a:t>
            </a:r>
            <a:endParaRPr lang="en-US" altLang="zh-CN" sz="1400"/>
          </a:p>
          <a:p>
            <a:pPr algn="l"/>
            <a:r>
              <a:rPr lang="zh-CN" altLang="en-US" sz="1400"/>
              <a:t>给 </a:t>
            </a:r>
            <a:r>
              <a:rPr lang="en-US" altLang="zh-CN" sz="1400"/>
              <a:t>SQL Digest </a:t>
            </a:r>
            <a:r>
              <a:rPr lang="zh-CN" altLang="en-US" sz="1400"/>
              <a:t>增加了一层业务语义解释</a:t>
            </a:r>
            <a:r>
              <a:rPr lang="en-US" altLang="zh-CN" sz="1400"/>
              <a:t> </a:t>
            </a:r>
            <a:r>
              <a:rPr lang="zh-CN" altLang="en-US" sz="1400"/>
              <a:t>前端根据 </a:t>
            </a:r>
            <a:r>
              <a:rPr lang="en-US" altLang="zh-CN" sz="1400"/>
              <a:t>SQL </a:t>
            </a:r>
            <a:r>
              <a:rPr lang="zh-CN" altLang="en-US" sz="1400"/>
              <a:t>特征、表名和仓库里的真实调用点，解释成：业务模块</a:t>
            </a:r>
            <a:endParaRPr lang="zh-CN" altLang="en-US" sz="1400"/>
          </a:p>
          <a:p>
            <a:pPr algn="l"/>
            <a:r>
              <a:rPr lang="zh-CN" altLang="en-US" sz="1400"/>
              <a:t>功能、业务说明、识别方式、代码依据</a:t>
            </a:r>
            <a:endParaRPr lang="zh-CN" altLang="en-US" sz="1400"/>
          </a:p>
        </p:txBody>
      </p:sp>
      <p:sp>
        <p:nvSpPr>
          <p:cNvPr id="51" name="Text 51"/>
          <p:cNvSpPr txBox="1"/>
          <p:nvPr/>
        </p:nvSpPr>
        <p:spPr>
          <a:xfrm>
            <a:off x="8559800" y="61214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可直接照读，也可按现场节奏删减。</a:t>
            </a:r>
            <a:endParaRPr lang="zh-CN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04800" y="254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投屏页 05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304800" y="558800"/>
            <a:ext cx="762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看板很轻，因为 Web 从不现场采集</a:t>
            </a:r>
            <a:endParaRPr lang="zh-CN" sz="2100"/>
          </a:p>
        </p:txBody>
      </p:sp>
      <p:sp>
        <p:nvSpPr>
          <p:cNvPr id="4" name="Rectangle 4"/>
          <p:cNvSpPr/>
          <p:nvPr/>
        </p:nvSpPr>
        <p:spPr>
          <a:xfrm>
            <a:off x="292100" y="1231900"/>
            <a:ext cx="7645400" cy="431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58800" y="1435100"/>
            <a:ext cx="79375" cy="79375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1371600"/>
            <a:ext cx="6667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看板很轻，因为 Web 从不现场采集</a:t>
            </a:r>
            <a:endParaRPr lang="zh-CN" sz="2125"/>
          </a:p>
        </p:txBody>
      </p:sp>
      <p:cxnSp>
        <p:nvCxnSpPr>
          <p:cNvPr id="7" name="Connector 7"/>
          <p:cNvCxnSpPr/>
          <p:nvPr/>
        </p:nvCxnSpPr>
        <p:spPr>
          <a:xfrm>
            <a:off x="558800" y="5149850"/>
            <a:ext cx="7112000" cy="1270"/>
          </a:xfrm>
          <a:prstGeom prst="line">
            <a:avLst/>
          </a:prstGeom>
          <a:ln w="7938">
            <a:solidFill>
              <a:srgbClr val="B8BCC4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558800" y="5229225"/>
            <a:ext cx="238125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750"/>
          </a:p>
        </p:txBody>
      </p:sp>
      <p:sp>
        <p:nvSpPr>
          <p:cNvPr id="9" name="Text 9"/>
          <p:cNvSpPr txBox="1"/>
          <p:nvPr/>
        </p:nvSpPr>
        <p:spPr>
          <a:xfrm>
            <a:off x="7337425" y="5213350"/>
            <a:ext cx="33337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zh-CN" sz="750"/>
          </a:p>
        </p:txBody>
      </p:sp>
      <p:sp>
        <p:nvSpPr>
          <p:cNvPr id="10" name="Text 10"/>
          <p:cNvSpPr txBox="1"/>
          <p:nvPr/>
        </p:nvSpPr>
        <p:spPr>
          <a:xfrm>
            <a:off x="558800" y="2101850"/>
            <a:ext cx="166687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页面请求</a:t>
            </a:r>
            <a:endParaRPr lang="zh-CN" sz="1125"/>
          </a:p>
        </p:txBody>
      </p:sp>
      <p:sp>
        <p:nvSpPr>
          <p:cNvPr id="11" name="Rectangle 11"/>
          <p:cNvSpPr/>
          <p:nvPr/>
        </p:nvSpPr>
        <p:spPr>
          <a:xfrm>
            <a:off x="558800" y="2435225"/>
            <a:ext cx="3254375" cy="920750"/>
          </a:xfrm>
          <a:prstGeom prst="rect">
            <a:avLst/>
          </a:prstGeom>
          <a:solidFill>
            <a:srgbClr val="E8F5EF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17550" y="2586038"/>
            <a:ext cx="293687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GET /api/admin/db/dashboard</a:t>
            </a:r>
            <a:endParaRPr lang="zh-CN" sz="1125"/>
          </a:p>
        </p:txBody>
      </p:sp>
      <p:sp>
        <p:nvSpPr>
          <p:cNvPr id="13" name="Text 13"/>
          <p:cNvSpPr txBox="1"/>
          <p:nvPr/>
        </p:nvSpPr>
        <p:spPr>
          <a:xfrm>
            <a:off x="717550" y="2911475"/>
            <a:ext cx="2936875" cy="206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40" b="1" dirty="0">
                <a:solidFill>
                  <a:srgbClr val="178A5B"/>
                </a:solidFill>
                <a:latin typeface="微软雅黑" panose="020B0503020204020204" charset="-122"/>
                <a:ea typeface="微软雅黑" panose="020B0503020204020204" charset="-122"/>
              </a:rPr>
              <a:t>读取最近共享快照 · 不执行完整采集</a:t>
            </a:r>
            <a:endParaRPr lang="zh-CN" sz="940"/>
          </a:p>
        </p:txBody>
      </p:sp>
      <p:sp>
        <p:nvSpPr>
          <p:cNvPr id="14" name="Text 14"/>
          <p:cNvSpPr txBox="1"/>
          <p:nvPr/>
        </p:nvSpPr>
        <p:spPr>
          <a:xfrm>
            <a:off x="4162425" y="2101850"/>
            <a:ext cx="166687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独立采集</a:t>
            </a:r>
            <a:endParaRPr lang="zh-CN" sz="1125"/>
          </a:p>
        </p:txBody>
      </p:sp>
      <p:sp>
        <p:nvSpPr>
          <p:cNvPr id="15" name="Rectangle 15"/>
          <p:cNvSpPr/>
          <p:nvPr/>
        </p:nvSpPr>
        <p:spPr>
          <a:xfrm>
            <a:off x="4162425" y="2435225"/>
            <a:ext cx="3508375" cy="920750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4321175" y="2586038"/>
            <a:ext cx="1468438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monitor worker</a:t>
            </a:r>
            <a:endParaRPr lang="zh-CN" sz="1125"/>
          </a:p>
        </p:txBody>
      </p:sp>
      <p:sp>
        <p:nvSpPr>
          <p:cNvPr id="17" name="Text 17"/>
          <p:cNvSpPr txBox="1"/>
          <p:nvPr/>
        </p:nvSpPr>
        <p:spPr>
          <a:xfrm>
            <a:off x="4321175" y="2911475"/>
            <a:ext cx="3159125" cy="206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4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GET_LOCK(key, 0) → collect → snapshot</a:t>
            </a:r>
            <a:endParaRPr lang="zh-CN" sz="940"/>
          </a:p>
        </p:txBody>
      </p:sp>
      <p:cxnSp>
        <p:nvCxnSpPr>
          <p:cNvPr id="18" name="Connector 18"/>
          <p:cNvCxnSpPr/>
          <p:nvPr/>
        </p:nvCxnSpPr>
        <p:spPr>
          <a:xfrm>
            <a:off x="3813175" y="2895600"/>
            <a:ext cx="349250" cy="1270"/>
          </a:xfrm>
          <a:prstGeom prst="line">
            <a:avLst/>
          </a:prstGeom>
          <a:ln w="15875">
            <a:solidFill>
              <a:srgbClr val="B8BCC4"/>
            </a:solidFill>
            <a:tailEnd type="triangle" w="sm" len="sm"/>
          </a:ln>
        </p:spPr>
      </p:cxnSp>
      <p:sp>
        <p:nvSpPr>
          <p:cNvPr id="19" name="Rectangle 19"/>
          <p:cNvSpPr/>
          <p:nvPr/>
        </p:nvSpPr>
        <p:spPr>
          <a:xfrm>
            <a:off x="558800" y="3641725"/>
            <a:ext cx="1603375" cy="100012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685800" y="3760788"/>
            <a:ext cx="134937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10s</a:t>
            </a:r>
            <a:endParaRPr lang="zh-CN" sz="1690"/>
          </a:p>
        </p:txBody>
      </p:sp>
      <p:sp>
        <p:nvSpPr>
          <p:cNvPr id="21" name="Text 21"/>
          <p:cNvSpPr txBox="1"/>
          <p:nvPr/>
        </p:nvSpPr>
        <p:spPr>
          <a:xfrm>
            <a:off x="685800" y="4149725"/>
            <a:ext cx="1349375" cy="4048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1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实时状态</a:t>
            </a:r>
            <a:endParaRPr lang="zh-CN" sz="810"/>
          </a:p>
        </p:txBody>
      </p:sp>
      <p:sp>
        <p:nvSpPr>
          <p:cNvPr id="22" name="Rectangle 22"/>
          <p:cNvSpPr/>
          <p:nvPr/>
        </p:nvSpPr>
        <p:spPr>
          <a:xfrm>
            <a:off x="2336800" y="3641725"/>
            <a:ext cx="1603375" cy="100012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2463800" y="3760788"/>
            <a:ext cx="134937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60s</a:t>
            </a:r>
            <a:endParaRPr lang="zh-CN" sz="1690"/>
          </a:p>
        </p:txBody>
      </p:sp>
      <p:sp>
        <p:nvSpPr>
          <p:cNvPr id="24" name="Text 24"/>
          <p:cNvSpPr txBox="1"/>
          <p:nvPr/>
        </p:nvSpPr>
        <p:spPr>
          <a:xfrm>
            <a:off x="2463800" y="4149725"/>
            <a:ext cx="1349375" cy="4048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1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SQL 性能</a:t>
            </a:r>
            <a:endParaRPr lang="zh-CN" sz="810"/>
          </a:p>
        </p:txBody>
      </p:sp>
      <p:sp>
        <p:nvSpPr>
          <p:cNvPr id="25" name="Rectangle 25"/>
          <p:cNvSpPr/>
          <p:nvPr/>
        </p:nvSpPr>
        <p:spPr>
          <a:xfrm>
            <a:off x="4114800" y="3641725"/>
            <a:ext cx="1603375" cy="100012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4241800" y="3760788"/>
            <a:ext cx="134937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900s</a:t>
            </a:r>
            <a:endParaRPr lang="zh-CN" sz="1690"/>
          </a:p>
        </p:txBody>
      </p:sp>
      <p:sp>
        <p:nvSpPr>
          <p:cNvPr id="27" name="Text 27"/>
          <p:cNvSpPr txBox="1"/>
          <p:nvPr/>
        </p:nvSpPr>
        <p:spPr>
          <a:xfrm>
            <a:off x="4241800" y="4149725"/>
            <a:ext cx="1349375" cy="4048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1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表容量</a:t>
            </a:r>
            <a:endParaRPr lang="zh-CN" sz="810"/>
          </a:p>
        </p:txBody>
      </p:sp>
      <p:sp>
        <p:nvSpPr>
          <p:cNvPr id="28" name="Rectangle 28"/>
          <p:cNvSpPr/>
          <p:nvPr/>
        </p:nvSpPr>
        <p:spPr>
          <a:xfrm>
            <a:off x="5892800" y="3641725"/>
            <a:ext cx="1603375" cy="1000125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6019800" y="3760788"/>
            <a:ext cx="134937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手动</a:t>
            </a:r>
            <a:endParaRPr lang="zh-CN" sz="1690"/>
          </a:p>
        </p:txBody>
      </p:sp>
      <p:sp>
        <p:nvSpPr>
          <p:cNvPr id="30" name="Text 30"/>
          <p:cNvSpPr txBox="1"/>
          <p:nvPr/>
        </p:nvSpPr>
        <p:spPr>
          <a:xfrm>
            <a:off x="6019800" y="4149725"/>
            <a:ext cx="1349375" cy="4048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1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deep audit</a:t>
            </a:r>
            <a:endParaRPr lang="zh-CN" sz="810"/>
          </a:p>
        </p:txBody>
      </p:sp>
      <p:sp>
        <p:nvSpPr>
          <p:cNvPr id="31" name="Rectangle 31"/>
          <p:cNvSpPr/>
          <p:nvPr/>
        </p:nvSpPr>
        <p:spPr>
          <a:xfrm>
            <a:off x="304800" y="5816600"/>
            <a:ext cx="7620000" cy="66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558800" y="60198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投屏内容与讲稿页一一对应</a:t>
            </a:r>
            <a:endParaRPr lang="zh-CN" sz="1400"/>
          </a:p>
        </p:txBody>
      </p:sp>
      <p:sp>
        <p:nvSpPr>
          <p:cNvPr id="33" name="Rectangle 33"/>
          <p:cNvSpPr/>
          <p:nvPr/>
        </p:nvSpPr>
        <p:spPr>
          <a:xfrm>
            <a:off x="8204200" y="254000"/>
            <a:ext cx="3683000" cy="6223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8204200" y="254000"/>
            <a:ext cx="101600" cy="622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8559800" y="533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讲述稿｜05</a:t>
            </a:r>
            <a:endParaRPr lang="zh-CN" sz="1300"/>
          </a:p>
        </p:txBody>
      </p:sp>
      <p:cxnSp>
        <p:nvCxnSpPr>
          <p:cNvPr id="36" name="Connector 36"/>
          <p:cNvCxnSpPr/>
          <p:nvPr/>
        </p:nvCxnSpPr>
        <p:spPr>
          <a:xfrm>
            <a:off x="8559800" y="990600"/>
            <a:ext cx="29718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37" name="Text 37"/>
          <p:cNvSpPr txBox="1"/>
          <p:nvPr/>
        </p:nvSpPr>
        <p:spPr>
          <a:xfrm>
            <a:off x="8559800" y="1219200"/>
            <a:ext cx="2921000" cy="485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这里是避免数据库增压的核心。管理员打开页面或者点击刷新时，Web 请求都不会现场跑一整套采集 SQL。GET 接口只读取最近一次共享快照；真正的采集由独立 monitor 进程完成。不同信息按变化速度分层：实时状态默认十秒，SQL 性能六十秒，容量九百秒，深度审计只允许手动触发。手动刷新也只是登记一个请求，不是让每个浏览器各跑一遍。结果就是多个管理员看到同一份快照，而数据库只承担一份采集成本。</a:t>
            </a:r>
            <a:endParaRPr lang="zh-CN" sz="1500"/>
          </a:p>
        </p:txBody>
      </p:sp>
      <p:sp>
        <p:nvSpPr>
          <p:cNvPr id="38" name="Text 38"/>
          <p:cNvSpPr txBox="1"/>
          <p:nvPr/>
        </p:nvSpPr>
        <p:spPr>
          <a:xfrm>
            <a:off x="8559800" y="61214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可直接照读，也可按现场节奏删减。</a:t>
            </a:r>
            <a:endParaRPr lang="zh-CN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04800" y="254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投屏页 06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304800" y="558800"/>
            <a:ext cx="762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降压靠一组上限，而不是一个开关</a:t>
            </a:r>
            <a:endParaRPr lang="zh-CN" sz="2100"/>
          </a:p>
        </p:txBody>
      </p:sp>
      <p:sp>
        <p:nvSpPr>
          <p:cNvPr id="4" name="Rectangle 4"/>
          <p:cNvSpPr/>
          <p:nvPr/>
        </p:nvSpPr>
        <p:spPr>
          <a:xfrm>
            <a:off x="292100" y="1231900"/>
            <a:ext cx="7645400" cy="431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58800" y="1435100"/>
            <a:ext cx="79375" cy="79375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1371600"/>
            <a:ext cx="6667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降压靠一组上限，而不是一个开关</a:t>
            </a:r>
            <a:endParaRPr lang="zh-CN" sz="2125"/>
          </a:p>
        </p:txBody>
      </p:sp>
      <p:cxnSp>
        <p:nvCxnSpPr>
          <p:cNvPr id="7" name="Connector 7"/>
          <p:cNvCxnSpPr/>
          <p:nvPr/>
        </p:nvCxnSpPr>
        <p:spPr>
          <a:xfrm>
            <a:off x="558800" y="5149850"/>
            <a:ext cx="7112000" cy="1270"/>
          </a:xfrm>
          <a:prstGeom prst="line">
            <a:avLst/>
          </a:prstGeom>
          <a:ln w="7938">
            <a:solidFill>
              <a:srgbClr val="B8BCC4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558800" y="5229225"/>
            <a:ext cx="238125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750"/>
          </a:p>
        </p:txBody>
      </p:sp>
      <p:sp>
        <p:nvSpPr>
          <p:cNvPr id="9" name="Text 9"/>
          <p:cNvSpPr txBox="1"/>
          <p:nvPr/>
        </p:nvSpPr>
        <p:spPr>
          <a:xfrm>
            <a:off x="7337425" y="5213350"/>
            <a:ext cx="33337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zh-CN" sz="750"/>
          </a:p>
        </p:txBody>
      </p:sp>
      <p:sp>
        <p:nvSpPr>
          <p:cNvPr id="10" name="Rectangle 10"/>
          <p:cNvSpPr/>
          <p:nvPr/>
        </p:nvSpPr>
        <p:spPr>
          <a:xfrm>
            <a:off x="558800" y="2133600"/>
            <a:ext cx="2222500" cy="96837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85800" y="2252662"/>
            <a:ext cx="1968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20 / 50</a:t>
            </a:r>
            <a:endParaRPr lang="zh-CN" sz="1690"/>
          </a:p>
        </p:txBody>
      </p:sp>
      <p:sp>
        <p:nvSpPr>
          <p:cNvPr id="12" name="Text 12"/>
          <p:cNvSpPr txBox="1"/>
          <p:nvPr/>
        </p:nvSpPr>
        <p:spPr>
          <a:xfrm>
            <a:off x="685800" y="2641600"/>
            <a:ext cx="1968500" cy="3730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1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列表默认 / 硬上限</a:t>
            </a:r>
            <a:endParaRPr lang="zh-CN" sz="810"/>
          </a:p>
        </p:txBody>
      </p:sp>
      <p:sp>
        <p:nvSpPr>
          <p:cNvPr id="13" name="Rectangle 13"/>
          <p:cNvSpPr/>
          <p:nvPr/>
        </p:nvSpPr>
        <p:spPr>
          <a:xfrm>
            <a:off x="2971800" y="2133600"/>
            <a:ext cx="2222500" cy="96837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3098800" y="2252662"/>
            <a:ext cx="1968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64 KiB</a:t>
            </a:r>
            <a:endParaRPr lang="zh-CN" sz="1690"/>
          </a:p>
        </p:txBody>
      </p:sp>
      <p:sp>
        <p:nvSpPr>
          <p:cNvPr id="15" name="Text 15"/>
          <p:cNvSpPr txBox="1"/>
          <p:nvPr/>
        </p:nvSpPr>
        <p:spPr>
          <a:xfrm>
            <a:off x="3098800" y="2641600"/>
            <a:ext cx="1968500" cy="3730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1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正文按块读取</a:t>
            </a:r>
            <a:endParaRPr lang="zh-CN" sz="810"/>
          </a:p>
        </p:txBody>
      </p:sp>
      <p:sp>
        <p:nvSpPr>
          <p:cNvPr id="16" name="Rectangle 16"/>
          <p:cNvSpPr/>
          <p:nvPr/>
        </p:nvSpPr>
        <p:spPr>
          <a:xfrm>
            <a:off x="5384800" y="2133600"/>
            <a:ext cx="2222500" cy="96837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5511800" y="2252662"/>
            <a:ext cx="1968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256 KiB</a:t>
            </a:r>
            <a:endParaRPr lang="zh-CN" sz="1690"/>
          </a:p>
        </p:txBody>
      </p:sp>
      <p:sp>
        <p:nvSpPr>
          <p:cNvPr id="18" name="Text 18"/>
          <p:cNvSpPr txBox="1"/>
          <p:nvPr/>
        </p:nvSpPr>
        <p:spPr>
          <a:xfrm>
            <a:off x="5511800" y="2641600"/>
            <a:ext cx="1968500" cy="3730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1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CSV 预览上限</a:t>
            </a:r>
            <a:endParaRPr lang="zh-CN" sz="810"/>
          </a:p>
        </p:txBody>
      </p:sp>
      <p:sp>
        <p:nvSpPr>
          <p:cNvPr id="19" name="Rectangle 19"/>
          <p:cNvSpPr/>
          <p:nvPr/>
        </p:nvSpPr>
        <p:spPr>
          <a:xfrm>
            <a:off x="558800" y="3260725"/>
            <a:ext cx="2222500" cy="968375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685800" y="3379788"/>
            <a:ext cx="1968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3000 ms</a:t>
            </a:r>
            <a:endParaRPr lang="zh-CN" sz="1690"/>
          </a:p>
        </p:txBody>
      </p:sp>
      <p:sp>
        <p:nvSpPr>
          <p:cNvPr id="21" name="Text 21"/>
          <p:cNvSpPr txBox="1"/>
          <p:nvPr/>
        </p:nvSpPr>
        <p:spPr>
          <a:xfrm>
            <a:off x="685800" y="3768725"/>
            <a:ext cx="1968500" cy="3730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1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快速检查超时</a:t>
            </a:r>
            <a:endParaRPr lang="zh-CN" sz="810"/>
          </a:p>
        </p:txBody>
      </p:sp>
      <p:sp>
        <p:nvSpPr>
          <p:cNvPr id="22" name="Rectangle 22"/>
          <p:cNvSpPr/>
          <p:nvPr/>
        </p:nvSpPr>
        <p:spPr>
          <a:xfrm>
            <a:off x="2971800" y="3260725"/>
            <a:ext cx="2222500" cy="96837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3098800" y="3379788"/>
            <a:ext cx="1968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100 / 200</a:t>
            </a:r>
            <a:endParaRPr lang="zh-CN" sz="1690"/>
          </a:p>
        </p:txBody>
      </p:sp>
      <p:sp>
        <p:nvSpPr>
          <p:cNvPr id="24" name="Text 24"/>
          <p:cNvSpPr txBox="1"/>
          <p:nvPr/>
        </p:nvSpPr>
        <p:spPr>
          <a:xfrm>
            <a:off x="3098800" y="3768725"/>
            <a:ext cx="1968500" cy="3730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1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Digest / 容量硬上限</a:t>
            </a:r>
            <a:endParaRPr lang="zh-CN" sz="810"/>
          </a:p>
        </p:txBody>
      </p:sp>
      <p:sp>
        <p:nvSpPr>
          <p:cNvPr id="25" name="Rectangle 25"/>
          <p:cNvSpPr/>
          <p:nvPr/>
        </p:nvSpPr>
        <p:spPr>
          <a:xfrm>
            <a:off x="5384800" y="3260725"/>
            <a:ext cx="2222500" cy="96837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5511800" y="3379788"/>
            <a:ext cx="1968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5s / 2s</a:t>
            </a:r>
            <a:endParaRPr lang="zh-CN" sz="1690"/>
          </a:p>
        </p:txBody>
      </p:sp>
      <p:sp>
        <p:nvSpPr>
          <p:cNvPr id="27" name="Text 27"/>
          <p:cNvSpPr txBox="1"/>
          <p:nvPr/>
        </p:nvSpPr>
        <p:spPr>
          <a:xfrm>
            <a:off x="5511800" y="3768725"/>
            <a:ext cx="1968500" cy="3730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1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配置 / 副本状态缓存</a:t>
            </a:r>
            <a:endParaRPr lang="zh-CN" sz="810"/>
          </a:p>
        </p:txBody>
      </p:sp>
      <p:sp>
        <p:nvSpPr>
          <p:cNvPr id="28" name="Rectangle 28"/>
          <p:cNvSpPr/>
          <p:nvPr/>
        </p:nvSpPr>
        <p:spPr>
          <a:xfrm>
            <a:off x="558800" y="4467225"/>
            <a:ext cx="7112000" cy="44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749300" y="4594225"/>
            <a:ext cx="673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0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单进程连接预算 = write_pool + read_pool × (1 + replica_count)</a:t>
            </a:r>
            <a:endParaRPr lang="zh-CN" sz="1060"/>
          </a:p>
        </p:txBody>
      </p:sp>
      <p:sp>
        <p:nvSpPr>
          <p:cNvPr id="30" name="Rectangle 30"/>
          <p:cNvSpPr/>
          <p:nvPr/>
        </p:nvSpPr>
        <p:spPr>
          <a:xfrm>
            <a:off x="304800" y="5816600"/>
            <a:ext cx="7620000" cy="66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558800" y="60198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投屏内容与讲稿页一一对应</a:t>
            </a:r>
            <a:endParaRPr lang="zh-CN" sz="1400"/>
          </a:p>
        </p:txBody>
      </p:sp>
      <p:sp>
        <p:nvSpPr>
          <p:cNvPr id="32" name="Rectangle 32"/>
          <p:cNvSpPr/>
          <p:nvPr/>
        </p:nvSpPr>
        <p:spPr>
          <a:xfrm>
            <a:off x="8204200" y="254000"/>
            <a:ext cx="3683000" cy="6223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8204200" y="254000"/>
            <a:ext cx="101600" cy="622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8559800" y="533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讲述稿｜06</a:t>
            </a:r>
            <a:endParaRPr lang="zh-CN" sz="1300"/>
          </a:p>
        </p:txBody>
      </p:sp>
      <p:cxnSp>
        <p:nvCxnSpPr>
          <p:cNvPr id="35" name="Connector 35"/>
          <p:cNvCxnSpPr/>
          <p:nvPr/>
        </p:nvCxnSpPr>
        <p:spPr>
          <a:xfrm>
            <a:off x="8559800" y="990600"/>
            <a:ext cx="29718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36" name="Text 36"/>
          <p:cNvSpPr txBox="1"/>
          <p:nvPr/>
        </p:nvSpPr>
        <p:spPr>
          <a:xfrm>
            <a:off x="8559800" y="1219200"/>
            <a:ext cx="2921000" cy="485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除了快照，代码里还叠加了很多硬上限。列表默认二十条、最多五十条；正文按最多六十四 KiB 分块；CSV 预览最多二百五十六 KiB、百行、五十列；检查 SQL 默认三秒超时；Digest 和容量查询也有固定上限。配置只缓存五秒，复制状态只缓存两秒，既减少重复查询，又不会长时间使用旧状态。连接池还按进程和副本数计算，避免只看单个服务，低估整个部署对 MySQL 的连接需求。</a:t>
            </a:r>
            <a:endParaRPr lang="zh-CN" sz="1500"/>
          </a:p>
        </p:txBody>
      </p:sp>
      <p:sp>
        <p:nvSpPr>
          <p:cNvPr id="37" name="Text 37"/>
          <p:cNvSpPr txBox="1"/>
          <p:nvPr/>
        </p:nvSpPr>
        <p:spPr>
          <a:xfrm>
            <a:off x="8559800" y="61214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可直接照读，也可按现场节奏删减。</a:t>
            </a:r>
            <a:endParaRPr lang="zh-CN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04800" y="254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投屏页 07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304800" y="558800"/>
            <a:ext cx="762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不是所有 SELECT 都应该去从库</a:t>
            </a:r>
            <a:endParaRPr lang="zh-CN" sz="2100"/>
          </a:p>
        </p:txBody>
      </p:sp>
      <p:sp>
        <p:nvSpPr>
          <p:cNvPr id="4" name="Rectangle 4"/>
          <p:cNvSpPr/>
          <p:nvPr/>
        </p:nvSpPr>
        <p:spPr>
          <a:xfrm>
            <a:off x="292100" y="1231900"/>
            <a:ext cx="7645400" cy="431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58800" y="1435100"/>
            <a:ext cx="79375" cy="79375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1371600"/>
            <a:ext cx="6667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不是所有 SELECT 都应该去从库</a:t>
            </a:r>
            <a:endParaRPr lang="zh-CN" sz="2125"/>
          </a:p>
        </p:txBody>
      </p:sp>
      <p:cxnSp>
        <p:nvCxnSpPr>
          <p:cNvPr id="7" name="Connector 7"/>
          <p:cNvCxnSpPr/>
          <p:nvPr/>
        </p:nvCxnSpPr>
        <p:spPr>
          <a:xfrm>
            <a:off x="558800" y="5149850"/>
            <a:ext cx="7112000" cy="1270"/>
          </a:xfrm>
          <a:prstGeom prst="line">
            <a:avLst/>
          </a:prstGeom>
          <a:ln w="7938">
            <a:solidFill>
              <a:srgbClr val="B8BCC4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558800" y="5229225"/>
            <a:ext cx="238125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750"/>
          </a:p>
        </p:txBody>
      </p:sp>
      <p:sp>
        <p:nvSpPr>
          <p:cNvPr id="9" name="Text 9"/>
          <p:cNvSpPr txBox="1"/>
          <p:nvPr/>
        </p:nvSpPr>
        <p:spPr>
          <a:xfrm>
            <a:off x="7337425" y="5213350"/>
            <a:ext cx="33337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zh-CN" sz="750"/>
          </a:p>
        </p:txBody>
      </p:sp>
      <p:sp>
        <p:nvSpPr>
          <p:cNvPr id="10" name="Rectangle 10"/>
          <p:cNvSpPr/>
          <p:nvPr/>
        </p:nvSpPr>
        <p:spPr>
          <a:xfrm>
            <a:off x="558800" y="2133600"/>
            <a:ext cx="3095625" cy="34925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54050" y="2220912"/>
            <a:ext cx="2905125" cy="174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业务场景</a:t>
            </a:r>
            <a:endParaRPr lang="zh-CN" sz="875"/>
          </a:p>
        </p:txBody>
      </p:sp>
      <p:sp>
        <p:nvSpPr>
          <p:cNvPr id="12" name="Rectangle 12"/>
          <p:cNvSpPr/>
          <p:nvPr/>
        </p:nvSpPr>
        <p:spPr>
          <a:xfrm>
            <a:off x="3654425" y="2133600"/>
            <a:ext cx="1555750" cy="34925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3749675" y="2220912"/>
            <a:ext cx="1365250" cy="174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一致性</a:t>
            </a:r>
            <a:endParaRPr lang="zh-CN" sz="875"/>
          </a:p>
        </p:txBody>
      </p:sp>
      <p:sp>
        <p:nvSpPr>
          <p:cNvPr id="14" name="Rectangle 14"/>
          <p:cNvSpPr/>
          <p:nvPr/>
        </p:nvSpPr>
        <p:spPr>
          <a:xfrm>
            <a:off x="5210175" y="2133600"/>
            <a:ext cx="2079625" cy="34925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5305425" y="2220912"/>
            <a:ext cx="1889125" cy="174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实际连接</a:t>
            </a:r>
            <a:endParaRPr lang="zh-CN" sz="875"/>
          </a:p>
        </p:txBody>
      </p:sp>
      <p:sp>
        <p:nvSpPr>
          <p:cNvPr id="16" name="Rectangle 16"/>
          <p:cNvSpPr/>
          <p:nvPr/>
        </p:nvSpPr>
        <p:spPr>
          <a:xfrm>
            <a:off x="558800" y="2482850"/>
            <a:ext cx="3095625" cy="4445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54050" y="2593975"/>
            <a:ext cx="2905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登录 / 会话恢复 / 管理员权限</a:t>
            </a:r>
            <a:endParaRPr lang="zh-CN" sz="875"/>
          </a:p>
        </p:txBody>
      </p:sp>
      <p:sp>
        <p:nvSpPr>
          <p:cNvPr id="18" name="Rectangle 18"/>
          <p:cNvSpPr/>
          <p:nvPr/>
        </p:nvSpPr>
        <p:spPr>
          <a:xfrm>
            <a:off x="3654425" y="2482850"/>
            <a:ext cx="1555750" cy="4445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3749675" y="2593975"/>
            <a:ext cx="136525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STRONG</a:t>
            </a:r>
            <a:endParaRPr lang="zh-CN" sz="875"/>
          </a:p>
        </p:txBody>
      </p:sp>
      <p:sp>
        <p:nvSpPr>
          <p:cNvPr id="20" name="Rectangle 20"/>
          <p:cNvSpPr/>
          <p:nvPr/>
        </p:nvSpPr>
        <p:spPr>
          <a:xfrm>
            <a:off x="5210175" y="2482850"/>
            <a:ext cx="2079625" cy="4445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5305425" y="2593975"/>
            <a:ext cx="1889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主库</a:t>
            </a:r>
            <a:endParaRPr lang="zh-CN" sz="875"/>
          </a:p>
        </p:txBody>
      </p:sp>
      <p:sp>
        <p:nvSpPr>
          <p:cNvPr id="22" name="Rectangle 22"/>
          <p:cNvSpPr/>
          <p:nvPr/>
        </p:nvSpPr>
        <p:spPr>
          <a:xfrm>
            <a:off x="558800" y="2935288"/>
            <a:ext cx="3095625" cy="44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654050" y="3046412"/>
            <a:ext cx="2905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详情预览 / Job Event</a:t>
            </a:r>
            <a:endParaRPr lang="zh-CN" sz="875"/>
          </a:p>
        </p:txBody>
      </p:sp>
      <p:sp>
        <p:nvSpPr>
          <p:cNvPr id="24" name="Rectangle 24"/>
          <p:cNvSpPr/>
          <p:nvPr/>
        </p:nvSpPr>
        <p:spPr>
          <a:xfrm>
            <a:off x="3654425" y="2935288"/>
            <a:ext cx="1555750" cy="44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3749675" y="3046412"/>
            <a:ext cx="136525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STRONG</a:t>
            </a:r>
            <a:endParaRPr lang="zh-CN" sz="875"/>
          </a:p>
        </p:txBody>
      </p:sp>
      <p:sp>
        <p:nvSpPr>
          <p:cNvPr id="26" name="Rectangle 26"/>
          <p:cNvSpPr/>
          <p:nvPr/>
        </p:nvSpPr>
        <p:spPr>
          <a:xfrm>
            <a:off x="5210175" y="2935288"/>
            <a:ext cx="2079625" cy="44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5305425" y="3046412"/>
            <a:ext cx="1889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主库</a:t>
            </a:r>
            <a:endParaRPr lang="zh-CN" sz="875"/>
          </a:p>
        </p:txBody>
      </p:sp>
      <p:sp>
        <p:nvSpPr>
          <p:cNvPr id="28" name="Rectangle 28"/>
          <p:cNvSpPr/>
          <p:nvPr/>
        </p:nvSpPr>
        <p:spPr>
          <a:xfrm>
            <a:off x="558800" y="3387725"/>
            <a:ext cx="3095625" cy="4445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654050" y="3498850"/>
            <a:ext cx="2905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普通历史 / 容量读取</a:t>
            </a:r>
            <a:endParaRPr lang="zh-CN" sz="875"/>
          </a:p>
        </p:txBody>
      </p:sp>
      <p:sp>
        <p:nvSpPr>
          <p:cNvPr id="30" name="Rectangle 30"/>
          <p:cNvSpPr/>
          <p:nvPr/>
        </p:nvSpPr>
        <p:spPr>
          <a:xfrm>
            <a:off x="3654425" y="3387725"/>
            <a:ext cx="1555750" cy="4445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3749675" y="3498850"/>
            <a:ext cx="136525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1" dirty="0">
                <a:solidFill>
                  <a:srgbClr val="276EF1"/>
                </a:solidFill>
                <a:latin typeface="微软雅黑" panose="020B0503020204020204" charset="-122"/>
                <a:ea typeface="微软雅黑" panose="020B0503020204020204" charset="-122"/>
              </a:rPr>
              <a:t>EVENTUAL</a:t>
            </a:r>
            <a:endParaRPr lang="zh-CN" sz="875"/>
          </a:p>
        </p:txBody>
      </p:sp>
      <p:sp>
        <p:nvSpPr>
          <p:cNvPr id="32" name="Rectangle 32"/>
          <p:cNvSpPr/>
          <p:nvPr/>
        </p:nvSpPr>
        <p:spPr>
          <a:xfrm>
            <a:off x="5210175" y="3387725"/>
            <a:ext cx="2079625" cy="4445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5305425" y="3498850"/>
            <a:ext cx="1889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健康且延迟合格才用副本</a:t>
            </a:r>
            <a:endParaRPr lang="zh-CN" sz="875"/>
          </a:p>
        </p:txBody>
      </p:sp>
      <p:sp>
        <p:nvSpPr>
          <p:cNvPr id="34" name="Rectangle 34"/>
          <p:cNvSpPr/>
          <p:nvPr/>
        </p:nvSpPr>
        <p:spPr>
          <a:xfrm>
            <a:off x="558800" y="3840162"/>
            <a:ext cx="3095625" cy="44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654050" y="3951288"/>
            <a:ext cx="2905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所有业务写入</a:t>
            </a:r>
            <a:endParaRPr lang="zh-CN" sz="875"/>
          </a:p>
        </p:txBody>
      </p:sp>
      <p:sp>
        <p:nvSpPr>
          <p:cNvPr id="36" name="Rectangle 36"/>
          <p:cNvSpPr/>
          <p:nvPr/>
        </p:nvSpPr>
        <p:spPr>
          <a:xfrm>
            <a:off x="3654425" y="3840162"/>
            <a:ext cx="1555750" cy="44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3749675" y="3951288"/>
            <a:ext cx="136525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1" dirty="0">
                <a:solidFill>
                  <a:srgbClr val="178A5B"/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zh-CN" sz="875"/>
          </a:p>
        </p:txBody>
      </p:sp>
      <p:sp>
        <p:nvSpPr>
          <p:cNvPr id="38" name="Rectangle 38"/>
          <p:cNvSpPr/>
          <p:nvPr/>
        </p:nvSpPr>
        <p:spPr>
          <a:xfrm>
            <a:off x="5210175" y="3840162"/>
            <a:ext cx="2079625" cy="44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5305425" y="3951288"/>
            <a:ext cx="1889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主库</a:t>
            </a:r>
            <a:endParaRPr lang="zh-CN" sz="875"/>
          </a:p>
        </p:txBody>
      </p:sp>
      <p:sp>
        <p:nvSpPr>
          <p:cNvPr id="40" name="Text 40"/>
          <p:cNvSpPr txBox="1"/>
          <p:nvPr/>
        </p:nvSpPr>
        <p:spPr>
          <a:xfrm>
            <a:off x="558800" y="4546600"/>
            <a:ext cx="6731000" cy="214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副本状态异常或延迟超阈值 → 安全回退主库，不自动切主</a:t>
            </a:r>
            <a:endParaRPr lang="zh-CN" sz="1000"/>
          </a:p>
        </p:txBody>
      </p:sp>
      <p:sp>
        <p:nvSpPr>
          <p:cNvPr id="41" name="Rectangle 41"/>
          <p:cNvSpPr/>
          <p:nvPr/>
        </p:nvSpPr>
        <p:spPr>
          <a:xfrm>
            <a:off x="304800" y="5816600"/>
            <a:ext cx="7620000" cy="66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558800" y="60198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投屏内容与讲稿页一一对应</a:t>
            </a:r>
            <a:endParaRPr lang="zh-CN" sz="1400"/>
          </a:p>
        </p:txBody>
      </p:sp>
      <p:sp>
        <p:nvSpPr>
          <p:cNvPr id="43" name="Rectangle 43"/>
          <p:cNvSpPr/>
          <p:nvPr/>
        </p:nvSpPr>
        <p:spPr>
          <a:xfrm>
            <a:off x="8204200" y="254000"/>
            <a:ext cx="3683000" cy="6223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8204200" y="254000"/>
            <a:ext cx="101600" cy="622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8559800" y="533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讲述稿｜07</a:t>
            </a:r>
            <a:endParaRPr lang="zh-CN" sz="1300"/>
          </a:p>
        </p:txBody>
      </p:sp>
      <p:cxnSp>
        <p:nvCxnSpPr>
          <p:cNvPr id="46" name="Connector 46"/>
          <p:cNvCxnSpPr/>
          <p:nvPr/>
        </p:nvCxnSpPr>
        <p:spPr>
          <a:xfrm>
            <a:off x="8559800" y="990600"/>
            <a:ext cx="29718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47" name="Text 47"/>
          <p:cNvSpPr txBox="1"/>
          <p:nvPr/>
        </p:nvSpPr>
        <p:spPr>
          <a:xfrm>
            <a:off x="8559800" y="1219200"/>
            <a:ext cx="2921000" cy="485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读写分离最容易犯的错误，是把所有 SELECT 都丢到从库。这里不是这样。登录、会话恢复、管理员权限、详情预览和任务事件都要立刻看到最新结果，所以固定强一致读主库。普通历史列表、容量这类允许很短延迟的读取，才会尝试副本；而且必须先确认复制状态正常、延迟没有超过阈值，否则自动回退主库。所有写入当然只去主库。也就是说，代码是先判断业务一致性，再决定连接，而不是根据 SQL 长得像 SELECT 就机械分流。</a:t>
            </a:r>
            <a:endParaRPr lang="zh-CN" sz="1500"/>
          </a:p>
        </p:txBody>
      </p:sp>
      <p:sp>
        <p:nvSpPr>
          <p:cNvPr id="48" name="Text 48"/>
          <p:cNvSpPr txBox="1"/>
          <p:nvPr/>
        </p:nvSpPr>
        <p:spPr>
          <a:xfrm>
            <a:off x="8559800" y="61214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可直接照读，也可按现场节奏删减。</a:t>
            </a:r>
            <a:endParaRPr lang="zh-CN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04800" y="254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投屏页 08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304800" y="558800"/>
            <a:ext cx="762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权限是三道独立闸门</a:t>
            </a:r>
            <a:endParaRPr lang="zh-CN" sz="2100"/>
          </a:p>
        </p:txBody>
      </p:sp>
      <p:sp>
        <p:nvSpPr>
          <p:cNvPr id="4" name="Rectangle 4"/>
          <p:cNvSpPr/>
          <p:nvPr/>
        </p:nvSpPr>
        <p:spPr>
          <a:xfrm>
            <a:off x="292100" y="1231900"/>
            <a:ext cx="7645400" cy="431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58800" y="1435100"/>
            <a:ext cx="79375" cy="79375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1371600"/>
            <a:ext cx="6667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权限是三道独立闸门</a:t>
            </a:r>
            <a:endParaRPr lang="zh-CN" sz="2125"/>
          </a:p>
        </p:txBody>
      </p:sp>
      <p:cxnSp>
        <p:nvCxnSpPr>
          <p:cNvPr id="7" name="Connector 7"/>
          <p:cNvCxnSpPr/>
          <p:nvPr/>
        </p:nvCxnSpPr>
        <p:spPr>
          <a:xfrm>
            <a:off x="558800" y="5149850"/>
            <a:ext cx="7112000" cy="1270"/>
          </a:xfrm>
          <a:prstGeom prst="line">
            <a:avLst/>
          </a:prstGeom>
          <a:ln w="7938">
            <a:solidFill>
              <a:srgbClr val="B8BCC4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558800" y="5229225"/>
            <a:ext cx="238125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750"/>
          </a:p>
        </p:txBody>
      </p:sp>
      <p:sp>
        <p:nvSpPr>
          <p:cNvPr id="9" name="Text 9"/>
          <p:cNvSpPr txBox="1"/>
          <p:nvPr/>
        </p:nvSpPr>
        <p:spPr>
          <a:xfrm>
            <a:off x="7337425" y="5213350"/>
            <a:ext cx="33337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zh-CN" sz="750"/>
          </a:p>
        </p:txBody>
      </p:sp>
      <p:sp>
        <p:nvSpPr>
          <p:cNvPr id="10" name="Rectangle 10"/>
          <p:cNvSpPr/>
          <p:nvPr/>
        </p:nvSpPr>
        <p:spPr>
          <a:xfrm>
            <a:off x="558800" y="2133600"/>
            <a:ext cx="2095500" cy="136525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58800" y="2133600"/>
            <a:ext cx="55562" cy="1365250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17550" y="2268538"/>
            <a:ext cx="1809750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01 · 界面层</a:t>
            </a:r>
            <a:endParaRPr lang="zh-CN" sz="1250"/>
          </a:p>
        </p:txBody>
      </p:sp>
      <p:sp>
        <p:nvSpPr>
          <p:cNvPr id="13" name="Text 13"/>
          <p:cNvSpPr txBox="1"/>
          <p:nvPr/>
        </p:nvSpPr>
        <p:spPr>
          <a:xfrm>
            <a:off x="717550" y="2586038"/>
            <a:ext cx="18097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4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导航可见性</a:t>
            </a:r>
            <a:endParaRPr lang="zh-CN" sz="940"/>
          </a:p>
          <a:p>
            <a:pPr algn="l"/>
            <a:r>
              <a:rPr lang="zh-CN" altLang="en-US" sz="94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不是安全边界</a:t>
            </a:r>
            <a:endParaRPr lang="zh-CN" sz="940"/>
          </a:p>
        </p:txBody>
      </p:sp>
      <p:sp>
        <p:nvSpPr>
          <p:cNvPr id="14" name="Rectangle 14"/>
          <p:cNvSpPr/>
          <p:nvPr/>
        </p:nvSpPr>
        <p:spPr>
          <a:xfrm>
            <a:off x="3067050" y="2133600"/>
            <a:ext cx="2095500" cy="1365250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3067050" y="2133600"/>
            <a:ext cx="55562" cy="136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3225800" y="2268538"/>
            <a:ext cx="1809750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02 · 应用层</a:t>
            </a:r>
            <a:endParaRPr lang="zh-CN" sz="1250"/>
          </a:p>
        </p:txBody>
      </p:sp>
      <p:sp>
        <p:nvSpPr>
          <p:cNvPr id="17" name="Text 17"/>
          <p:cNvSpPr txBox="1"/>
          <p:nvPr/>
        </p:nvSpPr>
        <p:spPr>
          <a:xfrm>
            <a:off x="3225800" y="2586038"/>
            <a:ext cx="18097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主库复核 role / is_active</a:t>
            </a:r>
            <a:endParaRPr lang="zh-CN" sz="875"/>
          </a:p>
          <a:p>
            <a:pPr algn="l"/>
            <a:r>
              <a:rPr lang="zh-CN" altLang="en-US" sz="875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401 / 403 · CSRF · 重新认证</a:t>
            </a:r>
            <a:endParaRPr lang="zh-CN" sz="875"/>
          </a:p>
        </p:txBody>
      </p:sp>
      <p:sp>
        <p:nvSpPr>
          <p:cNvPr id="18" name="Rectangle 18"/>
          <p:cNvSpPr/>
          <p:nvPr/>
        </p:nvSpPr>
        <p:spPr>
          <a:xfrm>
            <a:off x="5575300" y="2133600"/>
            <a:ext cx="2095500" cy="136525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575300" y="2133600"/>
            <a:ext cx="55562" cy="136525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5734050" y="2268538"/>
            <a:ext cx="1809750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03 · 数据库层</a:t>
            </a:r>
            <a:endParaRPr lang="zh-CN" sz="1250"/>
          </a:p>
        </p:txBody>
      </p:sp>
      <p:sp>
        <p:nvSpPr>
          <p:cNvPr id="21" name="Text 21"/>
          <p:cNvSpPr txBox="1"/>
          <p:nvPr/>
        </p:nvSpPr>
        <p:spPr>
          <a:xfrm>
            <a:off x="5734050" y="2586038"/>
            <a:ext cx="18097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4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按职责拆分账号</a:t>
            </a:r>
            <a:endParaRPr lang="zh-CN" sz="940"/>
          </a:p>
          <a:p>
            <a:pPr algn="l"/>
            <a:r>
              <a:rPr lang="zh-CN" altLang="en-US" sz="94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最小权限兜底</a:t>
            </a:r>
            <a:endParaRPr lang="zh-CN" sz="940"/>
          </a:p>
        </p:txBody>
      </p:sp>
      <p:cxnSp>
        <p:nvCxnSpPr>
          <p:cNvPr id="22" name="Connector 22"/>
          <p:cNvCxnSpPr/>
          <p:nvPr/>
        </p:nvCxnSpPr>
        <p:spPr>
          <a:xfrm>
            <a:off x="2654300" y="2816225"/>
            <a:ext cx="412750" cy="1270"/>
          </a:xfrm>
          <a:prstGeom prst="line">
            <a:avLst/>
          </a:prstGeom>
          <a:ln w="15875">
            <a:solidFill>
              <a:srgbClr val="B8BCC4"/>
            </a:solidFill>
            <a:tailEnd type="triangle" w="sm" len="sm"/>
          </a:ln>
        </p:spPr>
      </p:cxnSp>
      <p:cxnSp>
        <p:nvCxnSpPr>
          <p:cNvPr id="23" name="Connector 23"/>
          <p:cNvCxnSpPr/>
          <p:nvPr/>
        </p:nvCxnSpPr>
        <p:spPr>
          <a:xfrm>
            <a:off x="5162550" y="2816225"/>
            <a:ext cx="412750" cy="1270"/>
          </a:xfrm>
          <a:prstGeom prst="line">
            <a:avLst/>
          </a:prstGeom>
          <a:ln w="15875">
            <a:solidFill>
              <a:srgbClr val="B8BCC4"/>
            </a:solidFill>
            <a:tailEnd type="triangle" w="sm" len="sm"/>
          </a:ln>
        </p:spPr>
      </p:cxnSp>
      <p:sp>
        <p:nvSpPr>
          <p:cNvPr id="24" name="Rectangle 24"/>
          <p:cNvSpPr/>
          <p:nvPr/>
        </p:nvSpPr>
        <p:spPr>
          <a:xfrm>
            <a:off x="558800" y="3863975"/>
            <a:ext cx="1603375" cy="793750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654050" y="3998912"/>
            <a:ext cx="1412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zh-CN" sz="875"/>
          </a:p>
        </p:txBody>
      </p:sp>
      <p:sp>
        <p:nvSpPr>
          <p:cNvPr id="26" name="Text 26"/>
          <p:cNvSpPr txBox="1"/>
          <p:nvPr/>
        </p:nvSpPr>
        <p:spPr>
          <a:xfrm>
            <a:off x="654050" y="4260850"/>
            <a:ext cx="1412875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业务写 / 迁移 / 就绪检查</a:t>
            </a:r>
            <a:endParaRPr lang="zh-CN" sz="750"/>
          </a:p>
        </p:txBody>
      </p:sp>
      <p:sp>
        <p:nvSpPr>
          <p:cNvPr id="27" name="Rectangle 27"/>
          <p:cNvSpPr/>
          <p:nvPr/>
        </p:nvSpPr>
        <p:spPr>
          <a:xfrm>
            <a:off x="2336800" y="3863975"/>
            <a:ext cx="1603375" cy="79375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2432050" y="3998912"/>
            <a:ext cx="1412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zh-CN" sz="875"/>
          </a:p>
        </p:txBody>
      </p:sp>
      <p:sp>
        <p:nvSpPr>
          <p:cNvPr id="29" name="Text 29"/>
          <p:cNvSpPr txBox="1"/>
          <p:nvPr/>
        </p:nvSpPr>
        <p:spPr>
          <a:xfrm>
            <a:off x="2432050" y="4260850"/>
            <a:ext cx="1412875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业务 SELECT + 指定 Digest</a:t>
            </a:r>
            <a:endParaRPr lang="zh-CN" sz="750"/>
          </a:p>
        </p:txBody>
      </p:sp>
      <p:sp>
        <p:nvSpPr>
          <p:cNvPr id="30" name="Rectangle 30"/>
          <p:cNvSpPr/>
          <p:nvPr/>
        </p:nvSpPr>
        <p:spPr>
          <a:xfrm>
            <a:off x="4114800" y="3863975"/>
            <a:ext cx="1603375" cy="79375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4210050" y="3998912"/>
            <a:ext cx="1412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STATUS</a:t>
            </a:r>
            <a:endParaRPr lang="zh-CN" sz="875"/>
          </a:p>
        </p:txBody>
      </p:sp>
      <p:sp>
        <p:nvSpPr>
          <p:cNvPr id="32" name="Text 32"/>
          <p:cNvSpPr txBox="1"/>
          <p:nvPr/>
        </p:nvSpPr>
        <p:spPr>
          <a:xfrm>
            <a:off x="4210050" y="4260850"/>
            <a:ext cx="1412875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SHOW REPLICA STATUS</a:t>
            </a:r>
            <a:endParaRPr lang="zh-CN" sz="750"/>
          </a:p>
        </p:txBody>
      </p:sp>
      <p:sp>
        <p:nvSpPr>
          <p:cNvPr id="33" name="Rectangle 33"/>
          <p:cNvSpPr/>
          <p:nvPr/>
        </p:nvSpPr>
        <p:spPr>
          <a:xfrm>
            <a:off x="5892800" y="3863975"/>
            <a:ext cx="1603375" cy="79375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5988050" y="3998912"/>
            <a:ext cx="1412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REPLICATION</a:t>
            </a:r>
            <a:endParaRPr lang="zh-CN" sz="875"/>
          </a:p>
        </p:txBody>
      </p:sp>
      <p:sp>
        <p:nvSpPr>
          <p:cNvPr id="35" name="Text 35"/>
          <p:cNvSpPr txBox="1"/>
          <p:nvPr/>
        </p:nvSpPr>
        <p:spPr>
          <a:xfrm>
            <a:off x="5988050" y="4260850"/>
            <a:ext cx="1412875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复制通道拉 binlog</a:t>
            </a:r>
            <a:endParaRPr lang="zh-CN" sz="750"/>
          </a:p>
        </p:txBody>
      </p:sp>
      <p:sp>
        <p:nvSpPr>
          <p:cNvPr id="36" name="Rectangle 36"/>
          <p:cNvSpPr/>
          <p:nvPr/>
        </p:nvSpPr>
        <p:spPr>
          <a:xfrm>
            <a:off x="304800" y="5816600"/>
            <a:ext cx="7620000" cy="66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558800" y="60198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投屏内容与讲稿页一一对应</a:t>
            </a:r>
            <a:endParaRPr lang="zh-CN" sz="1400"/>
          </a:p>
        </p:txBody>
      </p:sp>
      <p:sp>
        <p:nvSpPr>
          <p:cNvPr id="38" name="Rectangle 38"/>
          <p:cNvSpPr/>
          <p:nvPr/>
        </p:nvSpPr>
        <p:spPr>
          <a:xfrm>
            <a:off x="8204200" y="254000"/>
            <a:ext cx="3683000" cy="6223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8204200" y="254000"/>
            <a:ext cx="101600" cy="622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8559800" y="533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讲述稿｜08</a:t>
            </a:r>
            <a:endParaRPr lang="zh-CN" sz="1300"/>
          </a:p>
        </p:txBody>
      </p:sp>
      <p:cxnSp>
        <p:nvCxnSpPr>
          <p:cNvPr id="41" name="Connector 41"/>
          <p:cNvCxnSpPr/>
          <p:nvPr/>
        </p:nvCxnSpPr>
        <p:spPr>
          <a:xfrm>
            <a:off x="8559800" y="990600"/>
            <a:ext cx="29718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42" name="Text 42"/>
          <p:cNvSpPr txBox="1"/>
          <p:nvPr/>
        </p:nvSpPr>
        <p:spPr>
          <a:xfrm>
            <a:off x="8559800" y="1219200"/>
            <a:ext cx="2921000" cy="485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权限设计分成三层。第一层是界面，只负责让普通用户看不到管理员入口，但它不是安全边界。第二层是应用接口：每次管理员请求都重新从主库确认 role 和 is_active，不相信 session 里旧的角色值；未登录返回 401，普通用户返回 403。敏感写入还要带 CSRF、重新输入当前管理员密码和幂等键。第三层是数据库账号，把写入、业务读取、复制状态和复制通道拆成四种职责。这样即使某一层出错，下一层仍然能把权限收住。</a:t>
            </a:r>
            <a:endParaRPr lang="zh-CN" sz="1500"/>
          </a:p>
        </p:txBody>
      </p:sp>
      <p:sp>
        <p:nvSpPr>
          <p:cNvPr id="43" name="Text 43"/>
          <p:cNvSpPr txBox="1"/>
          <p:nvPr/>
        </p:nvSpPr>
        <p:spPr>
          <a:xfrm>
            <a:off x="8559800" y="61214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可直接照读，也可按现场节奏删减。</a:t>
            </a:r>
            <a:endParaRPr lang="zh-CN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04800" y="254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投屏页 09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304800" y="558800"/>
            <a:ext cx="762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用不同的锁，解决不同的竞争</a:t>
            </a:r>
            <a:endParaRPr lang="zh-CN" sz="2100"/>
          </a:p>
        </p:txBody>
      </p:sp>
      <p:sp>
        <p:nvSpPr>
          <p:cNvPr id="4" name="Rectangle 4"/>
          <p:cNvSpPr/>
          <p:nvPr/>
        </p:nvSpPr>
        <p:spPr>
          <a:xfrm>
            <a:off x="292100" y="1231900"/>
            <a:ext cx="7645400" cy="431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58800" y="1435100"/>
            <a:ext cx="79375" cy="79375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1371600"/>
            <a:ext cx="6667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用不同的锁，解决不同的竞争</a:t>
            </a:r>
            <a:endParaRPr lang="zh-CN" sz="2125"/>
          </a:p>
        </p:txBody>
      </p:sp>
      <p:cxnSp>
        <p:nvCxnSpPr>
          <p:cNvPr id="7" name="Connector 7"/>
          <p:cNvCxnSpPr/>
          <p:nvPr/>
        </p:nvCxnSpPr>
        <p:spPr>
          <a:xfrm>
            <a:off x="558800" y="5149850"/>
            <a:ext cx="7112000" cy="1270"/>
          </a:xfrm>
          <a:prstGeom prst="line">
            <a:avLst/>
          </a:prstGeom>
          <a:ln w="7938">
            <a:solidFill>
              <a:srgbClr val="B8BCC4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558800" y="5229225"/>
            <a:ext cx="238125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750"/>
          </a:p>
        </p:txBody>
      </p:sp>
      <p:sp>
        <p:nvSpPr>
          <p:cNvPr id="9" name="Text 9"/>
          <p:cNvSpPr txBox="1"/>
          <p:nvPr/>
        </p:nvSpPr>
        <p:spPr>
          <a:xfrm>
            <a:off x="7337425" y="5213350"/>
            <a:ext cx="33337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lang="zh-CN" sz="750"/>
          </a:p>
        </p:txBody>
      </p:sp>
      <p:sp>
        <p:nvSpPr>
          <p:cNvPr id="10" name="Rectangle 10"/>
          <p:cNvSpPr/>
          <p:nvPr/>
        </p:nvSpPr>
        <p:spPr>
          <a:xfrm>
            <a:off x="558800" y="2133600"/>
            <a:ext cx="3397250" cy="1095375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58800" y="2133600"/>
            <a:ext cx="55562" cy="1095375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17550" y="2268538"/>
            <a:ext cx="3111500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监控采集</a:t>
            </a:r>
            <a:endParaRPr lang="zh-CN" sz="1250"/>
          </a:p>
        </p:txBody>
      </p:sp>
      <p:sp>
        <p:nvSpPr>
          <p:cNvPr id="13" name="Text 13"/>
          <p:cNvSpPr txBox="1"/>
          <p:nvPr/>
        </p:nvSpPr>
        <p:spPr>
          <a:xfrm>
            <a:off x="717550" y="2586038"/>
            <a:ext cx="3111500" cy="53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GET_LOCK(key, 0)</a:t>
            </a:r>
            <a:endParaRPr lang="zh-CN" sz="875"/>
          </a:p>
          <a:p>
            <a:pPr algn="l"/>
            <a:r>
              <a:rPr lang="zh-CN" altLang="en-US" sz="875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抢不到就跳过，不排队</a:t>
            </a:r>
            <a:endParaRPr lang="zh-CN" sz="875"/>
          </a:p>
        </p:txBody>
      </p:sp>
      <p:sp>
        <p:nvSpPr>
          <p:cNvPr id="14" name="Rectangle 14"/>
          <p:cNvSpPr/>
          <p:nvPr/>
        </p:nvSpPr>
        <p:spPr>
          <a:xfrm>
            <a:off x="4273550" y="2133600"/>
            <a:ext cx="3397250" cy="109537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273550" y="2133600"/>
            <a:ext cx="55562" cy="10953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4432300" y="2268538"/>
            <a:ext cx="3111500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管理员写入</a:t>
            </a:r>
            <a:endParaRPr lang="zh-CN" sz="1250"/>
          </a:p>
        </p:txBody>
      </p:sp>
      <p:sp>
        <p:nvSpPr>
          <p:cNvPr id="17" name="Text 17"/>
          <p:cNvSpPr txBox="1"/>
          <p:nvPr/>
        </p:nvSpPr>
        <p:spPr>
          <a:xfrm>
            <a:off x="4432300" y="2586038"/>
            <a:ext cx="3111500" cy="53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READ COMMITTED · 5s</a:t>
            </a:r>
            <a:endParaRPr lang="zh-CN" sz="875"/>
          </a:p>
          <a:p>
            <a:pPr algn="l"/>
            <a:r>
              <a:rPr lang="zh-CN" altLang="en-US" sz="875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按操作者 → 管理员 → 目标 ID 加锁</a:t>
            </a:r>
            <a:endParaRPr lang="zh-CN" sz="875"/>
          </a:p>
        </p:txBody>
      </p:sp>
      <p:sp>
        <p:nvSpPr>
          <p:cNvPr id="18" name="Rectangle 18"/>
          <p:cNvSpPr/>
          <p:nvPr/>
        </p:nvSpPr>
        <p:spPr>
          <a:xfrm>
            <a:off x="558800" y="3451225"/>
            <a:ext cx="3397250" cy="109537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58800" y="3451225"/>
            <a:ext cx="55562" cy="1095375"/>
          </a:xfrm>
          <a:prstGeom prst="rect">
            <a:avLst/>
          </a:prstGeom>
          <a:solidFill>
            <a:srgbClr val="276EF1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717550" y="3586162"/>
            <a:ext cx="3111500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任务领取</a:t>
            </a:r>
            <a:endParaRPr lang="zh-CN" sz="1250"/>
          </a:p>
        </p:txBody>
      </p:sp>
      <p:sp>
        <p:nvSpPr>
          <p:cNvPr id="21" name="Text 21"/>
          <p:cNvSpPr txBox="1"/>
          <p:nvPr/>
        </p:nvSpPr>
        <p:spPr>
          <a:xfrm>
            <a:off x="717550" y="3903662"/>
            <a:ext cx="3111500" cy="53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FOR UPDATE SKIP LOCKED</a:t>
            </a:r>
            <a:endParaRPr lang="zh-CN" sz="875"/>
          </a:p>
          <a:p>
            <a:pPr algn="l"/>
            <a:r>
              <a:rPr lang="zh-CN" altLang="en-US" sz="875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多个 worker 各领各的</a:t>
            </a:r>
            <a:endParaRPr lang="zh-CN" sz="875"/>
          </a:p>
        </p:txBody>
      </p:sp>
      <p:sp>
        <p:nvSpPr>
          <p:cNvPr id="22" name="Rectangle 22"/>
          <p:cNvSpPr/>
          <p:nvPr/>
        </p:nvSpPr>
        <p:spPr>
          <a:xfrm>
            <a:off x="4273550" y="3451225"/>
            <a:ext cx="3397250" cy="109537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4273550" y="3451225"/>
            <a:ext cx="55562" cy="1095375"/>
          </a:xfrm>
          <a:prstGeom prst="rect">
            <a:avLst/>
          </a:prstGeom>
          <a:solidFill>
            <a:srgbClr val="178A5B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4432300" y="3586162"/>
            <a:ext cx="3111500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配置保存</a:t>
            </a:r>
            <a:endParaRPr lang="zh-CN" sz="1250"/>
          </a:p>
        </p:txBody>
      </p:sp>
      <p:sp>
        <p:nvSpPr>
          <p:cNvPr id="25" name="Text 25"/>
          <p:cNvSpPr txBox="1"/>
          <p:nvPr/>
        </p:nvSpPr>
        <p:spPr>
          <a:xfrm>
            <a:off x="4432300" y="3903662"/>
            <a:ext cx="3111500" cy="53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875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乐观版本锁</a:t>
            </a:r>
            <a:endParaRPr lang="zh-CN" sz="875"/>
          </a:p>
          <a:p>
            <a:pPr algn="l"/>
            <a:r>
              <a:rPr lang="zh-CN" altLang="en-US" sz="875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冲突时拒绝覆盖</a:t>
            </a:r>
            <a:endParaRPr lang="zh-CN" sz="875"/>
          </a:p>
        </p:txBody>
      </p:sp>
      <p:sp>
        <p:nvSpPr>
          <p:cNvPr id="26" name="Text 26"/>
          <p:cNvSpPr txBox="1"/>
          <p:nvPr/>
        </p:nvSpPr>
        <p:spPr>
          <a:xfrm>
            <a:off x="558800" y="4721225"/>
            <a:ext cx="711200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125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不同场景，使用不同的并发工具</a:t>
            </a:r>
            <a:endParaRPr lang="zh-CN" sz="1125"/>
          </a:p>
        </p:txBody>
      </p:sp>
      <p:sp>
        <p:nvSpPr>
          <p:cNvPr id="27" name="Rectangle 27"/>
          <p:cNvSpPr/>
          <p:nvPr/>
        </p:nvSpPr>
        <p:spPr>
          <a:xfrm>
            <a:off x="304800" y="5816600"/>
            <a:ext cx="7620000" cy="66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558800" y="60198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投屏内容与讲稿页一一对应</a:t>
            </a:r>
            <a:endParaRPr lang="zh-CN" sz="1400"/>
          </a:p>
        </p:txBody>
      </p:sp>
      <p:sp>
        <p:nvSpPr>
          <p:cNvPr id="29" name="Rectangle 29"/>
          <p:cNvSpPr/>
          <p:nvPr/>
        </p:nvSpPr>
        <p:spPr>
          <a:xfrm>
            <a:off x="8204200" y="254000"/>
            <a:ext cx="3683000" cy="6223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8204200" y="254000"/>
            <a:ext cx="101600" cy="622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8559800" y="533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讲述稿｜09</a:t>
            </a:r>
            <a:endParaRPr lang="zh-CN" sz="1300"/>
          </a:p>
        </p:txBody>
      </p:sp>
      <p:cxnSp>
        <p:nvCxnSpPr>
          <p:cNvPr id="32" name="Connector 32"/>
          <p:cNvCxnSpPr/>
          <p:nvPr/>
        </p:nvCxnSpPr>
        <p:spPr>
          <a:xfrm>
            <a:off x="8559800" y="990600"/>
            <a:ext cx="29718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33" name="Text 33"/>
          <p:cNvSpPr txBox="1"/>
          <p:nvPr/>
        </p:nvSpPr>
        <p:spPr>
          <a:xfrm>
            <a:off x="8559800" y="1219200"/>
            <a:ext cx="2921000" cy="485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锁并不是越少越好，关键是要和场景匹配。监控采集使用命名锁，而且等待时间是零，抢不到就跳过，避免多个 monitor 重复压库。管理员写入采用 READ COMMITTED、五秒锁等待，并且固定按操作者、启用管理员、目标 ID 排序加锁，减少死锁。任务领取使用 FOR UPDATE SKIP LOCKED，让多个 worker 各领各的，不互相堵住。配置保存则使用乐观版本锁，发现别人已经改过就拒绝覆盖。四种场景，四种并发工具。</a:t>
            </a:r>
            <a:endParaRPr lang="zh-CN" sz="1500"/>
          </a:p>
        </p:txBody>
      </p:sp>
      <p:sp>
        <p:nvSpPr>
          <p:cNvPr id="34" name="Text 34"/>
          <p:cNvSpPr txBox="1"/>
          <p:nvPr/>
        </p:nvSpPr>
        <p:spPr>
          <a:xfrm>
            <a:off x="8559800" y="61214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可直接照读，也可按现场节奏删减。</a:t>
            </a:r>
            <a:endParaRPr lang="zh-CN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04800" y="254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投屏页 10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304800" y="558800"/>
            <a:ext cx="762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一次安全写入，是一条完整证据链</a:t>
            </a:r>
            <a:endParaRPr lang="zh-CN" sz="2100"/>
          </a:p>
        </p:txBody>
      </p:sp>
      <p:sp>
        <p:nvSpPr>
          <p:cNvPr id="4" name="Rectangle 4"/>
          <p:cNvSpPr/>
          <p:nvPr/>
        </p:nvSpPr>
        <p:spPr>
          <a:xfrm>
            <a:off x="292100" y="1231900"/>
            <a:ext cx="7645400" cy="431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58800" y="1435100"/>
            <a:ext cx="79375" cy="79375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1371600"/>
            <a:ext cx="6667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一次安全写入，是一条完整证据链</a:t>
            </a:r>
            <a:endParaRPr lang="zh-CN" sz="2125"/>
          </a:p>
        </p:txBody>
      </p:sp>
      <p:cxnSp>
        <p:nvCxnSpPr>
          <p:cNvPr id="7" name="Connector 7"/>
          <p:cNvCxnSpPr/>
          <p:nvPr/>
        </p:nvCxnSpPr>
        <p:spPr>
          <a:xfrm>
            <a:off x="558800" y="5149850"/>
            <a:ext cx="7112000" cy="1270"/>
          </a:xfrm>
          <a:prstGeom prst="line">
            <a:avLst/>
          </a:prstGeom>
          <a:ln w="7938">
            <a:solidFill>
              <a:srgbClr val="B8BCC4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558800" y="5229225"/>
            <a:ext cx="238125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750"/>
          </a:p>
        </p:txBody>
      </p:sp>
      <p:sp>
        <p:nvSpPr>
          <p:cNvPr id="9" name="Text 9"/>
          <p:cNvSpPr txBox="1"/>
          <p:nvPr/>
        </p:nvSpPr>
        <p:spPr>
          <a:xfrm>
            <a:off x="7337425" y="5213350"/>
            <a:ext cx="33337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zh-CN" sz="750"/>
          </a:p>
        </p:txBody>
      </p:sp>
      <p:sp>
        <p:nvSpPr>
          <p:cNvPr id="10" name="Rectangle 10"/>
          <p:cNvSpPr/>
          <p:nvPr/>
        </p:nvSpPr>
        <p:spPr>
          <a:xfrm>
            <a:off x="558800" y="2133600"/>
            <a:ext cx="1603375" cy="8255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58800" y="2133600"/>
            <a:ext cx="269875" cy="2698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558800" y="2157412"/>
            <a:ext cx="269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sz="750"/>
          </a:p>
        </p:txBody>
      </p:sp>
      <p:sp>
        <p:nvSpPr>
          <p:cNvPr id="13" name="Text 13"/>
          <p:cNvSpPr txBox="1"/>
          <p:nvPr/>
        </p:nvSpPr>
        <p:spPr>
          <a:xfrm>
            <a:off x="939800" y="2236788"/>
            <a:ext cx="114300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主库预览</a:t>
            </a:r>
            <a:endParaRPr lang="zh-CN" sz="1000"/>
          </a:p>
        </p:txBody>
      </p:sp>
      <p:sp>
        <p:nvSpPr>
          <p:cNvPr id="14" name="Text 14"/>
          <p:cNvSpPr txBox="1"/>
          <p:nvPr/>
        </p:nvSpPr>
        <p:spPr>
          <a:xfrm>
            <a:off x="685800" y="2546350"/>
            <a:ext cx="1349375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先算影响范围</a:t>
            </a:r>
            <a:endParaRPr lang="zh-CN" sz="780"/>
          </a:p>
        </p:txBody>
      </p:sp>
      <p:sp>
        <p:nvSpPr>
          <p:cNvPr id="15" name="Rectangle 15"/>
          <p:cNvSpPr/>
          <p:nvPr/>
        </p:nvSpPr>
        <p:spPr>
          <a:xfrm>
            <a:off x="2352675" y="2133600"/>
            <a:ext cx="1603375" cy="8255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2352675" y="2133600"/>
            <a:ext cx="269875" cy="2698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2352675" y="2157412"/>
            <a:ext cx="269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sz="750"/>
          </a:p>
        </p:txBody>
      </p:sp>
      <p:sp>
        <p:nvSpPr>
          <p:cNvPr id="18" name="Text 18"/>
          <p:cNvSpPr txBox="1"/>
          <p:nvPr/>
        </p:nvSpPr>
        <p:spPr>
          <a:xfrm>
            <a:off x="2733675" y="2236788"/>
            <a:ext cx="114300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请求校验</a:t>
            </a:r>
            <a:endParaRPr lang="zh-CN" sz="1000"/>
          </a:p>
        </p:txBody>
      </p:sp>
      <p:sp>
        <p:nvSpPr>
          <p:cNvPr id="19" name="Text 19"/>
          <p:cNvSpPr txBox="1"/>
          <p:nvPr/>
        </p:nvSpPr>
        <p:spPr>
          <a:xfrm>
            <a:off x="2479675" y="2546350"/>
            <a:ext cx="1349375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CSRF + 明确确认</a:t>
            </a:r>
            <a:endParaRPr lang="zh-CN" sz="780"/>
          </a:p>
        </p:txBody>
      </p:sp>
      <p:sp>
        <p:nvSpPr>
          <p:cNvPr id="20" name="Rectangle 20"/>
          <p:cNvSpPr/>
          <p:nvPr/>
        </p:nvSpPr>
        <p:spPr>
          <a:xfrm>
            <a:off x="4146550" y="2133600"/>
            <a:ext cx="1603375" cy="8255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146550" y="2133600"/>
            <a:ext cx="269875" cy="2698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146550" y="2157412"/>
            <a:ext cx="269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750"/>
          </a:p>
        </p:txBody>
      </p:sp>
      <p:sp>
        <p:nvSpPr>
          <p:cNvPr id="23" name="Text 23"/>
          <p:cNvSpPr txBox="1"/>
          <p:nvPr/>
        </p:nvSpPr>
        <p:spPr>
          <a:xfrm>
            <a:off x="4527550" y="2236788"/>
            <a:ext cx="114300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重新认证</a:t>
            </a:r>
            <a:endParaRPr lang="zh-CN" sz="1000"/>
          </a:p>
        </p:txBody>
      </p:sp>
      <p:sp>
        <p:nvSpPr>
          <p:cNvPr id="24" name="Text 24"/>
          <p:cNvSpPr txBox="1"/>
          <p:nvPr/>
        </p:nvSpPr>
        <p:spPr>
          <a:xfrm>
            <a:off x="4273550" y="2546350"/>
            <a:ext cx="1349375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当前管理员密码</a:t>
            </a:r>
            <a:endParaRPr lang="zh-CN" sz="780"/>
          </a:p>
        </p:txBody>
      </p:sp>
      <p:sp>
        <p:nvSpPr>
          <p:cNvPr id="25" name="Rectangle 25"/>
          <p:cNvSpPr/>
          <p:nvPr/>
        </p:nvSpPr>
        <p:spPr>
          <a:xfrm>
            <a:off x="5940425" y="2133600"/>
            <a:ext cx="1730375" cy="8255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940425" y="2133600"/>
            <a:ext cx="269875" cy="2698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5940425" y="2157412"/>
            <a:ext cx="269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sz="750"/>
          </a:p>
        </p:txBody>
      </p:sp>
      <p:sp>
        <p:nvSpPr>
          <p:cNvPr id="28" name="Text 28"/>
          <p:cNvSpPr txBox="1"/>
          <p:nvPr/>
        </p:nvSpPr>
        <p:spPr>
          <a:xfrm>
            <a:off x="6321425" y="2236788"/>
            <a:ext cx="127000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幂等入口</a:t>
            </a:r>
            <a:endParaRPr lang="zh-CN" sz="1000"/>
          </a:p>
        </p:txBody>
      </p:sp>
      <p:sp>
        <p:nvSpPr>
          <p:cNvPr id="29" name="Text 29"/>
          <p:cNvSpPr txBox="1"/>
          <p:nvPr/>
        </p:nvSpPr>
        <p:spPr>
          <a:xfrm>
            <a:off x="6067425" y="2546350"/>
            <a:ext cx="1476375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Idempotency-Key</a:t>
            </a:r>
            <a:endParaRPr lang="zh-CN" sz="780"/>
          </a:p>
        </p:txBody>
      </p:sp>
      <p:cxnSp>
        <p:nvCxnSpPr>
          <p:cNvPr id="30" name="Connector 30"/>
          <p:cNvCxnSpPr/>
          <p:nvPr/>
        </p:nvCxnSpPr>
        <p:spPr>
          <a:xfrm>
            <a:off x="2162175" y="2546350"/>
            <a:ext cx="190500" cy="1270"/>
          </a:xfrm>
          <a:prstGeom prst="line">
            <a:avLst/>
          </a:prstGeom>
          <a:ln w="15875">
            <a:solidFill>
              <a:srgbClr val="FF6B35"/>
            </a:solidFill>
            <a:tailEnd type="triangle" w="sm" len="sm"/>
          </a:ln>
        </p:spPr>
      </p:cxnSp>
      <p:cxnSp>
        <p:nvCxnSpPr>
          <p:cNvPr id="31" name="Connector 31"/>
          <p:cNvCxnSpPr/>
          <p:nvPr/>
        </p:nvCxnSpPr>
        <p:spPr>
          <a:xfrm>
            <a:off x="3956050" y="2546350"/>
            <a:ext cx="190500" cy="1270"/>
          </a:xfrm>
          <a:prstGeom prst="line">
            <a:avLst/>
          </a:prstGeom>
          <a:ln w="15875">
            <a:solidFill>
              <a:srgbClr val="FF6B35"/>
            </a:solidFill>
            <a:tailEnd type="triangle" w="sm" len="sm"/>
          </a:ln>
        </p:spPr>
      </p:cxnSp>
      <p:cxnSp>
        <p:nvCxnSpPr>
          <p:cNvPr id="32" name="Connector 32"/>
          <p:cNvCxnSpPr/>
          <p:nvPr/>
        </p:nvCxnSpPr>
        <p:spPr>
          <a:xfrm>
            <a:off x="5749925" y="2546350"/>
            <a:ext cx="190500" cy="1270"/>
          </a:xfrm>
          <a:prstGeom prst="line">
            <a:avLst/>
          </a:prstGeom>
          <a:ln w="15875">
            <a:solidFill>
              <a:srgbClr val="FF6B35"/>
            </a:solidFill>
            <a:tailEnd type="triangle" w="sm" len="sm"/>
          </a:ln>
        </p:spPr>
      </p:cxnSp>
      <p:sp>
        <p:nvSpPr>
          <p:cNvPr id="33" name="Rectangle 33"/>
          <p:cNvSpPr/>
          <p:nvPr/>
        </p:nvSpPr>
        <p:spPr>
          <a:xfrm>
            <a:off x="1455738" y="3387725"/>
            <a:ext cx="1603375" cy="8255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1455738" y="3387725"/>
            <a:ext cx="269875" cy="2698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1455738" y="3411538"/>
            <a:ext cx="269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zh-CN" sz="750"/>
          </a:p>
        </p:txBody>
      </p:sp>
      <p:sp>
        <p:nvSpPr>
          <p:cNvPr id="36" name="Text 36"/>
          <p:cNvSpPr txBox="1"/>
          <p:nvPr/>
        </p:nvSpPr>
        <p:spPr>
          <a:xfrm>
            <a:off x="1836738" y="3490912"/>
            <a:ext cx="114300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稳定加锁</a:t>
            </a:r>
            <a:endParaRPr lang="zh-CN" sz="1000"/>
          </a:p>
        </p:txBody>
      </p:sp>
      <p:sp>
        <p:nvSpPr>
          <p:cNvPr id="37" name="Text 37"/>
          <p:cNvSpPr txBox="1"/>
          <p:nvPr/>
        </p:nvSpPr>
        <p:spPr>
          <a:xfrm>
            <a:off x="1582738" y="3800475"/>
            <a:ext cx="1349375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actor → admins → targets</a:t>
            </a:r>
            <a:endParaRPr lang="zh-CN" sz="780"/>
          </a:p>
        </p:txBody>
      </p:sp>
      <p:sp>
        <p:nvSpPr>
          <p:cNvPr id="38" name="Rectangle 38"/>
          <p:cNvSpPr/>
          <p:nvPr/>
        </p:nvSpPr>
        <p:spPr>
          <a:xfrm>
            <a:off x="3313112" y="3387725"/>
            <a:ext cx="1603375" cy="8255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3313112" y="3387725"/>
            <a:ext cx="269875" cy="2698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3313112" y="3411538"/>
            <a:ext cx="269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zh-CN" sz="750"/>
          </a:p>
        </p:txBody>
      </p:sp>
      <p:sp>
        <p:nvSpPr>
          <p:cNvPr id="41" name="Text 41"/>
          <p:cNvSpPr txBox="1"/>
          <p:nvPr/>
        </p:nvSpPr>
        <p:spPr>
          <a:xfrm>
            <a:off x="3694112" y="3490912"/>
            <a:ext cx="114300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业务变更</a:t>
            </a:r>
            <a:endParaRPr lang="zh-CN" sz="1000"/>
          </a:p>
        </p:txBody>
      </p:sp>
      <p:sp>
        <p:nvSpPr>
          <p:cNvPr id="42" name="Text 42"/>
          <p:cNvSpPr txBox="1"/>
          <p:nvPr/>
        </p:nvSpPr>
        <p:spPr>
          <a:xfrm>
            <a:off x="3440112" y="3800475"/>
            <a:ext cx="1349375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用户 / 角色 / 文件</a:t>
            </a:r>
            <a:endParaRPr lang="zh-CN" sz="780"/>
          </a:p>
        </p:txBody>
      </p:sp>
      <p:sp>
        <p:nvSpPr>
          <p:cNvPr id="43" name="Rectangle 43"/>
          <p:cNvSpPr/>
          <p:nvPr/>
        </p:nvSpPr>
        <p:spPr>
          <a:xfrm>
            <a:off x="5170488" y="3387725"/>
            <a:ext cx="1603375" cy="8255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5170488" y="3387725"/>
            <a:ext cx="269875" cy="2698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5170488" y="3411538"/>
            <a:ext cx="269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zh-CN" sz="750"/>
          </a:p>
        </p:txBody>
      </p:sp>
      <p:sp>
        <p:nvSpPr>
          <p:cNvPr id="46" name="Text 46"/>
          <p:cNvSpPr txBox="1"/>
          <p:nvPr/>
        </p:nvSpPr>
        <p:spPr>
          <a:xfrm>
            <a:off x="5551488" y="3490912"/>
            <a:ext cx="114300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同事务证据</a:t>
            </a:r>
            <a:endParaRPr lang="zh-CN" sz="1000"/>
          </a:p>
        </p:txBody>
      </p:sp>
      <p:sp>
        <p:nvSpPr>
          <p:cNvPr id="47" name="Text 47"/>
          <p:cNvSpPr txBox="1"/>
          <p:nvPr/>
        </p:nvSpPr>
        <p:spPr>
          <a:xfrm>
            <a:off x="5297488" y="3800475"/>
            <a:ext cx="1349375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operation + items + audit</a:t>
            </a:r>
            <a:endParaRPr lang="zh-CN" sz="780"/>
          </a:p>
        </p:txBody>
      </p:sp>
      <p:cxnSp>
        <p:nvCxnSpPr>
          <p:cNvPr id="48" name="Connector 48"/>
          <p:cNvCxnSpPr/>
          <p:nvPr/>
        </p:nvCxnSpPr>
        <p:spPr>
          <a:xfrm>
            <a:off x="5940425" y="2959100"/>
            <a:ext cx="31750" cy="198438"/>
          </a:xfrm>
          <a:prstGeom prst="line">
            <a:avLst/>
          </a:prstGeom>
          <a:ln w="11906">
            <a:solidFill>
              <a:srgbClr val="B8BCC4"/>
            </a:solidFill>
          </a:ln>
        </p:spPr>
      </p:cxnSp>
      <p:cxnSp>
        <p:nvCxnSpPr>
          <p:cNvPr id="49" name="Connector 49"/>
          <p:cNvCxnSpPr/>
          <p:nvPr/>
        </p:nvCxnSpPr>
        <p:spPr>
          <a:xfrm flipH="1">
            <a:off x="2257425" y="3157538"/>
            <a:ext cx="3714750" cy="1270"/>
          </a:xfrm>
          <a:prstGeom prst="line">
            <a:avLst/>
          </a:prstGeom>
          <a:ln w="11906">
            <a:solidFill>
              <a:srgbClr val="B8BCC4"/>
            </a:solidFill>
          </a:ln>
        </p:spPr>
      </p:cxnSp>
      <p:cxnSp>
        <p:nvCxnSpPr>
          <p:cNvPr id="50" name="Connector 50"/>
          <p:cNvCxnSpPr/>
          <p:nvPr/>
        </p:nvCxnSpPr>
        <p:spPr>
          <a:xfrm>
            <a:off x="2257425" y="3157538"/>
            <a:ext cx="1270" cy="230188"/>
          </a:xfrm>
          <a:prstGeom prst="line">
            <a:avLst/>
          </a:prstGeom>
          <a:ln w="11906">
            <a:solidFill>
              <a:srgbClr val="B8BCC4"/>
            </a:solidFill>
            <a:tailEnd type="triangle" w="sm" len="sm"/>
          </a:ln>
        </p:spPr>
      </p:cxnSp>
      <p:cxnSp>
        <p:nvCxnSpPr>
          <p:cNvPr id="51" name="Connector 51"/>
          <p:cNvCxnSpPr/>
          <p:nvPr/>
        </p:nvCxnSpPr>
        <p:spPr>
          <a:xfrm>
            <a:off x="3059112" y="3800475"/>
            <a:ext cx="254000" cy="1270"/>
          </a:xfrm>
          <a:prstGeom prst="line">
            <a:avLst/>
          </a:prstGeom>
          <a:ln w="15875">
            <a:solidFill>
              <a:srgbClr val="FF6B35"/>
            </a:solidFill>
            <a:tailEnd type="triangle" w="sm" len="sm"/>
          </a:ln>
        </p:spPr>
      </p:cxnSp>
      <p:cxnSp>
        <p:nvCxnSpPr>
          <p:cNvPr id="52" name="Connector 52"/>
          <p:cNvCxnSpPr/>
          <p:nvPr/>
        </p:nvCxnSpPr>
        <p:spPr>
          <a:xfrm>
            <a:off x="4916488" y="3800475"/>
            <a:ext cx="254000" cy="1270"/>
          </a:xfrm>
          <a:prstGeom prst="line">
            <a:avLst/>
          </a:prstGeom>
          <a:ln w="15875">
            <a:solidFill>
              <a:srgbClr val="FF6B35"/>
            </a:solidFill>
            <a:tailEnd type="triangle" w="sm" len="sm"/>
          </a:ln>
        </p:spPr>
      </p:cxnSp>
      <p:sp>
        <p:nvSpPr>
          <p:cNvPr id="53" name="Rectangle 53"/>
          <p:cNvSpPr/>
          <p:nvPr/>
        </p:nvSpPr>
        <p:spPr>
          <a:xfrm>
            <a:off x="1455738" y="4435475"/>
            <a:ext cx="5318125" cy="38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54" name="Text 54"/>
          <p:cNvSpPr txBox="1"/>
          <p:nvPr/>
        </p:nvSpPr>
        <p:spPr>
          <a:xfrm>
            <a:off x="1646238" y="4546600"/>
            <a:ext cx="4937125" cy="174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失败重试：使用同一个幂等键，不重复执行同一动作</a:t>
            </a:r>
            <a:endParaRPr lang="zh-CN" sz="1000"/>
          </a:p>
        </p:txBody>
      </p:sp>
      <p:sp>
        <p:nvSpPr>
          <p:cNvPr id="55" name="Rectangle 55"/>
          <p:cNvSpPr/>
          <p:nvPr/>
        </p:nvSpPr>
        <p:spPr>
          <a:xfrm>
            <a:off x="304800" y="5816600"/>
            <a:ext cx="7620000" cy="66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56" name="Text 56"/>
          <p:cNvSpPr txBox="1"/>
          <p:nvPr/>
        </p:nvSpPr>
        <p:spPr>
          <a:xfrm>
            <a:off x="558800" y="60198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投屏内容与讲稿页一一对应</a:t>
            </a:r>
            <a:endParaRPr lang="zh-CN" sz="1400"/>
          </a:p>
        </p:txBody>
      </p:sp>
      <p:sp>
        <p:nvSpPr>
          <p:cNvPr id="57" name="Rectangle 57"/>
          <p:cNvSpPr/>
          <p:nvPr/>
        </p:nvSpPr>
        <p:spPr>
          <a:xfrm>
            <a:off x="8204200" y="254000"/>
            <a:ext cx="3683000" cy="6223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8204200" y="254000"/>
            <a:ext cx="101600" cy="622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59" name="Text 59"/>
          <p:cNvSpPr txBox="1"/>
          <p:nvPr/>
        </p:nvSpPr>
        <p:spPr>
          <a:xfrm>
            <a:off x="8559800" y="533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讲述稿｜10</a:t>
            </a:r>
            <a:endParaRPr lang="zh-CN" sz="1300"/>
          </a:p>
        </p:txBody>
      </p:sp>
      <p:cxnSp>
        <p:nvCxnSpPr>
          <p:cNvPr id="60" name="Connector 60"/>
          <p:cNvCxnSpPr/>
          <p:nvPr/>
        </p:nvCxnSpPr>
        <p:spPr>
          <a:xfrm>
            <a:off x="8559800" y="990600"/>
            <a:ext cx="29718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61" name="Text 61"/>
          <p:cNvSpPr txBox="1"/>
          <p:nvPr/>
        </p:nvSpPr>
        <p:spPr>
          <a:xfrm>
            <a:off x="8559800" y="1219200"/>
            <a:ext cx="2921000" cy="485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一次真正安全的写入，不是接口收到参数后直接 UPDATE。代码先在主库做影响预览，再校验 CSRF、当前管理员密码、明确确认和 Idempotency-Key。进入事务后，按照固定顺序锁住操作者、启用管理员和目标记录，然后才执行业务变更。业务结果、admin_operations、逐项明细和审计事件在同一个事务里提交。网络抖动时，客户端用同一个幂等键重试，系统不会把同一个动作重复执行。这个设计把「做了什么」和「为什么可信」放在了一条证据链上。</a:t>
            </a:r>
            <a:endParaRPr lang="zh-CN" sz="1500"/>
          </a:p>
        </p:txBody>
      </p:sp>
      <p:sp>
        <p:nvSpPr>
          <p:cNvPr id="62" name="Text 62"/>
          <p:cNvSpPr txBox="1"/>
          <p:nvPr/>
        </p:nvSpPr>
        <p:spPr>
          <a:xfrm>
            <a:off x="8559800" y="61214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可直接照读，也可按现场节奏删减。</a:t>
            </a:r>
            <a:endParaRPr lang="zh-CN" sz="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04800" y="254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投屏页 11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304800" y="558800"/>
            <a:ext cx="762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删除是生命周期结算，不是一条 SQL</a:t>
            </a:r>
            <a:endParaRPr lang="zh-CN" sz="2100"/>
          </a:p>
        </p:txBody>
      </p:sp>
      <p:sp>
        <p:nvSpPr>
          <p:cNvPr id="4" name="Rectangle 4"/>
          <p:cNvSpPr/>
          <p:nvPr/>
        </p:nvSpPr>
        <p:spPr>
          <a:xfrm>
            <a:off x="292100" y="1231900"/>
            <a:ext cx="7645400" cy="431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5" name="Rectangle 5"/>
          <p:cNvSpPr/>
          <p:nvPr/>
        </p:nvSpPr>
        <p:spPr>
          <a:xfrm>
            <a:off x="558800" y="1435100"/>
            <a:ext cx="79375" cy="79375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1371600"/>
            <a:ext cx="6667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删除是生命周期结算，不是一条 SQL</a:t>
            </a:r>
            <a:endParaRPr lang="zh-CN" sz="2125"/>
          </a:p>
        </p:txBody>
      </p:sp>
      <p:cxnSp>
        <p:nvCxnSpPr>
          <p:cNvPr id="7" name="Connector 7"/>
          <p:cNvCxnSpPr/>
          <p:nvPr/>
        </p:nvCxnSpPr>
        <p:spPr>
          <a:xfrm>
            <a:off x="558800" y="5149850"/>
            <a:ext cx="7112000" cy="1270"/>
          </a:xfrm>
          <a:prstGeom prst="line">
            <a:avLst/>
          </a:prstGeom>
          <a:ln w="7938">
            <a:solidFill>
              <a:srgbClr val="B8BCC4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558800" y="5229225"/>
            <a:ext cx="238125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750"/>
          </a:p>
        </p:txBody>
      </p:sp>
      <p:sp>
        <p:nvSpPr>
          <p:cNvPr id="9" name="Text 9"/>
          <p:cNvSpPr txBox="1"/>
          <p:nvPr/>
        </p:nvSpPr>
        <p:spPr>
          <a:xfrm>
            <a:off x="7337425" y="5213350"/>
            <a:ext cx="33337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zh-CN" sz="750"/>
          </a:p>
        </p:txBody>
      </p:sp>
      <p:sp>
        <p:nvSpPr>
          <p:cNvPr id="10" name="Rectangle 10"/>
          <p:cNvSpPr/>
          <p:nvPr/>
        </p:nvSpPr>
        <p:spPr>
          <a:xfrm>
            <a:off x="558800" y="2133600"/>
            <a:ext cx="2222500" cy="93662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58800" y="2133600"/>
            <a:ext cx="269875" cy="2698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558800" y="2157412"/>
            <a:ext cx="269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sz="750"/>
          </a:p>
        </p:txBody>
      </p:sp>
      <p:sp>
        <p:nvSpPr>
          <p:cNvPr id="13" name="Text 13"/>
          <p:cNvSpPr txBox="1"/>
          <p:nvPr/>
        </p:nvSpPr>
        <p:spPr>
          <a:xfrm>
            <a:off x="939800" y="2236788"/>
            <a:ext cx="1762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影响预览</a:t>
            </a:r>
            <a:endParaRPr lang="zh-CN" sz="1000"/>
          </a:p>
        </p:txBody>
      </p:sp>
      <p:sp>
        <p:nvSpPr>
          <p:cNvPr id="14" name="Text 14"/>
          <p:cNvSpPr txBox="1"/>
          <p:nvPr/>
        </p:nvSpPr>
        <p:spPr>
          <a:xfrm>
            <a:off x="685800" y="2546350"/>
            <a:ext cx="1968500" cy="460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会话 / 任务 / 文件 / checkpoint</a:t>
            </a:r>
            <a:endParaRPr lang="zh-CN" sz="780"/>
          </a:p>
        </p:txBody>
      </p:sp>
      <p:cxnSp>
        <p:nvCxnSpPr>
          <p:cNvPr id="15" name="Connector 15"/>
          <p:cNvCxnSpPr/>
          <p:nvPr/>
        </p:nvCxnSpPr>
        <p:spPr>
          <a:xfrm>
            <a:off x="2781300" y="2601912"/>
            <a:ext cx="190500" cy="1270"/>
          </a:xfrm>
          <a:prstGeom prst="line">
            <a:avLst/>
          </a:prstGeom>
          <a:ln w="15875">
            <a:solidFill>
              <a:srgbClr val="FF6B35"/>
            </a:solidFill>
            <a:tailEnd type="triangle" w="sm" len="sm"/>
          </a:ln>
        </p:spPr>
      </p:cxnSp>
      <p:sp>
        <p:nvSpPr>
          <p:cNvPr id="16" name="Rectangle 16"/>
          <p:cNvSpPr/>
          <p:nvPr/>
        </p:nvSpPr>
        <p:spPr>
          <a:xfrm>
            <a:off x="2971800" y="2133600"/>
            <a:ext cx="2222500" cy="93662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2971800" y="2133600"/>
            <a:ext cx="269875" cy="2698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2971800" y="2157412"/>
            <a:ext cx="269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sz="750"/>
          </a:p>
        </p:txBody>
      </p:sp>
      <p:sp>
        <p:nvSpPr>
          <p:cNvPr id="19" name="Text 19"/>
          <p:cNvSpPr txBox="1"/>
          <p:nvPr/>
        </p:nvSpPr>
        <p:spPr>
          <a:xfrm>
            <a:off x="3352800" y="2236788"/>
            <a:ext cx="1762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运行态阻断</a:t>
            </a:r>
            <a:endParaRPr lang="zh-CN" sz="1000"/>
          </a:p>
        </p:txBody>
      </p:sp>
      <p:sp>
        <p:nvSpPr>
          <p:cNvPr id="20" name="Text 20"/>
          <p:cNvSpPr txBox="1"/>
          <p:nvPr/>
        </p:nvSpPr>
        <p:spPr>
          <a:xfrm>
            <a:off x="3098800" y="2546350"/>
            <a:ext cx="1968500" cy="460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queued / running 时保守拒绝</a:t>
            </a:r>
            <a:endParaRPr lang="zh-CN" sz="780"/>
          </a:p>
        </p:txBody>
      </p:sp>
      <p:cxnSp>
        <p:nvCxnSpPr>
          <p:cNvPr id="21" name="Connector 21"/>
          <p:cNvCxnSpPr/>
          <p:nvPr/>
        </p:nvCxnSpPr>
        <p:spPr>
          <a:xfrm>
            <a:off x="5194300" y="2601912"/>
            <a:ext cx="190500" cy="1270"/>
          </a:xfrm>
          <a:prstGeom prst="line">
            <a:avLst/>
          </a:prstGeom>
          <a:ln w="15875">
            <a:solidFill>
              <a:srgbClr val="FF6B35"/>
            </a:solidFill>
            <a:tailEnd type="triangle" w="sm" len="sm"/>
          </a:ln>
        </p:spPr>
      </p:cxnSp>
      <p:sp>
        <p:nvSpPr>
          <p:cNvPr id="22" name="Rectangle 22"/>
          <p:cNvSpPr/>
          <p:nvPr/>
        </p:nvSpPr>
        <p:spPr>
          <a:xfrm>
            <a:off x="5384800" y="2133600"/>
            <a:ext cx="2222500" cy="93662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384800" y="2133600"/>
            <a:ext cx="269875" cy="2698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5384800" y="2157412"/>
            <a:ext cx="269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750"/>
          </a:p>
        </p:txBody>
      </p:sp>
      <p:sp>
        <p:nvSpPr>
          <p:cNvPr id="25" name="Text 25"/>
          <p:cNvSpPr txBox="1"/>
          <p:nvPr/>
        </p:nvSpPr>
        <p:spPr>
          <a:xfrm>
            <a:off x="5765800" y="2236788"/>
            <a:ext cx="1762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安全护栏</a:t>
            </a:r>
            <a:endParaRPr lang="zh-CN" sz="1000"/>
          </a:p>
        </p:txBody>
      </p:sp>
      <p:sp>
        <p:nvSpPr>
          <p:cNvPr id="26" name="Text 26"/>
          <p:cNvSpPr txBox="1"/>
          <p:nvPr/>
        </p:nvSpPr>
        <p:spPr>
          <a:xfrm>
            <a:off x="5511800" y="2546350"/>
            <a:ext cx="1968500" cy="460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不能删自己 · 保护最后管理员</a:t>
            </a:r>
            <a:endParaRPr lang="zh-CN" sz="780"/>
          </a:p>
        </p:txBody>
      </p:sp>
      <p:sp>
        <p:nvSpPr>
          <p:cNvPr id="27" name="Rectangle 27"/>
          <p:cNvSpPr/>
          <p:nvPr/>
        </p:nvSpPr>
        <p:spPr>
          <a:xfrm>
            <a:off x="558800" y="3260725"/>
            <a:ext cx="2222500" cy="93662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558800" y="3260725"/>
            <a:ext cx="269875" cy="2698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558800" y="3284538"/>
            <a:ext cx="269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sz="750"/>
          </a:p>
        </p:txBody>
      </p:sp>
      <p:sp>
        <p:nvSpPr>
          <p:cNvPr id="30" name="Text 30"/>
          <p:cNvSpPr txBox="1"/>
          <p:nvPr/>
        </p:nvSpPr>
        <p:spPr>
          <a:xfrm>
            <a:off x="939800" y="3363912"/>
            <a:ext cx="1762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关系结算</a:t>
            </a:r>
            <a:endParaRPr lang="zh-CN" sz="1000"/>
          </a:p>
        </p:txBody>
      </p:sp>
      <p:sp>
        <p:nvSpPr>
          <p:cNvPr id="31" name="Text 31"/>
          <p:cNvSpPr txBox="1"/>
          <p:nvPr/>
        </p:nvSpPr>
        <p:spPr>
          <a:xfrm>
            <a:off x="685800" y="3673475"/>
            <a:ext cx="1968500" cy="460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checkpoint 显式清理 + 外键级联</a:t>
            </a:r>
            <a:endParaRPr lang="zh-CN" sz="780"/>
          </a:p>
        </p:txBody>
      </p:sp>
      <p:cxnSp>
        <p:nvCxnSpPr>
          <p:cNvPr id="32" name="Connector 32"/>
          <p:cNvCxnSpPr/>
          <p:nvPr/>
        </p:nvCxnSpPr>
        <p:spPr>
          <a:xfrm>
            <a:off x="2781300" y="3729038"/>
            <a:ext cx="190500" cy="1270"/>
          </a:xfrm>
          <a:prstGeom prst="line">
            <a:avLst/>
          </a:prstGeom>
          <a:ln w="15875">
            <a:solidFill>
              <a:srgbClr val="FF6B35"/>
            </a:solidFill>
            <a:tailEnd type="triangle" w="sm" len="sm"/>
          </a:ln>
        </p:spPr>
      </p:cxnSp>
      <p:sp>
        <p:nvSpPr>
          <p:cNvPr id="33" name="Rectangle 33"/>
          <p:cNvSpPr/>
          <p:nvPr/>
        </p:nvSpPr>
        <p:spPr>
          <a:xfrm>
            <a:off x="2971800" y="3260725"/>
            <a:ext cx="2222500" cy="93662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2971800" y="3260725"/>
            <a:ext cx="269875" cy="2698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2971800" y="3284538"/>
            <a:ext cx="269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zh-CN" sz="750"/>
          </a:p>
        </p:txBody>
      </p:sp>
      <p:sp>
        <p:nvSpPr>
          <p:cNvPr id="36" name="Text 36"/>
          <p:cNvSpPr txBox="1"/>
          <p:nvPr/>
        </p:nvSpPr>
        <p:spPr>
          <a:xfrm>
            <a:off x="3352800" y="3363912"/>
            <a:ext cx="1762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物理删除</a:t>
            </a:r>
            <a:endParaRPr lang="zh-CN" sz="1000"/>
          </a:p>
        </p:txBody>
      </p:sp>
      <p:sp>
        <p:nvSpPr>
          <p:cNvPr id="37" name="Text 37"/>
          <p:cNvSpPr txBox="1"/>
          <p:nvPr/>
        </p:nvSpPr>
        <p:spPr>
          <a:xfrm>
            <a:off x="3098800" y="3673475"/>
            <a:ext cx="1968500" cy="460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文件行与 BLOB 同时删除</a:t>
            </a:r>
            <a:endParaRPr lang="zh-CN" sz="780"/>
          </a:p>
        </p:txBody>
      </p:sp>
      <p:cxnSp>
        <p:nvCxnSpPr>
          <p:cNvPr id="38" name="Connector 38"/>
          <p:cNvCxnSpPr/>
          <p:nvPr/>
        </p:nvCxnSpPr>
        <p:spPr>
          <a:xfrm>
            <a:off x="5194300" y="3729038"/>
            <a:ext cx="190500" cy="1270"/>
          </a:xfrm>
          <a:prstGeom prst="line">
            <a:avLst/>
          </a:prstGeom>
          <a:ln w="15875">
            <a:solidFill>
              <a:srgbClr val="FF6B35"/>
            </a:solidFill>
            <a:tailEnd type="triangle" w="sm" len="sm"/>
          </a:ln>
        </p:spPr>
      </p:cxnSp>
      <p:sp>
        <p:nvSpPr>
          <p:cNvPr id="39" name="Rectangle 39"/>
          <p:cNvSpPr/>
          <p:nvPr/>
        </p:nvSpPr>
        <p:spPr>
          <a:xfrm>
            <a:off x="5384800" y="3260725"/>
            <a:ext cx="2222500" cy="93662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5384800" y="3260725"/>
            <a:ext cx="269875" cy="2698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5384800" y="3284538"/>
            <a:ext cx="2698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zh-CN" sz="750"/>
          </a:p>
        </p:txBody>
      </p:sp>
      <p:sp>
        <p:nvSpPr>
          <p:cNvPr id="42" name="Text 42"/>
          <p:cNvSpPr txBox="1"/>
          <p:nvPr/>
        </p:nvSpPr>
        <p:spPr>
          <a:xfrm>
            <a:off x="5765800" y="3363912"/>
            <a:ext cx="1762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审计提交</a:t>
            </a:r>
            <a:endParaRPr lang="zh-CN" sz="1000"/>
          </a:p>
        </p:txBody>
      </p:sp>
      <p:sp>
        <p:nvSpPr>
          <p:cNvPr id="43" name="Text 43"/>
          <p:cNvSpPr txBox="1"/>
          <p:nvPr/>
        </p:nvSpPr>
        <p:spPr>
          <a:xfrm>
            <a:off x="5511800" y="3673475"/>
            <a:ext cx="1968500" cy="460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8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业务结果与证据同事务</a:t>
            </a:r>
            <a:endParaRPr lang="zh-CN" sz="780"/>
          </a:p>
        </p:txBody>
      </p:sp>
      <p:sp>
        <p:nvSpPr>
          <p:cNvPr id="44" name="Text 44"/>
          <p:cNvSpPr txBox="1"/>
          <p:nvPr/>
        </p:nvSpPr>
        <p:spPr>
          <a:xfrm>
            <a:off x="558800" y="4554538"/>
            <a:ext cx="711200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060" b="1" dirty="0">
                <a:solidFill>
                  <a:srgbClr val="C23B22"/>
                </a:solidFill>
                <a:latin typeface="微软雅黑" panose="020B0503020204020204" charset="-122"/>
                <a:ea typeface="微软雅黑" panose="020B0503020204020204" charset="-122"/>
              </a:rPr>
              <a:t>批量默认 20 / 硬上限 50 · 文件物理删除没有回收站</a:t>
            </a:r>
            <a:endParaRPr lang="zh-CN" sz="1060"/>
          </a:p>
        </p:txBody>
      </p:sp>
      <p:sp>
        <p:nvSpPr>
          <p:cNvPr id="45" name="Rectangle 45"/>
          <p:cNvSpPr/>
          <p:nvPr/>
        </p:nvSpPr>
        <p:spPr>
          <a:xfrm>
            <a:off x="304800" y="5816600"/>
            <a:ext cx="7620000" cy="66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6" name="Text 46"/>
          <p:cNvSpPr txBox="1"/>
          <p:nvPr/>
        </p:nvSpPr>
        <p:spPr>
          <a:xfrm>
            <a:off x="558800" y="60198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投屏内容与讲稿页一一对应</a:t>
            </a:r>
            <a:endParaRPr lang="zh-CN" sz="1400"/>
          </a:p>
        </p:txBody>
      </p:sp>
      <p:sp>
        <p:nvSpPr>
          <p:cNvPr id="47" name="Rectangle 47"/>
          <p:cNvSpPr/>
          <p:nvPr/>
        </p:nvSpPr>
        <p:spPr>
          <a:xfrm>
            <a:off x="8204200" y="254000"/>
            <a:ext cx="3683000" cy="6223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8204200" y="254000"/>
            <a:ext cx="101600" cy="622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49" name="Text 49"/>
          <p:cNvSpPr txBox="1"/>
          <p:nvPr/>
        </p:nvSpPr>
        <p:spPr>
          <a:xfrm>
            <a:off x="8559800" y="533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讲述稿｜11</a:t>
            </a:r>
            <a:endParaRPr lang="zh-CN" sz="1300"/>
          </a:p>
        </p:txBody>
      </p:sp>
      <p:cxnSp>
        <p:nvCxnSpPr>
          <p:cNvPr id="50" name="Connector 50"/>
          <p:cNvCxnSpPr/>
          <p:nvPr/>
        </p:nvCxnSpPr>
        <p:spPr>
          <a:xfrm>
            <a:off x="8559800" y="990600"/>
            <a:ext cx="29718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51" name="Text 51"/>
          <p:cNvSpPr txBox="1"/>
          <p:nvPr/>
        </p:nvSpPr>
        <p:spPr>
          <a:xfrm>
            <a:off x="8559800" y="1219200"/>
            <a:ext cx="2921000" cy="485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删除最能说明为什么阶段一不是简单的 CRUD。删除用户前，系统先计算会影响哪些会话、任务、文件和 checkpoint；如果还有 queued 或 running 的任务，就保守阻断。操作者不能删除自己，也不能破坏最后一个启用管理员。会话 checkpoint 需要在同一事务里显式清理，其余关系再依赖已经验证过的外键级联。文件物理删除会同时删除数据库行和 BLOB，而且没有回收站，所以必须再次认证和明确确认。删除在这里是一场受控的生命周期结算。</a:t>
            </a:r>
            <a:endParaRPr lang="zh-CN" sz="1500"/>
          </a:p>
        </p:txBody>
      </p:sp>
      <p:sp>
        <p:nvSpPr>
          <p:cNvPr id="52" name="Text 52"/>
          <p:cNvSpPr txBox="1"/>
          <p:nvPr/>
        </p:nvSpPr>
        <p:spPr>
          <a:xfrm>
            <a:off x="8559800" y="61214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可直接照读，也可按现场节奏删减。</a:t>
            </a:r>
            <a:endParaRPr lang="zh-CN" sz="9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04800" y="254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投屏页 12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304800" y="558800"/>
            <a:ext cx="762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37 次提交，把「能看」推进到「能治理」</a:t>
            </a:r>
            <a:endParaRPr lang="zh-CN" sz="2100"/>
          </a:p>
        </p:txBody>
      </p:sp>
      <p:sp>
        <p:nvSpPr>
          <p:cNvPr id="4" name="Rectangle 4"/>
          <p:cNvSpPr/>
          <p:nvPr/>
        </p:nvSpPr>
        <p:spPr>
          <a:xfrm>
            <a:off x="292100" y="1231900"/>
            <a:ext cx="7645400" cy="431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58800" y="1435100"/>
            <a:ext cx="79375" cy="79375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1371600"/>
            <a:ext cx="6667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37 次提交，把「能看」推进到「能治理」</a:t>
            </a:r>
            <a:endParaRPr lang="zh-CN" sz="2125"/>
          </a:p>
        </p:txBody>
      </p:sp>
      <p:cxnSp>
        <p:nvCxnSpPr>
          <p:cNvPr id="7" name="Connector 7"/>
          <p:cNvCxnSpPr/>
          <p:nvPr/>
        </p:nvCxnSpPr>
        <p:spPr>
          <a:xfrm>
            <a:off x="558800" y="5149850"/>
            <a:ext cx="7112000" cy="1270"/>
          </a:xfrm>
          <a:prstGeom prst="line">
            <a:avLst/>
          </a:prstGeom>
          <a:ln w="7938">
            <a:solidFill>
              <a:srgbClr val="B8BCC4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558800" y="5229225"/>
            <a:ext cx="238125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750"/>
          </a:p>
        </p:txBody>
      </p:sp>
      <p:sp>
        <p:nvSpPr>
          <p:cNvPr id="9" name="Text 9"/>
          <p:cNvSpPr txBox="1"/>
          <p:nvPr/>
        </p:nvSpPr>
        <p:spPr>
          <a:xfrm>
            <a:off x="7337425" y="5213350"/>
            <a:ext cx="33337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zh-CN" sz="750"/>
          </a:p>
        </p:txBody>
      </p:sp>
      <p:cxnSp>
        <p:nvCxnSpPr>
          <p:cNvPr id="10" name="Connector 10"/>
          <p:cNvCxnSpPr/>
          <p:nvPr/>
        </p:nvCxnSpPr>
        <p:spPr>
          <a:xfrm>
            <a:off x="860425" y="3482975"/>
            <a:ext cx="6492875" cy="1270"/>
          </a:xfrm>
          <a:prstGeom prst="line">
            <a:avLst/>
          </a:prstGeom>
          <a:ln w="11906">
            <a:solidFill>
              <a:srgbClr val="000000"/>
            </a:solidFill>
          </a:ln>
        </p:spPr>
      </p:cxnSp>
      <p:sp>
        <p:nvSpPr>
          <p:cNvPr id="11" name="Rectangle 11"/>
          <p:cNvSpPr/>
          <p:nvPr/>
        </p:nvSpPr>
        <p:spPr>
          <a:xfrm>
            <a:off x="876300" y="3387725"/>
            <a:ext cx="190500" cy="1905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844550" y="2911475"/>
            <a:ext cx="1095375" cy="174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STEP 1</a:t>
            </a:r>
            <a:endParaRPr lang="zh-CN" sz="750"/>
          </a:p>
        </p:txBody>
      </p:sp>
      <p:sp>
        <p:nvSpPr>
          <p:cNvPr id="13" name="Text 13"/>
          <p:cNvSpPr txBox="1"/>
          <p:nvPr/>
        </p:nvSpPr>
        <p:spPr>
          <a:xfrm>
            <a:off x="844550" y="3721100"/>
            <a:ext cx="444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sz="1690"/>
          </a:p>
        </p:txBody>
      </p:sp>
      <p:sp>
        <p:nvSpPr>
          <p:cNvPr id="14" name="Text 14"/>
          <p:cNvSpPr txBox="1"/>
          <p:nvPr/>
        </p:nvSpPr>
        <p:spPr>
          <a:xfrm>
            <a:off x="1201738" y="3840162"/>
            <a:ext cx="555625" cy="15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次提交</a:t>
            </a:r>
            <a:endParaRPr lang="zh-CN" sz="750"/>
          </a:p>
        </p:txBody>
      </p:sp>
      <p:sp>
        <p:nvSpPr>
          <p:cNvPr id="15" name="Text 15"/>
          <p:cNvSpPr txBox="1"/>
          <p:nvPr/>
        </p:nvSpPr>
        <p:spPr>
          <a:xfrm>
            <a:off x="844550" y="4141788"/>
            <a:ext cx="1127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数据库基础</a:t>
            </a:r>
            <a:endParaRPr lang="zh-CN" sz="1000"/>
          </a:p>
        </p:txBody>
      </p:sp>
      <p:sp>
        <p:nvSpPr>
          <p:cNvPr id="16" name="Text 16"/>
          <p:cNvSpPr txBox="1"/>
          <p:nvPr/>
        </p:nvSpPr>
        <p:spPr>
          <a:xfrm>
            <a:off x="844550" y="4427538"/>
            <a:ext cx="1143000" cy="293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读写分离 / 权限基线</a:t>
            </a:r>
            <a:endParaRPr lang="zh-CN" sz="750"/>
          </a:p>
        </p:txBody>
      </p:sp>
      <p:sp>
        <p:nvSpPr>
          <p:cNvPr id="17" name="Rectangle 17"/>
          <p:cNvSpPr/>
          <p:nvPr/>
        </p:nvSpPr>
        <p:spPr>
          <a:xfrm>
            <a:off x="2241550" y="3387725"/>
            <a:ext cx="190500" cy="1905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2209800" y="2911475"/>
            <a:ext cx="1095375" cy="174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STEP 2</a:t>
            </a:r>
            <a:endParaRPr lang="zh-CN" sz="750"/>
          </a:p>
        </p:txBody>
      </p:sp>
      <p:sp>
        <p:nvSpPr>
          <p:cNvPr id="19" name="Text 19"/>
          <p:cNvSpPr txBox="1"/>
          <p:nvPr/>
        </p:nvSpPr>
        <p:spPr>
          <a:xfrm>
            <a:off x="2209800" y="3721100"/>
            <a:ext cx="444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zh-CN" sz="1690"/>
          </a:p>
        </p:txBody>
      </p:sp>
      <p:sp>
        <p:nvSpPr>
          <p:cNvPr id="20" name="Text 20"/>
          <p:cNvSpPr txBox="1"/>
          <p:nvPr/>
        </p:nvSpPr>
        <p:spPr>
          <a:xfrm>
            <a:off x="2566988" y="3840162"/>
            <a:ext cx="555625" cy="15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次提交</a:t>
            </a:r>
            <a:endParaRPr lang="zh-CN" sz="750"/>
          </a:p>
        </p:txBody>
      </p:sp>
      <p:sp>
        <p:nvSpPr>
          <p:cNvPr id="21" name="Text 21"/>
          <p:cNvSpPr txBox="1"/>
          <p:nvPr/>
        </p:nvSpPr>
        <p:spPr>
          <a:xfrm>
            <a:off x="2209800" y="4141788"/>
            <a:ext cx="1127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安全只读后台</a:t>
            </a:r>
            <a:endParaRPr lang="zh-CN" sz="1000"/>
          </a:p>
        </p:txBody>
      </p:sp>
      <p:sp>
        <p:nvSpPr>
          <p:cNvPr id="22" name="Text 22"/>
          <p:cNvSpPr txBox="1"/>
          <p:nvPr/>
        </p:nvSpPr>
        <p:spPr>
          <a:xfrm>
            <a:off x="2209800" y="4427538"/>
            <a:ext cx="1143000" cy="293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管理员入口 / 审计</a:t>
            </a:r>
            <a:endParaRPr lang="zh-CN" sz="750"/>
          </a:p>
        </p:txBody>
      </p:sp>
      <p:sp>
        <p:nvSpPr>
          <p:cNvPr id="23" name="Rectangle 23"/>
          <p:cNvSpPr/>
          <p:nvPr/>
        </p:nvSpPr>
        <p:spPr>
          <a:xfrm>
            <a:off x="3606800" y="3387725"/>
            <a:ext cx="190500" cy="1905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3575050" y="2911475"/>
            <a:ext cx="1095375" cy="174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STEP 2.5</a:t>
            </a:r>
            <a:endParaRPr lang="zh-CN" sz="750"/>
          </a:p>
        </p:txBody>
      </p:sp>
      <p:sp>
        <p:nvSpPr>
          <p:cNvPr id="25" name="Text 25"/>
          <p:cNvSpPr txBox="1"/>
          <p:nvPr/>
        </p:nvSpPr>
        <p:spPr>
          <a:xfrm>
            <a:off x="3575050" y="3721100"/>
            <a:ext cx="444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zh-CN" sz="1690"/>
          </a:p>
        </p:txBody>
      </p:sp>
      <p:sp>
        <p:nvSpPr>
          <p:cNvPr id="26" name="Text 26"/>
          <p:cNvSpPr txBox="1"/>
          <p:nvPr/>
        </p:nvSpPr>
        <p:spPr>
          <a:xfrm>
            <a:off x="3932238" y="3840162"/>
            <a:ext cx="555625" cy="15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次提交</a:t>
            </a:r>
            <a:endParaRPr lang="zh-CN" sz="750"/>
          </a:p>
        </p:txBody>
      </p:sp>
      <p:sp>
        <p:nvSpPr>
          <p:cNvPr id="27" name="Text 27"/>
          <p:cNvSpPr txBox="1"/>
          <p:nvPr/>
        </p:nvSpPr>
        <p:spPr>
          <a:xfrm>
            <a:off x="3575050" y="4141788"/>
            <a:ext cx="1127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共享监控</a:t>
            </a:r>
            <a:endParaRPr lang="zh-CN" sz="1000"/>
          </a:p>
        </p:txBody>
      </p:sp>
      <p:sp>
        <p:nvSpPr>
          <p:cNvPr id="28" name="Text 28"/>
          <p:cNvSpPr txBox="1"/>
          <p:nvPr/>
        </p:nvSpPr>
        <p:spPr>
          <a:xfrm>
            <a:off x="3575050" y="4427538"/>
            <a:ext cx="1143000" cy="293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独立采集 / 快照</a:t>
            </a:r>
            <a:endParaRPr lang="zh-CN" sz="750"/>
          </a:p>
        </p:txBody>
      </p:sp>
      <p:sp>
        <p:nvSpPr>
          <p:cNvPr id="29" name="Rectangle 29"/>
          <p:cNvSpPr/>
          <p:nvPr/>
        </p:nvSpPr>
        <p:spPr>
          <a:xfrm>
            <a:off x="4972050" y="3387725"/>
            <a:ext cx="190500" cy="1905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4940300" y="2911475"/>
            <a:ext cx="1095375" cy="174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STEP 3.1</a:t>
            </a:r>
            <a:endParaRPr lang="zh-CN" sz="750"/>
          </a:p>
        </p:txBody>
      </p:sp>
      <p:sp>
        <p:nvSpPr>
          <p:cNvPr id="31" name="Text 31"/>
          <p:cNvSpPr txBox="1"/>
          <p:nvPr/>
        </p:nvSpPr>
        <p:spPr>
          <a:xfrm>
            <a:off x="4940300" y="3721100"/>
            <a:ext cx="444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zh-CN" sz="1690"/>
          </a:p>
        </p:txBody>
      </p:sp>
      <p:sp>
        <p:nvSpPr>
          <p:cNvPr id="32" name="Text 32"/>
          <p:cNvSpPr txBox="1"/>
          <p:nvPr/>
        </p:nvSpPr>
        <p:spPr>
          <a:xfrm>
            <a:off x="5297488" y="3840162"/>
            <a:ext cx="555625" cy="15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次提交</a:t>
            </a:r>
            <a:endParaRPr lang="zh-CN" sz="750"/>
          </a:p>
        </p:txBody>
      </p:sp>
      <p:sp>
        <p:nvSpPr>
          <p:cNvPr id="33" name="Text 33"/>
          <p:cNvSpPr txBox="1"/>
          <p:nvPr/>
        </p:nvSpPr>
        <p:spPr>
          <a:xfrm>
            <a:off x="4940300" y="4141788"/>
            <a:ext cx="1127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业务只读治理</a:t>
            </a:r>
            <a:endParaRPr lang="zh-CN" sz="1000"/>
          </a:p>
        </p:txBody>
      </p:sp>
      <p:sp>
        <p:nvSpPr>
          <p:cNvPr id="34" name="Text 34"/>
          <p:cNvSpPr txBox="1"/>
          <p:nvPr/>
        </p:nvSpPr>
        <p:spPr>
          <a:xfrm>
            <a:off x="4940300" y="4427538"/>
            <a:ext cx="1143000" cy="293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游标 / 分块 / deep</a:t>
            </a:r>
            <a:endParaRPr lang="zh-CN" sz="750"/>
          </a:p>
        </p:txBody>
      </p:sp>
      <p:sp>
        <p:nvSpPr>
          <p:cNvPr id="35" name="Rectangle 35"/>
          <p:cNvSpPr/>
          <p:nvPr/>
        </p:nvSpPr>
        <p:spPr>
          <a:xfrm>
            <a:off x="6337300" y="3387725"/>
            <a:ext cx="190500" cy="1905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6305550" y="2911475"/>
            <a:ext cx="1095375" cy="174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STEP 3.2</a:t>
            </a:r>
            <a:endParaRPr lang="zh-CN" sz="750"/>
          </a:p>
        </p:txBody>
      </p:sp>
      <p:sp>
        <p:nvSpPr>
          <p:cNvPr id="37" name="Text 37"/>
          <p:cNvSpPr txBox="1"/>
          <p:nvPr/>
        </p:nvSpPr>
        <p:spPr>
          <a:xfrm>
            <a:off x="6305550" y="3721100"/>
            <a:ext cx="444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sz="1690"/>
          </a:p>
        </p:txBody>
      </p:sp>
      <p:sp>
        <p:nvSpPr>
          <p:cNvPr id="38" name="Text 38"/>
          <p:cNvSpPr txBox="1"/>
          <p:nvPr/>
        </p:nvSpPr>
        <p:spPr>
          <a:xfrm>
            <a:off x="6662738" y="3840162"/>
            <a:ext cx="555625" cy="15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次提交</a:t>
            </a:r>
            <a:endParaRPr lang="zh-CN" sz="750"/>
          </a:p>
        </p:txBody>
      </p:sp>
      <p:sp>
        <p:nvSpPr>
          <p:cNvPr id="39" name="Text 39"/>
          <p:cNvSpPr txBox="1"/>
          <p:nvPr/>
        </p:nvSpPr>
        <p:spPr>
          <a:xfrm>
            <a:off x="6305550" y="4141788"/>
            <a:ext cx="1127125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受控写入</a:t>
            </a:r>
            <a:endParaRPr lang="zh-CN" sz="1000"/>
          </a:p>
        </p:txBody>
      </p:sp>
      <p:sp>
        <p:nvSpPr>
          <p:cNvPr id="40" name="Text 40"/>
          <p:cNvSpPr txBox="1"/>
          <p:nvPr/>
        </p:nvSpPr>
        <p:spPr>
          <a:xfrm>
            <a:off x="6305550" y="4427538"/>
            <a:ext cx="1143000" cy="293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幂等 / 生命周期 / 修复</a:t>
            </a:r>
            <a:endParaRPr lang="zh-CN" sz="750"/>
          </a:p>
        </p:txBody>
      </p:sp>
      <p:sp>
        <p:nvSpPr>
          <p:cNvPr id="41" name="Text 41"/>
          <p:cNvSpPr txBox="1"/>
          <p:nvPr/>
        </p:nvSpPr>
        <p:spPr>
          <a:xfrm>
            <a:off x="4591050" y="2133600"/>
            <a:ext cx="2762250" cy="396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44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5 + 9 + 10 + 8 + 5 = 37</a:t>
            </a:r>
            <a:endParaRPr lang="zh-CN" sz="1440"/>
          </a:p>
        </p:txBody>
      </p:sp>
      <p:sp>
        <p:nvSpPr>
          <p:cNvPr id="42" name="Rectangle 42"/>
          <p:cNvSpPr/>
          <p:nvPr/>
        </p:nvSpPr>
        <p:spPr>
          <a:xfrm>
            <a:off x="304800" y="5816600"/>
            <a:ext cx="7620000" cy="66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3" name="Text 43"/>
          <p:cNvSpPr txBox="1"/>
          <p:nvPr/>
        </p:nvSpPr>
        <p:spPr>
          <a:xfrm>
            <a:off x="558800" y="60198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投屏内容与讲稿页一一对应</a:t>
            </a:r>
            <a:endParaRPr lang="zh-CN" sz="1400"/>
          </a:p>
        </p:txBody>
      </p:sp>
      <p:sp>
        <p:nvSpPr>
          <p:cNvPr id="44" name="Rectangle 44"/>
          <p:cNvSpPr/>
          <p:nvPr/>
        </p:nvSpPr>
        <p:spPr>
          <a:xfrm>
            <a:off x="8204200" y="254000"/>
            <a:ext cx="3683000" cy="6223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8204200" y="254000"/>
            <a:ext cx="101600" cy="622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46" name="Text 46"/>
          <p:cNvSpPr txBox="1"/>
          <p:nvPr/>
        </p:nvSpPr>
        <p:spPr>
          <a:xfrm>
            <a:off x="8559800" y="533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讲述稿｜12</a:t>
            </a:r>
            <a:endParaRPr lang="zh-CN" sz="1300"/>
          </a:p>
        </p:txBody>
      </p:sp>
      <p:cxnSp>
        <p:nvCxnSpPr>
          <p:cNvPr id="47" name="Connector 47"/>
          <p:cNvCxnSpPr/>
          <p:nvPr/>
        </p:nvCxnSpPr>
        <p:spPr>
          <a:xfrm>
            <a:off x="8559800" y="990600"/>
            <a:ext cx="29718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48" name="Text 48"/>
          <p:cNvSpPr txBox="1"/>
          <p:nvPr/>
        </p:nvSpPr>
        <p:spPr>
          <a:xfrm>
            <a:off x="8559800" y="1219200"/>
            <a:ext cx="2921000" cy="485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从提交记录也能看出这套系统是怎样收口的。最开始五次提交建立数据库基础和读写分离；第二步九次提交做安全的管理员只读入口；二点五用十次提交把看板改成独立采集和共享快照；三点一用八次提交补齐业务只读治理；三点二用四次主体提交加一次回归修复，完成受控写入。总共三十七次相关提交，说明它不是一次性堆功能，而是一层一层补上安全边界和可验证证据。</a:t>
            </a:r>
            <a:endParaRPr lang="zh-CN" sz="1500"/>
          </a:p>
        </p:txBody>
      </p:sp>
      <p:sp>
        <p:nvSpPr>
          <p:cNvPr id="49" name="Text 49"/>
          <p:cNvSpPr txBox="1"/>
          <p:nvPr/>
        </p:nvSpPr>
        <p:spPr>
          <a:xfrm>
            <a:off x="8559800" y="61214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可直接照读，也可按现场节奏删减。</a:t>
            </a:r>
            <a:endParaRPr lang="zh-CN" sz="9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04800" y="254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投屏页 13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304800" y="558800"/>
            <a:ext cx="762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做什么，以及明确不做什么</a:t>
            </a:r>
            <a:endParaRPr lang="zh-CN" sz="2100"/>
          </a:p>
        </p:txBody>
      </p:sp>
      <p:sp>
        <p:nvSpPr>
          <p:cNvPr id="4" name="Rectangle 4"/>
          <p:cNvSpPr/>
          <p:nvPr/>
        </p:nvSpPr>
        <p:spPr>
          <a:xfrm>
            <a:off x="292100" y="1231900"/>
            <a:ext cx="7645400" cy="431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58800" y="1435100"/>
            <a:ext cx="79375" cy="79375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1371600"/>
            <a:ext cx="6667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做什么，以及明确不做什么</a:t>
            </a:r>
            <a:endParaRPr lang="zh-CN" sz="2125"/>
          </a:p>
        </p:txBody>
      </p:sp>
      <p:cxnSp>
        <p:nvCxnSpPr>
          <p:cNvPr id="7" name="Connector 7"/>
          <p:cNvCxnSpPr/>
          <p:nvPr/>
        </p:nvCxnSpPr>
        <p:spPr>
          <a:xfrm>
            <a:off x="558800" y="5149850"/>
            <a:ext cx="7112000" cy="1270"/>
          </a:xfrm>
          <a:prstGeom prst="line">
            <a:avLst/>
          </a:prstGeom>
          <a:ln w="7938">
            <a:solidFill>
              <a:srgbClr val="B8BCC4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558800" y="5229225"/>
            <a:ext cx="238125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750"/>
          </a:p>
        </p:txBody>
      </p:sp>
      <p:sp>
        <p:nvSpPr>
          <p:cNvPr id="9" name="Text 9"/>
          <p:cNvSpPr txBox="1"/>
          <p:nvPr/>
        </p:nvSpPr>
        <p:spPr>
          <a:xfrm>
            <a:off x="7337425" y="5213350"/>
            <a:ext cx="33337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zh-CN" sz="750"/>
          </a:p>
        </p:txBody>
      </p:sp>
      <p:sp>
        <p:nvSpPr>
          <p:cNvPr id="10" name="Rectangle 10"/>
          <p:cNvSpPr/>
          <p:nvPr/>
        </p:nvSpPr>
        <p:spPr>
          <a:xfrm>
            <a:off x="558800" y="2133600"/>
            <a:ext cx="777875" cy="198438"/>
          </a:xfrm>
          <a:prstGeom prst="rect">
            <a:avLst/>
          </a:prstGeom>
          <a:solidFill>
            <a:srgbClr val="178A5B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558800" y="2149475"/>
            <a:ext cx="777875" cy="15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DELIVERED</a:t>
            </a:r>
            <a:endParaRPr lang="zh-CN" sz="750"/>
          </a:p>
        </p:txBody>
      </p:sp>
      <p:sp>
        <p:nvSpPr>
          <p:cNvPr id="12" name="Rectangle 12"/>
          <p:cNvSpPr/>
          <p:nvPr/>
        </p:nvSpPr>
        <p:spPr>
          <a:xfrm>
            <a:off x="4273550" y="2133600"/>
            <a:ext cx="825500" cy="198438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4273550" y="2149475"/>
            <a:ext cx="825500" cy="15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7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NON-GOALS</a:t>
            </a:r>
            <a:endParaRPr lang="zh-CN" sz="750"/>
          </a:p>
        </p:txBody>
      </p:sp>
      <p:sp>
        <p:nvSpPr>
          <p:cNvPr id="14" name="Rectangle 14"/>
          <p:cNvSpPr/>
          <p:nvPr/>
        </p:nvSpPr>
        <p:spPr>
          <a:xfrm>
            <a:off x="558800" y="2466975"/>
            <a:ext cx="3397250" cy="1984375"/>
          </a:xfrm>
          <a:prstGeom prst="rect">
            <a:avLst/>
          </a:prstGeom>
          <a:solidFill>
            <a:srgbClr val="E8F5EF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273550" y="2466975"/>
            <a:ext cx="3397250" cy="1984375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765175" y="2657475"/>
            <a:ext cx="295275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6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三条数据路径</a:t>
            </a:r>
            <a:endParaRPr lang="zh-CN" sz="1060"/>
          </a:p>
          <a:p>
            <a:pPr algn="l"/>
            <a:r>
              <a:rPr lang="zh-CN" altLang="en-US" sz="106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共享快照与分层采集</a:t>
            </a:r>
            <a:endParaRPr lang="zh-CN" sz="1060"/>
          </a:p>
          <a:p>
            <a:pPr algn="l"/>
            <a:r>
              <a:rPr lang="zh-CN" altLang="en-US" sz="106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strong / eventual 路由</a:t>
            </a:r>
            <a:endParaRPr lang="zh-CN" sz="1060"/>
          </a:p>
          <a:p>
            <a:pPr algn="l"/>
            <a:r>
              <a:rPr lang="zh-CN" altLang="en-US" sz="106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分层权限与四类账号</a:t>
            </a:r>
            <a:endParaRPr lang="zh-CN" sz="1060"/>
          </a:p>
          <a:p>
            <a:pPr algn="l"/>
            <a:r>
              <a:rPr lang="zh-CN" altLang="en-US" sz="106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受控写入、幂等与审计</a:t>
            </a:r>
            <a:endParaRPr lang="zh-CN" sz="1060"/>
          </a:p>
        </p:txBody>
      </p:sp>
      <p:sp>
        <p:nvSpPr>
          <p:cNvPr id="17" name="Text 17"/>
          <p:cNvSpPr txBox="1"/>
          <p:nvPr/>
        </p:nvSpPr>
        <p:spPr>
          <a:xfrm>
            <a:off x="4479925" y="2657475"/>
            <a:ext cx="295275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6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任意 SQL</a:t>
            </a:r>
            <a:endParaRPr lang="zh-CN" sz="1060"/>
          </a:p>
          <a:p>
            <a:pPr algn="l"/>
            <a:r>
              <a:rPr lang="zh-CN" altLang="en-US" sz="106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迁移 / grants</a:t>
            </a:r>
            <a:endParaRPr lang="zh-CN" sz="1060"/>
          </a:p>
          <a:p>
            <a:pPr algn="l"/>
            <a:r>
              <a:rPr lang="zh-CN" altLang="en-US" sz="106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复制控制</a:t>
            </a:r>
            <a:endParaRPr lang="zh-CN" sz="1060"/>
          </a:p>
          <a:p>
            <a:pPr algn="l"/>
            <a:r>
              <a:rPr lang="zh-CN" altLang="en-US" sz="106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自动故障切换</a:t>
            </a:r>
            <a:endParaRPr lang="zh-CN" sz="1060"/>
          </a:p>
          <a:p>
            <a:pPr algn="l"/>
            <a:r>
              <a:rPr lang="zh-CN" altLang="en-US" sz="106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任务控制</a:t>
            </a:r>
            <a:endParaRPr lang="zh-CN" sz="1060"/>
          </a:p>
        </p:txBody>
      </p:sp>
      <p:sp>
        <p:nvSpPr>
          <p:cNvPr id="18" name="Text 18"/>
          <p:cNvSpPr txBox="1"/>
          <p:nvPr/>
        </p:nvSpPr>
        <p:spPr>
          <a:xfrm>
            <a:off x="558800" y="4633912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19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边界越清楚，系统越可靠</a:t>
            </a:r>
            <a:endParaRPr lang="zh-CN" sz="1190"/>
          </a:p>
        </p:txBody>
      </p:sp>
      <p:sp>
        <p:nvSpPr>
          <p:cNvPr id="19" name="Rectangle 19"/>
          <p:cNvSpPr/>
          <p:nvPr/>
        </p:nvSpPr>
        <p:spPr>
          <a:xfrm>
            <a:off x="304800" y="5816600"/>
            <a:ext cx="7620000" cy="66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558800" y="60198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投屏内容与讲稿页一一对应</a:t>
            </a:r>
            <a:endParaRPr lang="zh-CN" sz="1400"/>
          </a:p>
        </p:txBody>
      </p:sp>
      <p:sp>
        <p:nvSpPr>
          <p:cNvPr id="21" name="Rectangle 21"/>
          <p:cNvSpPr/>
          <p:nvPr/>
        </p:nvSpPr>
        <p:spPr>
          <a:xfrm>
            <a:off x="8204200" y="254000"/>
            <a:ext cx="3683000" cy="6223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8204200" y="254000"/>
            <a:ext cx="101600" cy="622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8559800" y="533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讲述稿｜13</a:t>
            </a:r>
            <a:endParaRPr lang="zh-CN" sz="1300"/>
          </a:p>
        </p:txBody>
      </p:sp>
      <p:cxnSp>
        <p:nvCxnSpPr>
          <p:cNvPr id="24" name="Connector 24"/>
          <p:cNvCxnSpPr/>
          <p:nvPr/>
        </p:nvCxnSpPr>
        <p:spPr>
          <a:xfrm>
            <a:off x="8559800" y="990600"/>
            <a:ext cx="29718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25" name="Text 25"/>
          <p:cNvSpPr txBox="1"/>
          <p:nvPr/>
        </p:nvSpPr>
        <p:spPr>
          <a:xfrm>
            <a:off x="8559800" y="1219200"/>
            <a:ext cx="2921000" cy="485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阶段一同时明确了边界。它已经交付三条数据路径、共享快照、一致性路由、分层权限、受控写入和审计闭环；但它没有开放任意 SQL，没有提供迁移、授权、复制控制，也没有做自动故障切换和任务控制。这里的重点不是功能越多越好，而是后台拿到的每一项能力都有清晰用途、最小权限和失败方式。边界越清楚，系统就越可靠，后续阶段也更容易在稳定基础上继续扩展。</a:t>
            </a:r>
            <a:endParaRPr lang="zh-CN" sz="1500"/>
          </a:p>
        </p:txBody>
      </p:sp>
      <p:sp>
        <p:nvSpPr>
          <p:cNvPr id="26" name="Text 26"/>
          <p:cNvSpPr txBox="1"/>
          <p:nvPr/>
        </p:nvSpPr>
        <p:spPr>
          <a:xfrm>
            <a:off x="8559800" y="61214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可直接照读，也可按现场节奏删减。</a:t>
            </a:r>
            <a:endParaRPr lang="zh-CN" sz="9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04800" y="254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投屏页 14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304800" y="558800"/>
            <a:ext cx="762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最终得到的是数据库治理闭环</a:t>
            </a:r>
            <a:endParaRPr lang="zh-CN" sz="2100"/>
          </a:p>
        </p:txBody>
      </p:sp>
      <p:sp>
        <p:nvSpPr>
          <p:cNvPr id="4" name="Rectangle 4"/>
          <p:cNvSpPr/>
          <p:nvPr/>
        </p:nvSpPr>
        <p:spPr>
          <a:xfrm>
            <a:off x="292100" y="1231900"/>
            <a:ext cx="7645400" cy="431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58800" y="1435100"/>
            <a:ext cx="79375" cy="79375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1371600"/>
            <a:ext cx="6667500" cy="412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2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最终得到的是数据库治理闭环</a:t>
            </a:r>
            <a:endParaRPr lang="zh-CN" sz="2125"/>
          </a:p>
        </p:txBody>
      </p:sp>
      <p:cxnSp>
        <p:nvCxnSpPr>
          <p:cNvPr id="7" name="Connector 7"/>
          <p:cNvCxnSpPr/>
          <p:nvPr/>
        </p:nvCxnSpPr>
        <p:spPr>
          <a:xfrm>
            <a:off x="558800" y="5149850"/>
            <a:ext cx="7112000" cy="1270"/>
          </a:xfrm>
          <a:prstGeom prst="line">
            <a:avLst/>
          </a:prstGeom>
          <a:ln w="7938">
            <a:solidFill>
              <a:srgbClr val="B8BCC4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558800" y="5229225"/>
            <a:ext cx="238125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750"/>
          </a:p>
        </p:txBody>
      </p:sp>
      <p:sp>
        <p:nvSpPr>
          <p:cNvPr id="9" name="Text 9"/>
          <p:cNvSpPr txBox="1"/>
          <p:nvPr/>
        </p:nvSpPr>
        <p:spPr>
          <a:xfrm>
            <a:off x="7337425" y="5213350"/>
            <a:ext cx="33337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7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zh-CN" sz="750"/>
          </a:p>
        </p:txBody>
      </p:sp>
      <p:sp>
        <p:nvSpPr>
          <p:cNvPr id="10" name="Rectangle 10"/>
          <p:cNvSpPr/>
          <p:nvPr/>
        </p:nvSpPr>
        <p:spPr>
          <a:xfrm>
            <a:off x="3162300" y="2736850"/>
            <a:ext cx="1905000" cy="93662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3400425" y="2919412"/>
            <a:ext cx="1428750" cy="198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81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DATABASE</a:t>
            </a:r>
            <a:endParaRPr lang="zh-CN" sz="810"/>
          </a:p>
        </p:txBody>
      </p:sp>
      <p:sp>
        <p:nvSpPr>
          <p:cNvPr id="12" name="Text 12"/>
          <p:cNvSpPr txBox="1"/>
          <p:nvPr/>
        </p:nvSpPr>
        <p:spPr>
          <a:xfrm>
            <a:off x="3400425" y="3213100"/>
            <a:ext cx="1428750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数据库治理</a:t>
            </a:r>
            <a:endParaRPr lang="zh-CN" sz="1500"/>
          </a:p>
        </p:txBody>
      </p:sp>
      <p:sp>
        <p:nvSpPr>
          <p:cNvPr id="13" name="Rectangle 13"/>
          <p:cNvSpPr/>
          <p:nvPr/>
        </p:nvSpPr>
        <p:spPr>
          <a:xfrm>
            <a:off x="1019175" y="2260600"/>
            <a:ext cx="1238250" cy="571500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1146175" y="2419350"/>
            <a:ext cx="984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19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观测</a:t>
            </a:r>
            <a:endParaRPr lang="zh-CN" sz="1190"/>
          </a:p>
        </p:txBody>
      </p:sp>
      <p:sp>
        <p:nvSpPr>
          <p:cNvPr id="15" name="Rectangle 15"/>
          <p:cNvSpPr/>
          <p:nvPr/>
        </p:nvSpPr>
        <p:spPr>
          <a:xfrm>
            <a:off x="3400425" y="2101850"/>
            <a:ext cx="1238250" cy="5715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3527425" y="2260600"/>
            <a:ext cx="984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1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降压</a:t>
            </a:r>
            <a:endParaRPr lang="zh-CN" sz="1190"/>
          </a:p>
        </p:txBody>
      </p:sp>
      <p:sp>
        <p:nvSpPr>
          <p:cNvPr id="17" name="Rectangle 17"/>
          <p:cNvSpPr/>
          <p:nvPr/>
        </p:nvSpPr>
        <p:spPr>
          <a:xfrm>
            <a:off x="5972175" y="2260600"/>
            <a:ext cx="1238250" cy="571500"/>
          </a:xfrm>
          <a:prstGeom prst="rect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099175" y="2419350"/>
            <a:ext cx="984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190" b="1" dirty="0">
                <a:solidFill>
                  <a:srgbClr val="276EF1"/>
                </a:solidFill>
                <a:latin typeface="微软雅黑" panose="020B0503020204020204" charset="-122"/>
                <a:ea typeface="微软雅黑" panose="020B0503020204020204" charset="-122"/>
              </a:rPr>
              <a:t>一致性</a:t>
            </a:r>
            <a:endParaRPr lang="zh-CN" sz="1190"/>
          </a:p>
        </p:txBody>
      </p:sp>
      <p:sp>
        <p:nvSpPr>
          <p:cNvPr id="19" name="Rectangle 19"/>
          <p:cNvSpPr/>
          <p:nvPr/>
        </p:nvSpPr>
        <p:spPr>
          <a:xfrm>
            <a:off x="5972175" y="3959225"/>
            <a:ext cx="1238250" cy="5715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6099175" y="4117975"/>
            <a:ext cx="984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1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权限</a:t>
            </a:r>
            <a:endParaRPr lang="zh-CN" sz="1190"/>
          </a:p>
        </p:txBody>
      </p:sp>
      <p:sp>
        <p:nvSpPr>
          <p:cNvPr id="21" name="Rectangle 21"/>
          <p:cNvSpPr/>
          <p:nvPr/>
        </p:nvSpPr>
        <p:spPr>
          <a:xfrm>
            <a:off x="3400425" y="4213225"/>
            <a:ext cx="1238250" cy="5715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3527425" y="4371975"/>
            <a:ext cx="984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19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并发</a:t>
            </a:r>
            <a:endParaRPr lang="zh-CN" sz="1190"/>
          </a:p>
        </p:txBody>
      </p:sp>
      <p:sp>
        <p:nvSpPr>
          <p:cNvPr id="23" name="Rectangle 23"/>
          <p:cNvSpPr/>
          <p:nvPr/>
        </p:nvSpPr>
        <p:spPr>
          <a:xfrm>
            <a:off x="1019175" y="3959225"/>
            <a:ext cx="1238250" cy="571500"/>
          </a:xfrm>
          <a:prstGeom prst="rect">
            <a:avLst/>
          </a:prstGeom>
          <a:solidFill>
            <a:srgbClr val="E8F5EF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1146175" y="4117975"/>
            <a:ext cx="984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190" b="1" dirty="0">
                <a:solidFill>
                  <a:srgbClr val="178A5B"/>
                </a:solidFill>
                <a:latin typeface="微软雅黑" panose="020B0503020204020204" charset="-122"/>
                <a:ea typeface="微软雅黑" panose="020B0503020204020204" charset="-122"/>
              </a:rPr>
              <a:t>审计</a:t>
            </a:r>
            <a:endParaRPr lang="zh-CN" sz="1190"/>
          </a:p>
        </p:txBody>
      </p:sp>
      <p:cxnSp>
        <p:nvCxnSpPr>
          <p:cNvPr id="25" name="Connector 25"/>
          <p:cNvCxnSpPr/>
          <p:nvPr/>
        </p:nvCxnSpPr>
        <p:spPr>
          <a:xfrm>
            <a:off x="2257425" y="2546350"/>
            <a:ext cx="904875" cy="444500"/>
          </a:xfrm>
          <a:prstGeom prst="line">
            <a:avLst/>
          </a:prstGeom>
          <a:ln w="11906">
            <a:solidFill>
              <a:srgbClr val="B8BCC4"/>
            </a:solidFill>
            <a:tailEnd type="triangle" w="sm" len="sm"/>
          </a:ln>
        </p:spPr>
      </p:cxnSp>
      <p:cxnSp>
        <p:nvCxnSpPr>
          <p:cNvPr id="26" name="Connector 26"/>
          <p:cNvCxnSpPr/>
          <p:nvPr/>
        </p:nvCxnSpPr>
        <p:spPr>
          <a:xfrm>
            <a:off x="4019550" y="2673350"/>
            <a:ext cx="95250" cy="63500"/>
          </a:xfrm>
          <a:prstGeom prst="line">
            <a:avLst/>
          </a:prstGeom>
          <a:ln w="11906">
            <a:solidFill>
              <a:srgbClr val="B8BCC4"/>
            </a:solidFill>
            <a:tailEnd type="triangle" w="sm" len="sm"/>
          </a:ln>
        </p:spPr>
      </p:cxnSp>
      <p:cxnSp>
        <p:nvCxnSpPr>
          <p:cNvPr id="27" name="Connector 27"/>
          <p:cNvCxnSpPr/>
          <p:nvPr/>
        </p:nvCxnSpPr>
        <p:spPr>
          <a:xfrm flipH="1">
            <a:off x="5067300" y="2546350"/>
            <a:ext cx="904875" cy="444500"/>
          </a:xfrm>
          <a:prstGeom prst="line">
            <a:avLst/>
          </a:prstGeom>
          <a:ln w="11906">
            <a:solidFill>
              <a:srgbClr val="B8BCC4"/>
            </a:solidFill>
            <a:tailEnd type="triangle" w="sm" len="sm"/>
          </a:ln>
        </p:spPr>
      </p:cxnSp>
      <p:cxnSp>
        <p:nvCxnSpPr>
          <p:cNvPr id="28" name="Connector 28"/>
          <p:cNvCxnSpPr/>
          <p:nvPr/>
        </p:nvCxnSpPr>
        <p:spPr>
          <a:xfrm flipH="1" flipV="1">
            <a:off x="5067300" y="3514725"/>
            <a:ext cx="904875" cy="730250"/>
          </a:xfrm>
          <a:prstGeom prst="line">
            <a:avLst/>
          </a:prstGeom>
          <a:ln w="11906">
            <a:solidFill>
              <a:srgbClr val="B8BCC4"/>
            </a:solidFill>
            <a:tailEnd type="triangle" w="sm" len="sm"/>
          </a:ln>
        </p:spPr>
      </p:cxnSp>
      <p:cxnSp>
        <p:nvCxnSpPr>
          <p:cNvPr id="29" name="Connector 29"/>
          <p:cNvCxnSpPr/>
          <p:nvPr/>
        </p:nvCxnSpPr>
        <p:spPr>
          <a:xfrm flipV="1">
            <a:off x="4019550" y="3673475"/>
            <a:ext cx="95250" cy="539750"/>
          </a:xfrm>
          <a:prstGeom prst="line">
            <a:avLst/>
          </a:prstGeom>
          <a:ln w="11906">
            <a:solidFill>
              <a:srgbClr val="B8BCC4"/>
            </a:solidFill>
            <a:tailEnd type="triangle" w="sm" len="sm"/>
          </a:ln>
        </p:spPr>
      </p:cxnSp>
      <p:cxnSp>
        <p:nvCxnSpPr>
          <p:cNvPr id="30" name="Connector 30"/>
          <p:cNvCxnSpPr/>
          <p:nvPr/>
        </p:nvCxnSpPr>
        <p:spPr>
          <a:xfrm flipV="1">
            <a:off x="2257425" y="3514725"/>
            <a:ext cx="904875" cy="730250"/>
          </a:xfrm>
          <a:prstGeom prst="line">
            <a:avLst/>
          </a:prstGeom>
          <a:ln w="11906">
            <a:solidFill>
              <a:srgbClr val="B8BCC4"/>
            </a:solidFill>
            <a:tailEnd type="triangle" w="sm" len="sm"/>
          </a:ln>
        </p:spPr>
      </p:cxnSp>
      <p:sp>
        <p:nvSpPr>
          <p:cNvPr id="31" name="Text 31"/>
          <p:cNvSpPr txBox="1"/>
          <p:nvPr/>
        </p:nvSpPr>
        <p:spPr>
          <a:xfrm>
            <a:off x="2368550" y="4721225"/>
            <a:ext cx="34925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25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看得见 · 读得稳 · 写得住 · 查得到</a:t>
            </a:r>
            <a:endParaRPr lang="zh-CN" sz="1250"/>
          </a:p>
        </p:txBody>
      </p:sp>
      <p:sp>
        <p:nvSpPr>
          <p:cNvPr id="32" name="Rectangle 32"/>
          <p:cNvSpPr/>
          <p:nvPr/>
        </p:nvSpPr>
        <p:spPr>
          <a:xfrm>
            <a:off x="304800" y="5816600"/>
            <a:ext cx="7620000" cy="66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558800" y="60198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投屏内容与讲稿页一一对应</a:t>
            </a:r>
            <a:endParaRPr lang="zh-CN" sz="1400"/>
          </a:p>
        </p:txBody>
      </p:sp>
      <p:sp>
        <p:nvSpPr>
          <p:cNvPr id="34" name="Rectangle 34"/>
          <p:cNvSpPr/>
          <p:nvPr/>
        </p:nvSpPr>
        <p:spPr>
          <a:xfrm>
            <a:off x="8204200" y="254000"/>
            <a:ext cx="3683000" cy="6223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8204200" y="254000"/>
            <a:ext cx="101600" cy="622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8559800" y="533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讲述稿｜14</a:t>
            </a:r>
            <a:endParaRPr lang="zh-CN" sz="1300"/>
          </a:p>
        </p:txBody>
      </p:sp>
      <p:cxnSp>
        <p:nvCxnSpPr>
          <p:cNvPr id="37" name="Connector 37"/>
          <p:cNvCxnSpPr/>
          <p:nvPr/>
        </p:nvCxnSpPr>
        <p:spPr>
          <a:xfrm>
            <a:off x="8559800" y="990600"/>
            <a:ext cx="29718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38" name="Text 38"/>
          <p:cNvSpPr txBox="1"/>
          <p:nvPr/>
        </p:nvSpPr>
        <p:spPr>
          <a:xfrm>
            <a:off x="8559800" y="1219200"/>
            <a:ext cx="2921000" cy="485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最后总结一下。阶段一最终形成的是一个数据库治理闭环：先通过独立采集把数据库看清楚，再用上限、缓存和连接池把压力控住；读取按一致性分流，写入由权限、事务和幂等保护；所有敏感动作都留下审计证据。对业务来说，就是四句话：看得见、读得稳、写得住、查得到。这也是我认为这套设计最核心的价值。</a:t>
            </a:r>
            <a:endParaRPr lang="zh-CN" sz="1500"/>
          </a:p>
        </p:txBody>
      </p:sp>
      <p:sp>
        <p:nvSpPr>
          <p:cNvPr id="39" name="Text 39"/>
          <p:cNvSpPr txBox="1"/>
          <p:nvPr/>
        </p:nvSpPr>
        <p:spPr>
          <a:xfrm>
            <a:off x="8559800" y="61214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9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可直接照读，也可按现场节奏删减。</a:t>
            </a:r>
            <a:endParaRPr lang="zh-CN" sz="95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Presentation16x9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6022</Words>
  <Application>WPS 演示</Application>
  <PresentationFormat>全屏显示(16:9)</PresentationFormat>
  <Paragraphs>662</Paragraphs>
  <Slides>14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Wingdings 2</vt:lpstr>
      <vt:lpstr>微软雅黑</vt:lpstr>
      <vt:lpstr>Tw Cen MT</vt:lpstr>
      <vt:lpstr>Arial Unicode MS</vt:lpstr>
      <vt:lpstr>华文仿宋</vt:lpstr>
      <vt:lpstr>Calibri</vt:lpstr>
      <vt:lpstr>WidescreenPresentation16x9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CausalChat 阶一数据库管理 · 讲稿版</dc:title>
  <dc:creator>CausalChat</dc:creator>
  <dc:subject>CausalChat 阶段一数据库管理</dc:subject>
  <cp:lastModifiedBy>钟江铭</cp:lastModifiedBy>
  <cp:revision>3</cp:revision>
  <dcterms:created xsi:type="dcterms:W3CDTF">2006-07-12T22:21:00Z</dcterms:created>
  <dcterms:modified xsi:type="dcterms:W3CDTF">2026-07-30T13:05:42Z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2052</vt:i4>
  </property>
  <property fmtid="{D5CDD505-2E9C-101B-9397-08002B2CF9AE}" pid="3" name="_Version">
    <vt:lpwstr>12.0.4518</vt:lpwstr>
  </property>
  <property fmtid="{D5CDD505-2E9C-101B-9397-08002B2CF9AE}" pid="4" name="KSOProductBuildVer">
    <vt:lpwstr>2052-12.1.0.26895</vt:lpwstr>
  </property>
  <property fmtid="{D5CDD505-2E9C-101B-9397-08002B2CF9AE}" pid="5" name="ICV">
    <vt:lpwstr>A24C75D563AB41F2AF640FF92471C4BB_12</vt:lpwstr>
  </property>
</Properties>
</file>