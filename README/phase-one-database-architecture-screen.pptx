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screen16x9"/>
  <p:notesSz cx="6858000" cy="9144000"/>
  <p:defaultTextStyle>
    <a:lvl1pPr marL="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A4A3A4"/>
          </p15:clr>
        </p15:guide>
        <p15:guide id="2" pos="29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130" autoAdjust="0"/>
    <p:restoredTop sz="87621" autoAdjust="0"/>
  </p:normalViewPr>
  <p:slideViewPr>
    <p:cSldViewPr showGuides="1">
      <p:cViewPr varScale="1">
        <p:scale>
          <a:sx n="72" d="100"/>
          <a:sy n="72" d="100"/>
        </p:scale>
        <p:origin x="-102" y="-222"/>
      </p:cViewPr>
      <p:guideLst>
        <p:guide orient="horz" pos="1616"/>
        <p:guide pos="29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zh-CN" sz="1200"/>
            </a:lvl1pPr>
          </a:lstStyle>
          <a:p>
            <a:fld id="{A8ADFD5B-A66C-449C-B6E8-FB716D07777D}" type="datetimeFigureOut">
              <a:rPr/>
            </a:fld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zh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zh-CN" sz="1200"/>
            </a:lvl1pPr>
          </a:lstStyle>
          <a:p>
            <a:fld id="{CA5D3BF3-D352-46FC-8343-31F56E6730EA}" type="slidenum">
              <a:rPr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 latinLnBrk="0">
              <a:buNone/>
              <a:defRPr lang="zh-CN" sz="2800">
                <a:solidFill>
                  <a:srgbClr val="FFFFFF"/>
                </a:solidFill>
              </a:defRPr>
            </a:lvl1pPr>
            <a:lvl2pPr marL="457200" indent="0" algn="ctr" latinLnBrk="0">
              <a:buNone/>
            </a:lvl2pPr>
            <a:lvl3pPr marL="914400" indent="0" algn="ctr" latinLnBrk="0">
              <a:buNone/>
            </a:lvl3pPr>
            <a:lvl4pPr marL="1371600" indent="0" algn="ctr" latinLnBrk="0">
              <a:buNone/>
            </a:lvl4pPr>
            <a:lvl5pPr marL="1828800" indent="0" algn="ctr" latinLnBrk="0">
              <a:buNone/>
            </a:lvl5pPr>
            <a:lvl6pPr marL="2286000" indent="0" algn="ctr" latinLnBrk="0">
              <a:buNone/>
            </a:lvl6pPr>
            <a:lvl7pPr marL="2743200" indent="0" algn="ctr" latinLnBrk="0">
              <a:buNone/>
            </a:lvl7pPr>
            <a:lvl8pPr marL="3200400" indent="0" algn="ctr" latinLnBrk="0">
              <a:buNone/>
            </a:lvl8pPr>
            <a:lvl9pPr marL="3657600" indent="0" algn="ctr" latinLnBrk="0">
              <a:buNone/>
            </a:lvl9pPr>
          </a:lstStyle>
          <a:p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latinLnBrk="0">
              <a:defRPr lang="zh-CN" sz="2000">
                <a:solidFill>
                  <a:srgbClr val="FFFFFF"/>
                </a:solidFill>
              </a:defRPr>
            </a:lvl1pPr>
          </a:lstStyle>
          <a:p>
            <a:pPr algn="ctr"/>
            <a:fld id="{047E157E-8DCB-4F70-A0AF-5EB586A91DD4}" type="datetime1">
              <a:rPr lang="zh-CN" altLang="en-US">
                <a:solidFill>
                  <a:srgbClr val="FFFFFF"/>
                </a:solidFill>
              </a:rPr>
            </a:fld>
            <a:endParaRPr lang="zh-CN" sz="200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 latinLnBrk="0">
              <a:defRPr lang="zh-CN">
                <a:solidFill>
                  <a:schemeClr val="tx2"/>
                </a:solidFill>
              </a:defRPr>
            </a:lvl1pPr>
          </a:lstStyle>
          <a:p>
            <a:pPr algn="r"/>
            <a:endParaRPr lang="zh-CN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 latinLnBrk="0">
              <a:defRPr lang="zh-CN">
                <a:solidFill>
                  <a:schemeClr val="tx2"/>
                </a:solidFill>
              </a:defRPr>
            </a:lvl1pPr>
          </a:lstStyle>
          <a:p>
            <a:fld id="{8F82E0A0-C266-4798-8C8F-B9F91E9DA37E}" type="slidenum">
              <a:rPr lang="zh-CN">
                <a:solidFill>
                  <a:schemeClr val="tx2"/>
                </a:solidFill>
              </a:rPr>
            </a:fld>
            <a:endParaRPr lang="zh-CN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 latinLnBrk="0">
              <a:defRPr lang="zh-CN" cap="all" baseline="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/>
            </a:fld>
            <a:endParaRPr lang="zh-CN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</a:fld>
            <a:endParaRPr lang="zh-CN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latinLnBrk="0">
              <a:buNone/>
              <a:defRPr lang="zh-CN" sz="2800">
                <a:solidFill>
                  <a:schemeClr val="tx2"/>
                </a:solidFill>
              </a:defRPr>
            </a:lvl1pPr>
            <a:lvl2pPr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latinLnBrk="0">
              <a:buNone/>
              <a:defRPr lang="zh-CN" sz="4400" b="0" cap="none">
                <a:solidFill>
                  <a:srgbClr val="FFFFFF"/>
                </a:solidFill>
              </a:defRPr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/>
            </a:fld>
            <a:endParaRPr 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latinLnBrk="0">
              <a:defRPr lang="zh-CN" sz="2400">
                <a:solidFill>
                  <a:srgbClr val="FFFFFF"/>
                </a:solidFill>
              </a:defRPr>
            </a:lvl1pPr>
          </a:lstStyle>
          <a:p>
            <a:pPr algn="ctr"/>
            <a:fld id="{8F82E0A0-C266-4798-8C8F-B9F91E9DA37E}" type="slidenum">
              <a:rPr lang="zh-CN" sz="2400" b="1">
                <a:solidFill>
                  <a:srgbClr val="FFFFFF"/>
                </a:solidFill>
              </a:rPr>
            </a:fld>
            <a:endParaRPr lang="zh-CN" sz="240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/>
            </a:fld>
            <a:endParaRPr 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</a:fld>
            <a:endParaRPr 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latinLnBrk="0">
              <a:defRPr lang="zh-CN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/>
            </a:fld>
            <a:endParaRPr lang="zh-C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</a:fld>
            <a:endParaRPr 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zh-CN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 latinLnBrk="0">
              <a:buFontTx/>
              <a:buNone/>
              <a:defRPr lang="zh-CN"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 latinLnBrk="0">
              <a:buFontTx/>
              <a:buNone/>
              <a:defRPr lang="zh-CN"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/>
            </a:fld>
            <a:endParaRPr 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zh-CN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lang="zh-CN">
                <a:solidFill>
                  <a:srgbClr val="FFFFFF"/>
                </a:solidFill>
              </a:rPr>
            </a:fld>
            <a:endParaRPr lang="zh-CN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rPr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latinLnBrk="0">
              <a:defRPr lang="zh-CN">
                <a:solidFill>
                  <a:schemeClr val="tx2"/>
                </a:solidFill>
              </a:defRPr>
            </a:lvl1pPr>
          </a:lstStyle>
          <a:p>
            <a:fld id="{A3F7CB7D-F184-43C7-B6FD-03D728E1BBFF}" type="slidenum">
              <a:rPr lang="zh-CN">
                <a:solidFill>
                  <a:schemeClr val="tx2"/>
                </a:solidFill>
              </a:rPr>
            </a:fld>
            <a:endParaRPr lang="zh-CN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latinLnBrk="0">
              <a:buNone/>
              <a:defRPr lang="zh-CN" sz="4200" b="0"/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/>
            </a:fld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0">
              <a:defRPr lang="zh-CN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lang="zh-CN">
                <a:solidFill>
                  <a:srgbClr val="FFFFFF"/>
                </a:solidFill>
              </a:rPr>
            </a:fld>
            <a:endParaRPr lang="zh-CN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latinLnBrk="0">
              <a:spcAft>
                <a:spcPts val="1000"/>
              </a:spcAft>
              <a:buNone/>
              <a:defRPr lang="zh-CN" sz="1800"/>
            </a:lvl1pPr>
            <a:lvl2pPr latinLnBrk="0">
              <a:buNone/>
              <a:defRPr lang="zh-CN" sz="1200"/>
            </a:lvl2pPr>
            <a:lvl3pPr latinLnBrk="0">
              <a:buNone/>
              <a:defRPr lang="zh-CN" sz="1000"/>
            </a:lvl3pPr>
            <a:lvl4pPr latinLnBrk="0">
              <a:buNone/>
              <a:defRPr lang="zh-CN" sz="900"/>
            </a:lvl4pPr>
            <a:lvl5pPr latinLnBrk="0">
              <a:buNone/>
              <a:defRPr lang="zh-CN" sz="900"/>
            </a:lvl5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 latinLnBrk="0">
              <a:buNone/>
              <a:defRPr lang="zh-CN" sz="3200"/>
            </a:lvl1pPr>
          </a:lstStyle>
          <a:p>
            <a:endParaRPr lang="zh-C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latinLnBrk="0">
              <a:buFontTx/>
              <a:buNone/>
              <a:defRPr lang="zh-CN" sz="1700"/>
            </a:lvl1pPr>
            <a:lvl2pPr latinLnBrk="0">
              <a:buFontTx/>
              <a:buNone/>
              <a:defRPr lang="zh-CN" sz="1200"/>
            </a:lvl2pPr>
            <a:lvl3pPr latinLnBrk="0">
              <a:buFontTx/>
              <a:buNone/>
              <a:defRPr lang="zh-CN" sz="1000"/>
            </a:lvl3pPr>
            <a:lvl4pPr latinLnBrk="0">
              <a:buFontTx/>
              <a:buNone/>
              <a:defRPr lang="zh-CN" sz="900"/>
            </a:lvl4pPr>
            <a:lvl5pPr latinLnBrk="0">
              <a:buFontTx/>
              <a:buNone/>
              <a:defRPr lang="zh-CN" sz="900"/>
            </a:lvl5pPr>
          </a:lstStyle>
          <a:p>
            <a:pPr lvl="0"/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latinLnBrk="0">
              <a:buNone/>
              <a:defRPr lang="zh-CN" sz="2800" b="0">
                <a:solidFill>
                  <a:srgbClr val="FFFFFF"/>
                </a:solidFill>
              </a:defRPr>
            </a:lvl1pPr>
          </a:lstStyle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rPr/>
            </a:fld>
            <a:endParaRPr 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latinLnBrk="0">
              <a:defRPr lang="zh-CN" sz="2800"/>
            </a:lvl1pPr>
          </a:lstStyle>
          <a:p>
            <a:pPr algn="ctr"/>
            <a:fld id="{8F82E0A0-C266-4798-8C8F-B9F91E9DA37E}" type="slidenum">
              <a:rPr lang="zh-CN" sz="2800" b="1">
                <a:solidFill>
                  <a:srgbClr val="FFFFFF"/>
                </a:solidFill>
              </a:rPr>
            </a:fld>
            <a:endParaRPr lang="zh-CN" sz="280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  <a:p>
            <a:pPr lvl="5"/>
            <a:endParaRPr lang="zh-CN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latinLnBrk="0">
              <a:defRPr lang="zh-CN" sz="1400">
                <a:solidFill>
                  <a:schemeClr val="tx2"/>
                </a:solidFill>
              </a:defRPr>
            </a:lvl1pPr>
          </a:lstStyle>
          <a:p>
            <a:fld id="{E4606EA6-EFEA-4C30-9264-4F9291A5780D}" type="datetime1">
              <a:rPr/>
            </a:fld>
            <a:endParaRPr lang="zh-CN" sz="140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latinLnBrk="0">
              <a:defRPr lang="zh-CN" sz="1400">
                <a:solidFill>
                  <a:schemeClr val="tx2"/>
                </a:solidFill>
              </a:defRPr>
            </a:lvl1pPr>
          </a:lstStyle>
          <a:p>
            <a:pPr algn="r"/>
            <a:endParaRPr lang="zh-CN" sz="140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latinLnBrk="0">
              <a:defRPr lang="zh-CN" sz="1400" b="1">
                <a:solidFill>
                  <a:srgbClr val="FFFFFF"/>
                </a:solidFill>
              </a:defRPr>
            </a:lvl1pPr>
          </a:lstStyle>
          <a:p>
            <a:pPr algn="ctr"/>
            <a:fld id="{8F82E0A0-C266-4798-8C8F-B9F91E9DA37E}" type="slidenum">
              <a:rPr lang="zh-CN" sz="1400" b="1">
                <a:solidFill>
                  <a:srgbClr val="FFFFFF"/>
                </a:solidFill>
              </a:rPr>
            </a:fld>
            <a:endParaRPr lang="zh-CN" sz="1400" b="1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latinLnBrk="0">
        <a:spcBef>
          <a:spcPct val="0"/>
        </a:spcBef>
        <a:buNone/>
        <a:defRPr lang="zh-CN" sz="4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latinLnBrk="0">
        <a:spcBef>
          <a:spcPts val="700"/>
        </a:spcBef>
        <a:buClr>
          <a:schemeClr val="accent2"/>
        </a:buClr>
        <a:buSzPct val="60000"/>
        <a:buFont typeface="Wingdings" panose="05000000000000000000"/>
        <a:buChar char=""/>
        <a:defRPr lang="zh-CN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latinLnBrk="0">
        <a:spcBef>
          <a:spcPts val="550"/>
        </a:spcBef>
        <a:buClr>
          <a:schemeClr val="accent1"/>
        </a:buClr>
        <a:buSzPct val="70000"/>
        <a:buFont typeface="Wingdings 2" panose="05020102010507070707"/>
        <a:buChar char=""/>
        <a:defRPr lang="zh-CN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latinLnBrk="0">
        <a:spcBef>
          <a:spcPts val="500"/>
        </a:spcBef>
        <a:buClr>
          <a:schemeClr val="accent2"/>
        </a:buClr>
        <a:buSzPct val="75000"/>
        <a:buFont typeface="Wingdings" panose="05000000000000000000"/>
        <a:buChar char=""/>
        <a:defRPr lang="zh-CN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latinLnBrk="0">
        <a:spcBef>
          <a:spcPts val="400"/>
        </a:spcBef>
        <a:buClr>
          <a:schemeClr val="accent3"/>
        </a:buClr>
        <a:buSzPct val="75000"/>
        <a:buFont typeface="Wingdings" panose="05000000000000000000"/>
        <a:buChar char="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latinLnBrk="0">
        <a:spcBef>
          <a:spcPts val="400"/>
        </a:spcBef>
        <a:buClr>
          <a:schemeClr val="accent4"/>
        </a:buClr>
        <a:buSzPct val="65000"/>
        <a:buFont typeface="Wingdings" panose="05000000000000000000"/>
        <a:buChar char="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latinLnBrk="0">
        <a:spcBef>
          <a:spcPct val="20000"/>
        </a:spcBef>
        <a:buClr>
          <a:schemeClr val="accent1"/>
        </a:buClr>
        <a:buFont typeface="Wingdings" panose="05000000000000000000"/>
        <a:buNone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latinLnBrk="0">
        <a:spcBef>
          <a:spcPct val="20000"/>
        </a:spcBef>
        <a:buClr>
          <a:schemeClr val="accent2"/>
        </a:buClr>
        <a:buFont typeface="Wingdings" panose="05000000000000000000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latinLnBrk="0">
        <a:spcBef>
          <a:spcPct val="20000"/>
        </a:spcBef>
        <a:buClr>
          <a:schemeClr val="accent3"/>
        </a:buClr>
        <a:buFont typeface="Wingdings" panose="05000000000000000000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latinLnBrk="0">
        <a:spcBef>
          <a:spcPct val="20000"/>
        </a:spcBef>
        <a:buClr>
          <a:schemeClr val="accent4"/>
        </a:buClr>
        <a:buFont typeface="Wingdings" panose="05000000000000000000"/>
        <a:buChar char="§"/>
        <a:defRPr lang="zh-CN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latinLnBrk="0">
        <a:defRPr lang="zh-CN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685800" y="482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后台管理员系统</a:t>
            </a:r>
            <a:r>
              <a:rPr lang="en-US" altLang="zh-CN" sz="16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altLang="en-US" sz="16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阶段一</a:t>
            </a:r>
            <a:endParaRPr altLang="en-US" sz="1600" b="1" dirty="0">
              <a:solidFill>
                <a:srgbClr val="FF6B3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609600" y="1295400"/>
            <a:ext cx="74930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5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阶段一：</a:t>
            </a:r>
            <a:endParaRPr lang="zh-CN" altLang="en-US" sz="5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5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</a:t>
            </a:r>
            <a:r>
              <a:rPr lang="zh-CN" altLang="en-US" sz="5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管理</a:t>
            </a:r>
            <a:endParaRPr lang="zh-CN" altLang="en-US" sz="50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35000" y="3225800"/>
            <a:ext cx="660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1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取值、降压到权限、锁与审计闭环</a:t>
            </a:r>
            <a:endParaRPr lang="zh-CN" sz="2100"/>
          </a:p>
        </p:txBody>
      </p:sp>
      <p:sp>
        <p:nvSpPr>
          <p:cNvPr id="6" name="Rectangle 6"/>
          <p:cNvSpPr/>
          <p:nvPr/>
        </p:nvSpPr>
        <p:spPr>
          <a:xfrm>
            <a:off x="8305800" y="609600"/>
            <a:ext cx="1473200" cy="14732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8509000" y="800100"/>
            <a:ext cx="1066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sz="2700"/>
          </a:p>
        </p:txBody>
      </p:sp>
      <p:sp>
        <p:nvSpPr>
          <p:cNvPr id="8" name="Text 8"/>
          <p:cNvSpPr txBox="1"/>
          <p:nvPr/>
        </p:nvSpPr>
        <p:spPr>
          <a:xfrm>
            <a:off x="8509000" y="1422400"/>
            <a:ext cx="1066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数据路径</a:t>
            </a:r>
            <a:endParaRPr lang="zh-CN" sz="1300"/>
          </a:p>
        </p:txBody>
      </p:sp>
      <p:sp>
        <p:nvSpPr>
          <p:cNvPr id="9" name="Rectangle 9"/>
          <p:cNvSpPr/>
          <p:nvPr/>
        </p:nvSpPr>
        <p:spPr>
          <a:xfrm>
            <a:off x="9982200" y="609600"/>
            <a:ext cx="1600200" cy="14732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10185400" y="800100"/>
            <a:ext cx="1193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sz="2700"/>
          </a:p>
        </p:txBody>
      </p:sp>
      <p:sp>
        <p:nvSpPr>
          <p:cNvPr id="11" name="Text 11"/>
          <p:cNvSpPr txBox="1"/>
          <p:nvPr/>
        </p:nvSpPr>
        <p:spPr>
          <a:xfrm>
            <a:off x="10185400" y="1422400"/>
            <a:ext cx="1193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数据库账号职责</a:t>
            </a:r>
            <a:endParaRPr lang="zh-CN" sz="1300"/>
          </a:p>
        </p:txBody>
      </p:sp>
      <p:sp>
        <p:nvSpPr>
          <p:cNvPr id="12" name="Rectangle 12"/>
          <p:cNvSpPr/>
          <p:nvPr/>
        </p:nvSpPr>
        <p:spPr>
          <a:xfrm>
            <a:off x="8305800" y="2286000"/>
            <a:ext cx="1473200" cy="14732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8509000" y="2476500"/>
            <a:ext cx="1066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sz="2700"/>
          </a:p>
        </p:txBody>
      </p:sp>
      <p:sp>
        <p:nvSpPr>
          <p:cNvPr id="14" name="Text 14"/>
          <p:cNvSpPr txBox="1"/>
          <p:nvPr/>
        </p:nvSpPr>
        <p:spPr>
          <a:xfrm>
            <a:off x="8509000" y="3098800"/>
            <a:ext cx="1066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共享快照类型</a:t>
            </a:r>
            <a:endParaRPr lang="zh-CN" sz="1300"/>
          </a:p>
        </p:txBody>
      </p:sp>
      <p:sp>
        <p:nvSpPr>
          <p:cNvPr id="15" name="Rectangle 15"/>
          <p:cNvSpPr/>
          <p:nvPr/>
        </p:nvSpPr>
        <p:spPr>
          <a:xfrm>
            <a:off x="9982200" y="2286000"/>
            <a:ext cx="1600200" cy="147320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10185400" y="2476500"/>
            <a:ext cx="1193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37</a:t>
            </a:r>
            <a:endParaRPr lang="zh-CN" sz="2700"/>
          </a:p>
        </p:txBody>
      </p:sp>
      <p:sp>
        <p:nvSpPr>
          <p:cNvPr id="17" name="Text 17"/>
          <p:cNvSpPr txBox="1"/>
          <p:nvPr/>
        </p:nvSpPr>
        <p:spPr>
          <a:xfrm>
            <a:off x="10185400" y="3098800"/>
            <a:ext cx="1193800" cy="520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相关提交</a:t>
            </a:r>
            <a:endParaRPr lang="zh-CN" sz="1300"/>
          </a:p>
        </p:txBody>
      </p:sp>
      <p:sp>
        <p:nvSpPr>
          <p:cNvPr id="18" name="Rectangle 18"/>
          <p:cNvSpPr/>
          <p:nvPr/>
        </p:nvSpPr>
        <p:spPr>
          <a:xfrm>
            <a:off x="609600" y="4876800"/>
            <a:ext cx="10972800" cy="1066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965200" y="5143500"/>
            <a:ext cx="10261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看得见 · 读得稳 · 写得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进 · 查得到</a:t>
            </a:r>
            <a:endParaRPr lang="zh-CN" sz="2400"/>
          </a:p>
        </p:txBody>
      </p:sp>
      <p:sp>
        <p:nvSpPr>
          <p:cNvPr id="20" name="Text 20"/>
          <p:cNvSpPr txBox="1"/>
          <p:nvPr/>
        </p:nvSpPr>
        <p:spPr>
          <a:xfrm>
            <a:off x="11049000" y="63754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06400" y="304800"/>
            <a:ext cx="127000" cy="127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11200" y="203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管理风险：查询会不会</a:t>
            </a:r>
            <a:r>
              <a:rPr lang="en-US" altLang="zh-CN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伤</a:t>
            </a:r>
            <a:r>
              <a:rPr lang="en-US" altLang="zh-CN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到数据库</a:t>
            </a:r>
            <a:endParaRPr lang="zh-CN" sz="3400"/>
          </a:p>
        </p:txBody>
      </p:sp>
      <p:cxnSp>
        <p:nvCxnSpPr>
          <p:cNvPr id="4" name="Connector 4"/>
          <p:cNvCxnSpPr/>
          <p:nvPr/>
        </p:nvCxnSpPr>
        <p:spPr>
          <a:xfrm>
            <a:off x="406400" y="6248400"/>
            <a:ext cx="113792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406400" y="637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11252200" y="63500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1000"/>
          </a:p>
        </p:txBody>
      </p:sp>
      <p:sp>
        <p:nvSpPr>
          <p:cNvPr id="7" name="Rectangle 7"/>
          <p:cNvSpPr/>
          <p:nvPr>
            <p:custDataLst>
              <p:tags r:id="rId1"/>
            </p:custDataLst>
          </p:nvPr>
        </p:nvSpPr>
        <p:spPr>
          <a:xfrm>
            <a:off x="406400" y="1447800"/>
            <a:ext cx="3530600" cy="28956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8" name="Rectangle 8"/>
          <p:cNvSpPr/>
          <p:nvPr>
            <p:custDataLst>
              <p:tags r:id="rId2"/>
            </p:custDataLst>
          </p:nvPr>
        </p:nvSpPr>
        <p:spPr>
          <a:xfrm>
            <a:off x="406400" y="1447800"/>
            <a:ext cx="88900" cy="28956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9" name="Text 9"/>
          <p:cNvSpPr txBox="1"/>
          <p:nvPr>
            <p:custDataLst>
              <p:tags r:id="rId3"/>
            </p:custDataLst>
          </p:nvPr>
        </p:nvSpPr>
        <p:spPr>
          <a:xfrm>
            <a:off x="660400" y="1663700"/>
            <a:ext cx="3073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刷新放大查询</a:t>
            </a:r>
            <a:endParaRPr lang="zh-CN" sz="2200"/>
          </a:p>
        </p:txBody>
      </p:sp>
      <p:sp>
        <p:nvSpPr>
          <p:cNvPr id="10" name="Text 10"/>
          <p:cNvSpPr txBox="1"/>
          <p:nvPr>
            <p:custDataLst>
              <p:tags r:id="rId4"/>
            </p:custDataLst>
          </p:nvPr>
        </p:nvSpPr>
        <p:spPr>
          <a:xfrm>
            <a:off x="660400" y="2171700"/>
            <a:ext cx="3073400" cy="200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每个浏览器都现场采集，监控自己可能变成新负载。</a:t>
            </a:r>
            <a:endParaRPr lang="zh-CN" sz="1500"/>
          </a:p>
        </p:txBody>
      </p:sp>
      <p:sp>
        <p:nvSpPr>
          <p:cNvPr id="11" name="Rectangle 11"/>
          <p:cNvSpPr/>
          <p:nvPr>
            <p:custDataLst>
              <p:tags r:id="rId5"/>
            </p:custDataLst>
          </p:nvPr>
        </p:nvSpPr>
        <p:spPr>
          <a:xfrm>
            <a:off x="4330700" y="1447800"/>
            <a:ext cx="3530600" cy="28956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2" name="Rectangle 12"/>
          <p:cNvSpPr/>
          <p:nvPr>
            <p:custDataLst>
              <p:tags r:id="rId6"/>
            </p:custDataLst>
          </p:nvPr>
        </p:nvSpPr>
        <p:spPr>
          <a:xfrm>
            <a:off x="4330700" y="1447800"/>
            <a:ext cx="88900" cy="289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3" name="Text 13"/>
          <p:cNvSpPr txBox="1"/>
          <p:nvPr>
            <p:custDataLst>
              <p:tags r:id="rId7"/>
            </p:custDataLst>
          </p:nvPr>
        </p:nvSpPr>
        <p:spPr>
          <a:xfrm>
            <a:off x="4584700" y="1663700"/>
            <a:ext cx="3073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权限只靠前端</a:t>
            </a:r>
            <a:endParaRPr lang="zh-CN" sz="2200"/>
          </a:p>
        </p:txBody>
      </p:sp>
      <p:sp>
        <p:nvSpPr>
          <p:cNvPr id="14" name="Text 14"/>
          <p:cNvSpPr txBox="1"/>
          <p:nvPr>
            <p:custDataLst>
              <p:tags r:id="rId8"/>
            </p:custDataLst>
          </p:nvPr>
        </p:nvSpPr>
        <p:spPr>
          <a:xfrm>
            <a:off x="4584700" y="2171700"/>
            <a:ext cx="3073400" cy="200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隐藏按钮挡不住直接调用接口，旧 Session 也可能保留过期角色。</a:t>
            </a:r>
            <a:endParaRPr lang="zh-CN" sz="1500"/>
          </a:p>
        </p:txBody>
      </p:sp>
      <p:sp>
        <p:nvSpPr>
          <p:cNvPr id="15" name="Rectangle 15"/>
          <p:cNvSpPr/>
          <p:nvPr>
            <p:custDataLst>
              <p:tags r:id="rId9"/>
            </p:custDataLst>
          </p:nvPr>
        </p:nvSpPr>
        <p:spPr>
          <a:xfrm>
            <a:off x="8255000" y="1447800"/>
            <a:ext cx="3530600" cy="28956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6" name="Rectangle 16"/>
          <p:cNvSpPr/>
          <p:nvPr>
            <p:custDataLst>
              <p:tags r:id="rId10"/>
            </p:custDataLst>
          </p:nvPr>
        </p:nvSpPr>
        <p:spPr>
          <a:xfrm>
            <a:off x="8255000" y="1447800"/>
            <a:ext cx="88900" cy="2895600"/>
          </a:xfrm>
          <a:prstGeom prst="rect">
            <a:avLst/>
          </a:prstGeom>
          <a:solidFill>
            <a:srgbClr val="C23B22"/>
          </a:solidFill>
          <a:ln>
            <a:noFill/>
          </a:ln>
        </p:spPr>
      </p:sp>
      <p:sp>
        <p:nvSpPr>
          <p:cNvPr id="17" name="Text 17"/>
          <p:cNvSpPr txBox="1"/>
          <p:nvPr>
            <p:custDataLst>
              <p:tags r:id="rId11"/>
            </p:custDataLst>
          </p:nvPr>
        </p:nvSpPr>
        <p:spPr>
          <a:xfrm>
            <a:off x="8509000" y="1663700"/>
            <a:ext cx="3073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并发把锁拖死</a:t>
            </a:r>
            <a:endParaRPr lang="zh-CN" sz="2200"/>
          </a:p>
        </p:txBody>
      </p:sp>
      <p:sp>
        <p:nvSpPr>
          <p:cNvPr id="18" name="Text 18"/>
          <p:cNvSpPr txBox="1"/>
          <p:nvPr>
            <p:custDataLst>
              <p:tags r:id="rId12"/>
            </p:custDataLst>
          </p:nvPr>
        </p:nvSpPr>
        <p:spPr>
          <a:xfrm>
            <a:off x="8509000" y="2171700"/>
            <a:ext cx="3073400" cy="200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锁顺序不稳定、等待无限、重复重试，都会放大写入风险。</a:t>
            </a:r>
            <a:endParaRPr lang="zh-CN" sz="1500"/>
          </a:p>
        </p:txBody>
      </p:sp>
      <p:sp>
        <p:nvSpPr>
          <p:cNvPr id="19" name="Rectangle 19"/>
          <p:cNvSpPr/>
          <p:nvPr/>
        </p:nvSpPr>
        <p:spPr>
          <a:xfrm>
            <a:off x="406400" y="4724400"/>
            <a:ext cx="11379200" cy="96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711200" y="4965700"/>
            <a:ext cx="107696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23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阶段一目标：可观测 / 可控 / 可追溯</a:t>
            </a:r>
            <a:endParaRPr lang="zh-CN"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06400" y="304800"/>
            <a:ext cx="127000" cy="127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11200" y="203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有关数据库</a:t>
            </a:r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的动作，分成三条路径</a:t>
            </a:r>
            <a:endParaRPr lang="zh-CN" sz="3400"/>
          </a:p>
        </p:txBody>
      </p:sp>
      <p:cxnSp>
        <p:nvCxnSpPr>
          <p:cNvPr id="4" name="Connector 4"/>
          <p:cNvCxnSpPr/>
          <p:nvPr/>
        </p:nvCxnSpPr>
        <p:spPr>
          <a:xfrm>
            <a:off x="406400" y="6248400"/>
            <a:ext cx="113792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406400" y="637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11252200" y="63500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1000"/>
          </a:p>
        </p:txBody>
      </p:sp>
      <p:sp>
        <p:nvSpPr>
          <p:cNvPr id="7" name="Rectangle 7"/>
          <p:cNvSpPr/>
          <p:nvPr/>
        </p:nvSpPr>
        <p:spPr>
          <a:xfrm>
            <a:off x="406400" y="1473200"/>
            <a:ext cx="1092200" cy="3175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06400" y="1498600"/>
            <a:ext cx="109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OBSERVE</a:t>
            </a:r>
            <a:endParaRPr lang="zh-CN" sz="1100"/>
          </a:p>
        </p:txBody>
      </p:sp>
      <p:sp>
        <p:nvSpPr>
          <p:cNvPr id="9" name="Text 9"/>
          <p:cNvSpPr txBox="1"/>
          <p:nvPr/>
        </p:nvSpPr>
        <p:spPr>
          <a:xfrm>
            <a:off x="1752600" y="1447800"/>
            <a:ext cx="1676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监控观测</a:t>
            </a:r>
            <a:endParaRPr lang="zh-CN" sz="1900"/>
          </a:p>
        </p:txBody>
      </p:sp>
      <p:cxnSp>
        <p:nvCxnSpPr>
          <p:cNvPr id="10" name="Connector 10"/>
          <p:cNvCxnSpPr/>
          <p:nvPr/>
        </p:nvCxnSpPr>
        <p:spPr>
          <a:xfrm>
            <a:off x="3556000" y="1625600"/>
            <a:ext cx="1079500" cy="1270"/>
          </a:xfrm>
          <a:prstGeom prst="line">
            <a:avLst/>
          </a:prstGeom>
          <a:ln w="25400">
            <a:solidFill>
              <a:srgbClr val="B8BCC4"/>
            </a:solidFill>
            <a:tailEnd type="triangle" w="sm" len="sm"/>
          </a:ln>
        </p:spPr>
      </p:cxnSp>
      <p:sp>
        <p:nvSpPr>
          <p:cNvPr id="11" name="Rectangle 11"/>
          <p:cNvSpPr/>
          <p:nvPr/>
        </p:nvSpPr>
        <p:spPr>
          <a:xfrm>
            <a:off x="4851400" y="1270000"/>
            <a:ext cx="3606800" cy="7112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080000" y="1447800"/>
            <a:ext cx="3149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5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独立 monitor → 共享快照</a:t>
            </a:r>
            <a:endParaRPr lang="zh-CN" sz="1500"/>
          </a:p>
        </p:txBody>
      </p:sp>
      <p:cxnSp>
        <p:nvCxnSpPr>
          <p:cNvPr id="13" name="Connector 13"/>
          <p:cNvCxnSpPr/>
          <p:nvPr/>
        </p:nvCxnSpPr>
        <p:spPr>
          <a:xfrm>
            <a:off x="8636000" y="1625600"/>
            <a:ext cx="990600" cy="1270"/>
          </a:xfrm>
          <a:prstGeom prst="line">
            <a:avLst/>
          </a:prstGeom>
          <a:ln w="25400">
            <a:solidFill>
              <a:srgbClr val="B8BCC4"/>
            </a:solidFill>
            <a:tailEnd type="triangle" w="sm" len="sm"/>
          </a:ln>
        </p:spPr>
      </p:cxnSp>
      <p:sp>
        <p:nvSpPr>
          <p:cNvPr id="14" name="Text 14"/>
          <p:cNvSpPr txBox="1"/>
          <p:nvPr/>
        </p:nvSpPr>
        <p:spPr>
          <a:xfrm>
            <a:off x="9829800" y="1447800"/>
            <a:ext cx="1955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数据库看板</a:t>
            </a:r>
            <a:endParaRPr lang="zh-CN" sz="1250"/>
          </a:p>
        </p:txBody>
      </p:sp>
      <p:sp>
        <p:nvSpPr>
          <p:cNvPr id="15" name="Rectangle 15"/>
          <p:cNvSpPr/>
          <p:nvPr/>
        </p:nvSpPr>
        <p:spPr>
          <a:xfrm>
            <a:off x="406400" y="2946400"/>
            <a:ext cx="1092200" cy="317500"/>
          </a:xfrm>
          <a:prstGeom prst="rect">
            <a:avLst/>
          </a:prstGeom>
          <a:solidFill>
            <a:srgbClr val="276EF1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06400" y="2971800"/>
            <a:ext cx="109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zh-CN" sz="1100"/>
          </a:p>
        </p:txBody>
      </p:sp>
      <p:sp>
        <p:nvSpPr>
          <p:cNvPr id="17" name="Text 17"/>
          <p:cNvSpPr txBox="1"/>
          <p:nvPr/>
        </p:nvSpPr>
        <p:spPr>
          <a:xfrm>
            <a:off x="1752600" y="2921000"/>
            <a:ext cx="1676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业务读取</a:t>
            </a:r>
            <a:endParaRPr lang="zh-CN" sz="1900"/>
          </a:p>
        </p:txBody>
      </p:sp>
      <p:cxnSp>
        <p:nvCxnSpPr>
          <p:cNvPr id="18" name="Connector 18"/>
          <p:cNvCxnSpPr/>
          <p:nvPr/>
        </p:nvCxnSpPr>
        <p:spPr>
          <a:xfrm>
            <a:off x="3556000" y="3098800"/>
            <a:ext cx="1079500" cy="1270"/>
          </a:xfrm>
          <a:prstGeom prst="line">
            <a:avLst/>
          </a:prstGeom>
          <a:ln w="25400">
            <a:solidFill>
              <a:srgbClr val="B8BCC4"/>
            </a:solidFill>
            <a:tailEnd type="triangle" w="sm" len="sm"/>
          </a:ln>
        </p:spPr>
      </p:cxnSp>
      <p:sp>
        <p:nvSpPr>
          <p:cNvPr id="19" name="Rectangle 19"/>
          <p:cNvSpPr/>
          <p:nvPr/>
        </p:nvSpPr>
        <p:spPr>
          <a:xfrm>
            <a:off x="4851400" y="2743200"/>
            <a:ext cx="3606800" cy="7112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5080000" y="2921000"/>
            <a:ext cx="3149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5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strong / eventual 一致性路由</a:t>
            </a:r>
            <a:endParaRPr lang="zh-CN" sz="1500"/>
          </a:p>
        </p:txBody>
      </p:sp>
      <p:cxnSp>
        <p:nvCxnSpPr>
          <p:cNvPr id="21" name="Connector 21"/>
          <p:cNvCxnSpPr/>
          <p:nvPr/>
        </p:nvCxnSpPr>
        <p:spPr>
          <a:xfrm>
            <a:off x="8636000" y="3098800"/>
            <a:ext cx="990600" cy="1270"/>
          </a:xfrm>
          <a:prstGeom prst="line">
            <a:avLst/>
          </a:prstGeom>
          <a:ln w="25400">
            <a:solidFill>
              <a:srgbClr val="B8BCC4"/>
            </a:solidFill>
            <a:tailEnd type="triangle" w="sm" len="sm"/>
          </a:ln>
        </p:spPr>
      </p:cxnSp>
      <p:sp>
        <p:nvSpPr>
          <p:cNvPr id="22" name="Text 22"/>
          <p:cNvSpPr txBox="1"/>
          <p:nvPr/>
        </p:nvSpPr>
        <p:spPr>
          <a:xfrm>
            <a:off x="9829800" y="2921000"/>
            <a:ext cx="1955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列表 / 详情 / 任务事件</a:t>
            </a:r>
            <a:endParaRPr lang="zh-CN" sz="1250"/>
          </a:p>
        </p:txBody>
      </p:sp>
      <p:sp>
        <p:nvSpPr>
          <p:cNvPr id="23" name="Rectangle 23"/>
          <p:cNvSpPr/>
          <p:nvPr/>
        </p:nvSpPr>
        <p:spPr>
          <a:xfrm>
            <a:off x="406400" y="4419600"/>
            <a:ext cx="1092200" cy="317500"/>
          </a:xfrm>
          <a:prstGeom prst="rect">
            <a:avLst/>
          </a:prstGeom>
          <a:solidFill>
            <a:srgbClr val="178A5B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406400" y="4445000"/>
            <a:ext cx="109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zh-CN" sz="1100"/>
          </a:p>
        </p:txBody>
      </p:sp>
      <p:sp>
        <p:nvSpPr>
          <p:cNvPr id="25" name="Text 25"/>
          <p:cNvSpPr txBox="1"/>
          <p:nvPr/>
        </p:nvSpPr>
        <p:spPr>
          <a:xfrm>
            <a:off x="1752600" y="4394200"/>
            <a:ext cx="1676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受控写入</a:t>
            </a:r>
            <a:endParaRPr lang="zh-CN" sz="1900"/>
          </a:p>
        </p:txBody>
      </p:sp>
      <p:cxnSp>
        <p:nvCxnSpPr>
          <p:cNvPr id="26" name="Connector 26"/>
          <p:cNvCxnSpPr/>
          <p:nvPr/>
        </p:nvCxnSpPr>
        <p:spPr>
          <a:xfrm>
            <a:off x="3556000" y="4572000"/>
            <a:ext cx="1079500" cy="1270"/>
          </a:xfrm>
          <a:prstGeom prst="line">
            <a:avLst/>
          </a:prstGeom>
          <a:ln w="25400">
            <a:solidFill>
              <a:srgbClr val="B8BCC4"/>
            </a:solidFill>
            <a:tailEnd type="triangle" w="sm" len="sm"/>
          </a:ln>
        </p:spPr>
      </p:cxnSp>
      <p:sp>
        <p:nvSpPr>
          <p:cNvPr id="27" name="Rectangle 27"/>
          <p:cNvSpPr/>
          <p:nvPr/>
        </p:nvSpPr>
        <p:spPr>
          <a:xfrm>
            <a:off x="4851400" y="4216400"/>
            <a:ext cx="3606800" cy="7112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5080000" y="4394200"/>
            <a:ext cx="3149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5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预览 → 认证 → 事务 → 审计</a:t>
            </a:r>
            <a:endParaRPr lang="zh-CN" sz="1500"/>
          </a:p>
        </p:txBody>
      </p:sp>
      <p:cxnSp>
        <p:nvCxnSpPr>
          <p:cNvPr id="29" name="Connector 29"/>
          <p:cNvCxnSpPr/>
          <p:nvPr/>
        </p:nvCxnSpPr>
        <p:spPr>
          <a:xfrm>
            <a:off x="8636000" y="4572000"/>
            <a:ext cx="990600" cy="1270"/>
          </a:xfrm>
          <a:prstGeom prst="line">
            <a:avLst/>
          </a:prstGeom>
          <a:ln w="25400">
            <a:solidFill>
              <a:srgbClr val="B8BCC4"/>
            </a:solidFill>
            <a:tailEnd type="triangle" w="sm" len="sm"/>
          </a:ln>
        </p:spPr>
      </p:cxnSp>
      <p:sp>
        <p:nvSpPr>
          <p:cNvPr id="30" name="Text 30"/>
          <p:cNvSpPr txBox="1"/>
          <p:nvPr/>
        </p:nvSpPr>
        <p:spPr>
          <a:xfrm>
            <a:off x="9829800" y="4394200"/>
            <a:ext cx="1955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用户、角色、文件变更</a:t>
            </a:r>
            <a:endParaRPr lang="zh-CN" sz="1250"/>
          </a:p>
        </p:txBody>
      </p:sp>
      <p:sp>
        <p:nvSpPr>
          <p:cNvPr id="31" name="Text 31"/>
          <p:cNvSpPr txBox="1"/>
          <p:nvPr/>
        </p:nvSpPr>
        <p:spPr>
          <a:xfrm>
            <a:off x="9321800" y="5499100"/>
            <a:ext cx="246380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8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先分流，再优化</a:t>
            </a:r>
            <a:endParaRPr lang="zh-CN" sz="180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150" y="320675"/>
            <a:ext cx="10807700" cy="621665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" y="454025"/>
            <a:ext cx="10807700" cy="594995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25" y="266700"/>
            <a:ext cx="10598150" cy="632460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352425"/>
            <a:ext cx="10839450" cy="615315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590550"/>
            <a:ext cx="10896600" cy="5676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06400" y="304800"/>
            <a:ext cx="127000" cy="127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11200" y="203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先标准化</a:t>
            </a:r>
            <a:r>
              <a:rPr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MySQL 的值</a:t>
            </a:r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再展示</a:t>
            </a:r>
            <a:endParaRPr lang="zh-CN" sz="3400"/>
          </a:p>
        </p:txBody>
      </p:sp>
      <p:cxnSp>
        <p:nvCxnSpPr>
          <p:cNvPr id="4" name="Connector 4"/>
          <p:cNvCxnSpPr/>
          <p:nvPr/>
        </p:nvCxnSpPr>
        <p:spPr>
          <a:xfrm>
            <a:off x="406400" y="6248400"/>
            <a:ext cx="113792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406400" y="637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11252200" y="63500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1000"/>
          </a:p>
        </p:txBody>
      </p:sp>
      <p:sp>
        <p:nvSpPr>
          <p:cNvPr id="7" name="Rectangle 7"/>
          <p:cNvSpPr/>
          <p:nvPr/>
        </p:nvSpPr>
        <p:spPr>
          <a:xfrm>
            <a:off x="406400" y="1371600"/>
            <a:ext cx="1320800" cy="3175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06400" y="1397000"/>
            <a:ext cx="132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MYSQL FACTS</a:t>
            </a:r>
            <a:endParaRPr lang="zh-CN" sz="1100"/>
          </a:p>
        </p:txBody>
      </p:sp>
      <p:sp>
        <p:nvSpPr>
          <p:cNvPr id="9" name="Rectangle 9"/>
          <p:cNvSpPr/>
          <p:nvPr/>
        </p:nvSpPr>
        <p:spPr>
          <a:xfrm>
            <a:off x="406400" y="1955800"/>
            <a:ext cx="2489200" cy="1041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84200" y="2159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SHOW STATUS</a:t>
            </a:r>
            <a:endParaRPr lang="zh-CN" sz="1400"/>
          </a:p>
        </p:txBody>
      </p:sp>
      <p:sp>
        <p:nvSpPr>
          <p:cNvPr id="11" name="Text 11"/>
          <p:cNvSpPr txBox="1"/>
          <p:nvPr/>
        </p:nvSpPr>
        <p:spPr>
          <a:xfrm>
            <a:off x="584200" y="25654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1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连接 / QPS / Slow_queries</a:t>
            </a:r>
            <a:endParaRPr lang="zh-CN" sz="1150"/>
          </a:p>
        </p:txBody>
      </p:sp>
      <p:sp>
        <p:nvSpPr>
          <p:cNvPr id="13" name="Rectangle 13"/>
          <p:cNvSpPr/>
          <p:nvPr/>
        </p:nvSpPr>
        <p:spPr>
          <a:xfrm>
            <a:off x="3175000" y="1955800"/>
            <a:ext cx="2489200" cy="1041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352800" y="2159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SHOW VARIABLES</a:t>
            </a:r>
            <a:endParaRPr lang="zh-CN" sz="1400"/>
          </a:p>
        </p:txBody>
      </p:sp>
      <p:sp>
        <p:nvSpPr>
          <p:cNvPr id="15" name="Text 15"/>
          <p:cNvSpPr txBox="1"/>
          <p:nvPr/>
        </p:nvSpPr>
        <p:spPr>
          <a:xfrm>
            <a:off x="3352800" y="25654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1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max_connections / 运行参数</a:t>
            </a:r>
            <a:endParaRPr lang="zh-CN" sz="1150"/>
          </a:p>
        </p:txBody>
      </p:sp>
      <p:sp>
        <p:nvSpPr>
          <p:cNvPr id="17" name="Rectangle 17"/>
          <p:cNvSpPr/>
          <p:nvPr/>
        </p:nvSpPr>
        <p:spPr>
          <a:xfrm>
            <a:off x="5943600" y="1955800"/>
            <a:ext cx="2489200" cy="1041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121400" y="2159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25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information_schema</a:t>
            </a:r>
            <a:endParaRPr lang="zh-CN" sz="1250"/>
          </a:p>
        </p:txBody>
      </p:sp>
      <p:sp>
        <p:nvSpPr>
          <p:cNvPr id="19" name="Text 19"/>
          <p:cNvSpPr txBox="1"/>
          <p:nvPr/>
        </p:nvSpPr>
        <p:spPr>
          <a:xfrm>
            <a:off x="6121400" y="25654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1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表容量 / Schema 事实</a:t>
            </a:r>
            <a:endParaRPr lang="zh-CN" sz="1150"/>
          </a:p>
        </p:txBody>
      </p:sp>
      <p:sp>
        <p:nvSpPr>
          <p:cNvPr id="21" name="Rectangle 21"/>
          <p:cNvSpPr/>
          <p:nvPr/>
        </p:nvSpPr>
        <p:spPr>
          <a:xfrm>
            <a:off x="8712200" y="1955800"/>
            <a:ext cx="2489200" cy="1041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8890000" y="2159000"/>
            <a:ext cx="213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25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performance_schema</a:t>
            </a:r>
            <a:endParaRPr lang="zh-CN" sz="1250"/>
          </a:p>
        </p:txBody>
      </p:sp>
      <p:sp>
        <p:nvSpPr>
          <p:cNvPr id="23" name="Text 23"/>
          <p:cNvSpPr txBox="1"/>
          <p:nvPr/>
        </p:nvSpPr>
        <p:spPr>
          <a:xfrm>
            <a:off x="8890000" y="2565400"/>
            <a:ext cx="2133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1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SQL Digest / 高负载摘要</a:t>
            </a:r>
            <a:endParaRPr lang="zh-CN" sz="1150"/>
          </a:p>
        </p:txBody>
      </p:sp>
      <p:sp>
        <p:nvSpPr>
          <p:cNvPr id="25" name="Rectangle 25"/>
          <p:cNvSpPr/>
          <p:nvPr/>
        </p:nvSpPr>
        <p:spPr>
          <a:xfrm>
            <a:off x="406400" y="3733800"/>
            <a:ext cx="2489200" cy="1295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558800" y="4000500"/>
            <a:ext cx="2184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35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Database.inspection</a:t>
            </a:r>
            <a:endParaRPr lang="zh-CN" sz="1350"/>
          </a:p>
        </p:txBody>
      </p:sp>
      <p:sp>
        <p:nvSpPr>
          <p:cNvPr id="27" name="Text 27"/>
          <p:cNvSpPr txBox="1"/>
          <p:nvPr/>
        </p:nvSpPr>
        <p:spPr>
          <a:xfrm>
            <a:off x="558800" y="44577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按来源采集</a:t>
            </a:r>
            <a:endParaRPr lang="zh-CN" sz="1250"/>
          </a:p>
        </p:txBody>
      </p:sp>
      <p:cxnSp>
        <p:nvCxnSpPr>
          <p:cNvPr id="28" name="Connector 28"/>
          <p:cNvCxnSpPr/>
          <p:nvPr/>
        </p:nvCxnSpPr>
        <p:spPr>
          <a:xfrm>
            <a:off x="2921000" y="4381500"/>
            <a:ext cx="228600" cy="1270"/>
          </a:xfrm>
          <a:prstGeom prst="line">
            <a:avLst/>
          </a:prstGeom>
          <a:ln w="25400">
            <a:solidFill>
              <a:srgbClr val="FF6B35"/>
            </a:solidFill>
            <a:tailEnd type="triangle" w="sm" len="sm"/>
          </a:ln>
        </p:spPr>
      </p:cxnSp>
      <p:sp>
        <p:nvSpPr>
          <p:cNvPr id="29" name="Rectangle 29"/>
          <p:cNvSpPr/>
          <p:nvPr/>
        </p:nvSpPr>
        <p:spPr>
          <a:xfrm>
            <a:off x="3175000" y="3733800"/>
            <a:ext cx="2489200" cy="1295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3327400" y="4000500"/>
            <a:ext cx="2184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65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标准 DTO</a:t>
            </a:r>
            <a:endParaRPr lang="zh-CN" sz="1650"/>
          </a:p>
        </p:txBody>
      </p:sp>
      <p:sp>
        <p:nvSpPr>
          <p:cNvPr id="31" name="Text 31"/>
          <p:cNvSpPr txBox="1"/>
          <p:nvPr/>
        </p:nvSpPr>
        <p:spPr>
          <a:xfrm>
            <a:off x="3327400" y="44577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统一字段 / 来源 / 时间</a:t>
            </a:r>
            <a:endParaRPr lang="zh-CN" sz="1250"/>
          </a:p>
        </p:txBody>
      </p:sp>
      <p:cxnSp>
        <p:nvCxnSpPr>
          <p:cNvPr id="32" name="Connector 32"/>
          <p:cNvCxnSpPr/>
          <p:nvPr/>
        </p:nvCxnSpPr>
        <p:spPr>
          <a:xfrm>
            <a:off x="5689600" y="4381500"/>
            <a:ext cx="228600" cy="1270"/>
          </a:xfrm>
          <a:prstGeom prst="line">
            <a:avLst/>
          </a:prstGeom>
          <a:ln w="25400">
            <a:solidFill>
              <a:srgbClr val="FF6B35"/>
            </a:solidFill>
            <a:tailEnd type="triangle" w="sm" len="sm"/>
          </a:ln>
        </p:spPr>
      </p:cxnSp>
      <p:sp>
        <p:nvSpPr>
          <p:cNvPr id="33" name="Rectangle 33"/>
          <p:cNvSpPr/>
          <p:nvPr/>
        </p:nvSpPr>
        <p:spPr>
          <a:xfrm>
            <a:off x="5943600" y="3733800"/>
            <a:ext cx="2489200" cy="1295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6096000" y="4000500"/>
            <a:ext cx="2184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65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snapshot table</a:t>
            </a:r>
            <a:endParaRPr lang="zh-CN" sz="1650"/>
          </a:p>
        </p:txBody>
      </p:sp>
      <p:sp>
        <p:nvSpPr>
          <p:cNvPr id="35" name="Text 35"/>
          <p:cNvSpPr txBox="1"/>
          <p:nvPr/>
        </p:nvSpPr>
        <p:spPr>
          <a:xfrm>
            <a:off x="6096000" y="44577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altLang="zh-CN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monitor</a:t>
            </a:r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共享快照</a:t>
            </a:r>
            <a:endParaRPr lang="zh-CN" sz="1250"/>
          </a:p>
        </p:txBody>
      </p:sp>
      <p:cxnSp>
        <p:nvCxnSpPr>
          <p:cNvPr id="36" name="Connector 36"/>
          <p:cNvCxnSpPr/>
          <p:nvPr/>
        </p:nvCxnSpPr>
        <p:spPr>
          <a:xfrm>
            <a:off x="8458200" y="4381500"/>
            <a:ext cx="228600" cy="1270"/>
          </a:xfrm>
          <a:prstGeom prst="line">
            <a:avLst/>
          </a:prstGeom>
          <a:ln w="25400">
            <a:solidFill>
              <a:srgbClr val="FF6B35"/>
            </a:solidFill>
            <a:tailEnd type="triangle" w="sm" len="sm"/>
          </a:ln>
        </p:spPr>
      </p:cxnSp>
      <p:sp>
        <p:nvSpPr>
          <p:cNvPr id="37" name="Rectangle 37"/>
          <p:cNvSpPr/>
          <p:nvPr/>
        </p:nvSpPr>
        <p:spPr>
          <a:xfrm>
            <a:off x="8712200" y="3733800"/>
            <a:ext cx="2489200" cy="129540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8864600" y="4000500"/>
            <a:ext cx="2184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65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dashboard GET</a:t>
            </a:r>
            <a:endParaRPr lang="zh-CN" sz="1650"/>
          </a:p>
        </p:txBody>
      </p:sp>
      <p:sp>
        <p:nvSpPr>
          <p:cNvPr id="39" name="Text 39"/>
          <p:cNvSpPr txBox="1"/>
          <p:nvPr/>
        </p:nvSpPr>
        <p:spPr>
          <a:xfrm>
            <a:off x="8864600" y="44577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只读最近结果</a:t>
            </a:r>
            <a:endParaRPr lang="zh-CN" sz="1250"/>
          </a:p>
        </p:txBody>
      </p:sp>
      <p:sp>
        <p:nvSpPr>
          <p:cNvPr id="40" name="Text 40"/>
          <p:cNvSpPr txBox="1"/>
          <p:nvPr/>
        </p:nvSpPr>
        <p:spPr>
          <a:xfrm>
            <a:off x="406400" y="5461000"/>
            <a:ext cx="6477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复制状态</a:t>
            </a:r>
            <a:r>
              <a:rPr lang="zh-CN" altLang="en-US" sz="14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使用专用账号执行 SHOW REPLICA STATUS</a:t>
            </a:r>
            <a:endParaRPr lang="zh-CN" sz="140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25" y="390525"/>
            <a:ext cx="10344150" cy="6076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06400" y="304800"/>
            <a:ext cx="127000" cy="127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11200" y="203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Web不从前端现场采集</a:t>
            </a:r>
            <a:r>
              <a:rPr lang="en-US" altLang="zh-CN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SQL</a:t>
            </a:r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，把看板</a:t>
            </a:r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做轻</a:t>
            </a:r>
            <a:endParaRPr lang="zh-CN" altLang="en-US" sz="3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>
            <a:off x="406400" y="6248400"/>
            <a:ext cx="113792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406400" y="637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11252200" y="63500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 sz="1000"/>
          </a:p>
        </p:txBody>
      </p:sp>
      <p:sp>
        <p:nvSpPr>
          <p:cNvPr id="7" name="Text 7"/>
          <p:cNvSpPr txBox="1"/>
          <p:nvPr/>
        </p:nvSpPr>
        <p:spPr>
          <a:xfrm>
            <a:off x="406400" y="1371600"/>
            <a:ext cx="2667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页面请求</a:t>
            </a:r>
            <a:endParaRPr lang="zh-CN" sz="1800"/>
          </a:p>
        </p:txBody>
      </p:sp>
      <p:sp>
        <p:nvSpPr>
          <p:cNvPr id="8" name="Rectangle 8"/>
          <p:cNvSpPr/>
          <p:nvPr/>
        </p:nvSpPr>
        <p:spPr>
          <a:xfrm>
            <a:off x="406400" y="1905000"/>
            <a:ext cx="5207000" cy="1473200"/>
          </a:xfrm>
          <a:prstGeom prst="rect">
            <a:avLst/>
          </a:prstGeom>
          <a:solidFill>
            <a:srgbClr val="E8F5E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660400" y="2146300"/>
            <a:ext cx="469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GET /api/admin/db/dashboard</a:t>
            </a:r>
            <a:endParaRPr lang="zh-CN" sz="1800"/>
          </a:p>
        </p:txBody>
      </p:sp>
      <p:sp>
        <p:nvSpPr>
          <p:cNvPr id="10" name="Text 10"/>
          <p:cNvSpPr txBox="1"/>
          <p:nvPr/>
        </p:nvSpPr>
        <p:spPr>
          <a:xfrm>
            <a:off x="660400" y="26670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1" dirty="0">
                <a:solidFill>
                  <a:srgbClr val="178A5B"/>
                </a:solidFill>
                <a:latin typeface="微软雅黑" panose="020B0503020204020204" charset="-122"/>
                <a:ea typeface="微软雅黑" panose="020B0503020204020204" charset="-122"/>
              </a:rPr>
              <a:t>读取最近共享快照 · 不执行完整采集</a:t>
            </a:r>
            <a:endParaRPr lang="zh-CN" sz="1500"/>
          </a:p>
        </p:txBody>
      </p:sp>
      <p:sp>
        <p:nvSpPr>
          <p:cNvPr id="11" name="Text 11"/>
          <p:cNvSpPr txBox="1"/>
          <p:nvPr/>
        </p:nvSpPr>
        <p:spPr>
          <a:xfrm>
            <a:off x="6172200" y="1371600"/>
            <a:ext cx="2667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独立采集</a:t>
            </a:r>
            <a:endParaRPr lang="zh-CN" sz="1800"/>
          </a:p>
        </p:txBody>
      </p:sp>
      <p:sp>
        <p:nvSpPr>
          <p:cNvPr id="12" name="Rectangle 12"/>
          <p:cNvSpPr/>
          <p:nvPr/>
        </p:nvSpPr>
        <p:spPr>
          <a:xfrm>
            <a:off x="6172200" y="1905000"/>
            <a:ext cx="5613400" cy="147320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426200" y="2146300"/>
            <a:ext cx="2349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8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monitor worker</a:t>
            </a:r>
            <a:endParaRPr lang="zh-CN" sz="1800"/>
          </a:p>
        </p:txBody>
      </p:sp>
      <p:sp>
        <p:nvSpPr>
          <p:cNvPr id="14" name="Text 14"/>
          <p:cNvSpPr txBox="1"/>
          <p:nvPr/>
        </p:nvSpPr>
        <p:spPr>
          <a:xfrm>
            <a:off x="6426200" y="2667000"/>
            <a:ext cx="5054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GET_LOCK(key, 0) → collect → snapshot</a:t>
            </a:r>
            <a:endParaRPr lang="zh-CN" sz="1500"/>
          </a:p>
        </p:txBody>
      </p:sp>
      <p:cxnSp>
        <p:nvCxnSpPr>
          <p:cNvPr id="15" name="Connector 15"/>
          <p:cNvCxnSpPr/>
          <p:nvPr/>
        </p:nvCxnSpPr>
        <p:spPr>
          <a:xfrm>
            <a:off x="5613400" y="2641600"/>
            <a:ext cx="558800" cy="1270"/>
          </a:xfrm>
          <a:prstGeom prst="line">
            <a:avLst/>
          </a:prstGeom>
          <a:ln w="25400">
            <a:solidFill>
              <a:srgbClr val="B8BCC4"/>
            </a:solidFill>
            <a:tailEnd type="triangle" w="sm" len="sm"/>
          </a:ln>
        </p:spPr>
      </p:cxnSp>
      <p:sp>
        <p:nvSpPr>
          <p:cNvPr id="16" name="Rectangle 16"/>
          <p:cNvSpPr/>
          <p:nvPr/>
        </p:nvSpPr>
        <p:spPr>
          <a:xfrm>
            <a:off x="406400" y="3835400"/>
            <a:ext cx="2565400" cy="16002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09600" y="4025900"/>
            <a:ext cx="2159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10s</a:t>
            </a:r>
            <a:endParaRPr lang="zh-CN" sz="2700"/>
          </a:p>
        </p:txBody>
      </p:sp>
      <p:sp>
        <p:nvSpPr>
          <p:cNvPr id="18" name="Text 18"/>
          <p:cNvSpPr txBox="1"/>
          <p:nvPr/>
        </p:nvSpPr>
        <p:spPr>
          <a:xfrm>
            <a:off x="609600" y="4648200"/>
            <a:ext cx="2159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实时状态</a:t>
            </a:r>
            <a:endParaRPr lang="zh-CN" sz="1300"/>
          </a:p>
        </p:txBody>
      </p:sp>
      <p:sp>
        <p:nvSpPr>
          <p:cNvPr id="19" name="Rectangle 19"/>
          <p:cNvSpPr/>
          <p:nvPr/>
        </p:nvSpPr>
        <p:spPr>
          <a:xfrm>
            <a:off x="3251200" y="3835400"/>
            <a:ext cx="2565400" cy="16002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3454400" y="4025900"/>
            <a:ext cx="2159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60s</a:t>
            </a:r>
            <a:endParaRPr lang="zh-CN" sz="2700"/>
          </a:p>
        </p:txBody>
      </p:sp>
      <p:sp>
        <p:nvSpPr>
          <p:cNvPr id="21" name="Text 21"/>
          <p:cNvSpPr txBox="1"/>
          <p:nvPr/>
        </p:nvSpPr>
        <p:spPr>
          <a:xfrm>
            <a:off x="3454400" y="4648200"/>
            <a:ext cx="2159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SQL 性能</a:t>
            </a:r>
            <a:endParaRPr lang="zh-CN" sz="1300"/>
          </a:p>
        </p:txBody>
      </p:sp>
      <p:sp>
        <p:nvSpPr>
          <p:cNvPr id="22" name="Rectangle 22"/>
          <p:cNvSpPr/>
          <p:nvPr/>
        </p:nvSpPr>
        <p:spPr>
          <a:xfrm>
            <a:off x="6096000" y="3835400"/>
            <a:ext cx="2565400" cy="16002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6299200" y="4025900"/>
            <a:ext cx="2159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900s</a:t>
            </a:r>
            <a:endParaRPr lang="zh-CN" sz="2700"/>
          </a:p>
        </p:txBody>
      </p:sp>
      <p:sp>
        <p:nvSpPr>
          <p:cNvPr id="24" name="Text 24"/>
          <p:cNvSpPr txBox="1"/>
          <p:nvPr/>
        </p:nvSpPr>
        <p:spPr>
          <a:xfrm>
            <a:off x="6299200" y="4648200"/>
            <a:ext cx="2159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表容量</a:t>
            </a:r>
            <a:endParaRPr lang="zh-CN" sz="1300"/>
          </a:p>
        </p:txBody>
      </p:sp>
      <p:sp>
        <p:nvSpPr>
          <p:cNvPr id="25" name="Rectangle 25"/>
          <p:cNvSpPr/>
          <p:nvPr/>
        </p:nvSpPr>
        <p:spPr>
          <a:xfrm>
            <a:off x="8940800" y="3835400"/>
            <a:ext cx="2565400" cy="160020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9144000" y="4025900"/>
            <a:ext cx="2159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手动</a:t>
            </a:r>
            <a:endParaRPr lang="zh-CN" sz="2700"/>
          </a:p>
        </p:txBody>
      </p:sp>
      <p:sp>
        <p:nvSpPr>
          <p:cNvPr id="27" name="Text 27"/>
          <p:cNvSpPr txBox="1"/>
          <p:nvPr/>
        </p:nvSpPr>
        <p:spPr>
          <a:xfrm>
            <a:off x="9144000" y="4648200"/>
            <a:ext cx="2159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deep audit</a:t>
            </a:r>
            <a:endParaRPr lang="zh-CN" sz="130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525" y="301625"/>
            <a:ext cx="10902950" cy="6254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06400" y="304800"/>
            <a:ext cx="127000" cy="127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11200" y="203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用一组上限给数据库</a:t>
            </a:r>
            <a:r>
              <a:rPr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降压</a:t>
            </a:r>
            <a:endParaRPr lang="zh-CN" sz="3400"/>
          </a:p>
        </p:txBody>
      </p:sp>
      <p:cxnSp>
        <p:nvCxnSpPr>
          <p:cNvPr id="4" name="Connector 4"/>
          <p:cNvCxnSpPr/>
          <p:nvPr/>
        </p:nvCxnSpPr>
        <p:spPr>
          <a:xfrm>
            <a:off x="406400" y="6248400"/>
            <a:ext cx="113792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406400" y="637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11252200" y="63500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zh-CN" sz="1000"/>
          </a:p>
        </p:txBody>
      </p:sp>
      <p:sp>
        <p:nvSpPr>
          <p:cNvPr id="7" name="Rectangle 7"/>
          <p:cNvSpPr/>
          <p:nvPr>
            <p:custDataLst>
              <p:tags r:id="rId1"/>
            </p:custDataLst>
          </p:nvPr>
        </p:nvSpPr>
        <p:spPr>
          <a:xfrm>
            <a:off x="406400" y="1422400"/>
            <a:ext cx="3556000" cy="1549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8" name="Text 8"/>
          <p:cNvSpPr txBox="1"/>
          <p:nvPr>
            <p:custDataLst>
              <p:tags r:id="rId2"/>
            </p:custDataLst>
          </p:nvPr>
        </p:nvSpPr>
        <p:spPr>
          <a:xfrm>
            <a:off x="609600" y="1612900"/>
            <a:ext cx="314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20 / 50</a:t>
            </a:r>
            <a:endParaRPr lang="zh-CN" sz="2700"/>
          </a:p>
        </p:txBody>
      </p:sp>
      <p:sp>
        <p:nvSpPr>
          <p:cNvPr id="9" name="Text 9"/>
          <p:cNvSpPr txBox="1"/>
          <p:nvPr>
            <p:custDataLst>
              <p:tags r:id="rId3"/>
            </p:custDataLst>
          </p:nvPr>
        </p:nvSpPr>
        <p:spPr>
          <a:xfrm>
            <a:off x="609600" y="2235200"/>
            <a:ext cx="31496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列表默认 / 硬上限</a:t>
            </a:r>
            <a:endParaRPr lang="zh-CN" sz="1300"/>
          </a:p>
        </p:txBody>
      </p:sp>
      <p:sp>
        <p:nvSpPr>
          <p:cNvPr id="10" name="Rectangle 10"/>
          <p:cNvSpPr/>
          <p:nvPr>
            <p:custDataLst>
              <p:tags r:id="rId4"/>
            </p:custDataLst>
          </p:nvPr>
        </p:nvSpPr>
        <p:spPr>
          <a:xfrm>
            <a:off x="4267200" y="1422400"/>
            <a:ext cx="3556000" cy="1549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1" name="Text 11"/>
          <p:cNvSpPr txBox="1"/>
          <p:nvPr>
            <p:custDataLst>
              <p:tags r:id="rId5"/>
            </p:custDataLst>
          </p:nvPr>
        </p:nvSpPr>
        <p:spPr>
          <a:xfrm>
            <a:off x="4470400" y="1612900"/>
            <a:ext cx="314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64 KB</a:t>
            </a:r>
            <a:endParaRPr lang="zh-CN" sz="2700"/>
          </a:p>
        </p:txBody>
      </p:sp>
      <p:sp>
        <p:nvSpPr>
          <p:cNvPr id="12" name="Text 12"/>
          <p:cNvSpPr txBox="1"/>
          <p:nvPr>
            <p:custDataLst>
              <p:tags r:id="rId6"/>
            </p:custDataLst>
          </p:nvPr>
        </p:nvSpPr>
        <p:spPr>
          <a:xfrm>
            <a:off x="4470400" y="2235200"/>
            <a:ext cx="31496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正文按块读取</a:t>
            </a:r>
            <a:endParaRPr lang="zh-CN" sz="1300"/>
          </a:p>
        </p:txBody>
      </p:sp>
      <p:sp>
        <p:nvSpPr>
          <p:cNvPr id="13" name="Rectangle 13"/>
          <p:cNvSpPr/>
          <p:nvPr>
            <p:custDataLst>
              <p:tags r:id="rId7"/>
            </p:custDataLst>
          </p:nvPr>
        </p:nvSpPr>
        <p:spPr>
          <a:xfrm>
            <a:off x="8128000" y="1422400"/>
            <a:ext cx="3556000" cy="1549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4" name="Text 14"/>
          <p:cNvSpPr txBox="1"/>
          <p:nvPr>
            <p:custDataLst>
              <p:tags r:id="rId8"/>
            </p:custDataLst>
          </p:nvPr>
        </p:nvSpPr>
        <p:spPr>
          <a:xfrm>
            <a:off x="8331200" y="1612900"/>
            <a:ext cx="314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256 KB</a:t>
            </a:r>
            <a:endParaRPr lang="zh-CN" sz="2700"/>
          </a:p>
        </p:txBody>
      </p:sp>
      <p:sp>
        <p:nvSpPr>
          <p:cNvPr id="15" name="Text 15"/>
          <p:cNvSpPr txBox="1"/>
          <p:nvPr>
            <p:custDataLst>
              <p:tags r:id="rId9"/>
            </p:custDataLst>
          </p:nvPr>
        </p:nvSpPr>
        <p:spPr>
          <a:xfrm>
            <a:off x="8331200" y="2235200"/>
            <a:ext cx="31496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CSV 预览上限</a:t>
            </a:r>
            <a:endParaRPr lang="zh-CN" sz="1300"/>
          </a:p>
        </p:txBody>
      </p:sp>
      <p:sp>
        <p:nvSpPr>
          <p:cNvPr id="16" name="Rectangle 16"/>
          <p:cNvSpPr/>
          <p:nvPr>
            <p:custDataLst>
              <p:tags r:id="rId10"/>
            </p:custDataLst>
          </p:nvPr>
        </p:nvSpPr>
        <p:spPr>
          <a:xfrm>
            <a:off x="406400" y="3225800"/>
            <a:ext cx="3556000" cy="154940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17" name="Text 17"/>
          <p:cNvSpPr txBox="1"/>
          <p:nvPr>
            <p:custDataLst>
              <p:tags r:id="rId11"/>
            </p:custDataLst>
          </p:nvPr>
        </p:nvSpPr>
        <p:spPr>
          <a:xfrm>
            <a:off x="609600" y="3416300"/>
            <a:ext cx="314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3000 ms</a:t>
            </a:r>
            <a:endParaRPr lang="zh-CN" sz="2700"/>
          </a:p>
        </p:txBody>
      </p:sp>
      <p:sp>
        <p:nvSpPr>
          <p:cNvPr id="18" name="Text 18"/>
          <p:cNvSpPr txBox="1"/>
          <p:nvPr>
            <p:custDataLst>
              <p:tags r:id="rId12"/>
            </p:custDataLst>
          </p:nvPr>
        </p:nvSpPr>
        <p:spPr>
          <a:xfrm>
            <a:off x="609600" y="4038600"/>
            <a:ext cx="31496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快速检查超时</a:t>
            </a:r>
            <a:endParaRPr lang="zh-CN" sz="1300"/>
          </a:p>
        </p:txBody>
      </p:sp>
      <p:sp>
        <p:nvSpPr>
          <p:cNvPr id="19" name="Rectangle 19"/>
          <p:cNvSpPr/>
          <p:nvPr>
            <p:custDataLst>
              <p:tags r:id="rId13"/>
            </p:custDataLst>
          </p:nvPr>
        </p:nvSpPr>
        <p:spPr>
          <a:xfrm>
            <a:off x="4267200" y="3225800"/>
            <a:ext cx="3556000" cy="1549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0" name="Text 20"/>
          <p:cNvSpPr txBox="1"/>
          <p:nvPr>
            <p:custDataLst>
              <p:tags r:id="rId14"/>
            </p:custDataLst>
          </p:nvPr>
        </p:nvSpPr>
        <p:spPr>
          <a:xfrm>
            <a:off x="4470400" y="3416300"/>
            <a:ext cx="314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100 / 200</a:t>
            </a:r>
            <a:endParaRPr lang="zh-CN" sz="2700"/>
          </a:p>
        </p:txBody>
      </p:sp>
      <p:sp>
        <p:nvSpPr>
          <p:cNvPr id="21" name="Text 21"/>
          <p:cNvSpPr txBox="1"/>
          <p:nvPr>
            <p:custDataLst>
              <p:tags r:id="rId15"/>
            </p:custDataLst>
          </p:nvPr>
        </p:nvSpPr>
        <p:spPr>
          <a:xfrm>
            <a:off x="4470400" y="4038600"/>
            <a:ext cx="31496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Digest / 容量硬上限</a:t>
            </a:r>
            <a:endParaRPr lang="zh-CN" sz="1300"/>
          </a:p>
        </p:txBody>
      </p:sp>
      <p:sp>
        <p:nvSpPr>
          <p:cNvPr id="22" name="Rectangle 22"/>
          <p:cNvSpPr/>
          <p:nvPr>
            <p:custDataLst>
              <p:tags r:id="rId16"/>
            </p:custDataLst>
          </p:nvPr>
        </p:nvSpPr>
        <p:spPr>
          <a:xfrm>
            <a:off x="8128000" y="3225800"/>
            <a:ext cx="3556000" cy="1549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3" name="Text 23"/>
          <p:cNvSpPr txBox="1"/>
          <p:nvPr>
            <p:custDataLst>
              <p:tags r:id="rId17"/>
            </p:custDataLst>
          </p:nvPr>
        </p:nvSpPr>
        <p:spPr>
          <a:xfrm>
            <a:off x="8331200" y="3416300"/>
            <a:ext cx="3149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5s / 2s</a:t>
            </a:r>
            <a:endParaRPr lang="zh-CN" sz="2700"/>
          </a:p>
        </p:txBody>
      </p:sp>
      <p:sp>
        <p:nvSpPr>
          <p:cNvPr id="24" name="Text 24"/>
          <p:cNvSpPr txBox="1"/>
          <p:nvPr>
            <p:custDataLst>
              <p:tags r:id="rId18"/>
            </p:custDataLst>
          </p:nvPr>
        </p:nvSpPr>
        <p:spPr>
          <a:xfrm>
            <a:off x="8331200" y="4038600"/>
            <a:ext cx="31496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3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配置 / 副本状态缓存</a:t>
            </a:r>
            <a:endParaRPr lang="zh-CN" sz="1300"/>
          </a:p>
        </p:txBody>
      </p:sp>
      <p:sp>
        <p:nvSpPr>
          <p:cNvPr id="25" name="Rectangle 25"/>
          <p:cNvSpPr/>
          <p:nvPr/>
        </p:nvSpPr>
        <p:spPr>
          <a:xfrm>
            <a:off x="406400" y="5156200"/>
            <a:ext cx="11379200" cy="7112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711200" y="5359400"/>
            <a:ext cx="1076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7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单进程连接预算 = write_pool + read_pool × (1 + replica_count)</a:t>
            </a:r>
            <a:endParaRPr lang="zh-CN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06400" y="304800"/>
            <a:ext cx="127000" cy="127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11200" y="203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不是所有 SELECT 都应该去从库</a:t>
            </a:r>
            <a:endParaRPr lang="zh-CN" sz="3400"/>
          </a:p>
        </p:txBody>
      </p:sp>
      <p:cxnSp>
        <p:nvCxnSpPr>
          <p:cNvPr id="4" name="Connector 4"/>
          <p:cNvCxnSpPr/>
          <p:nvPr/>
        </p:nvCxnSpPr>
        <p:spPr>
          <a:xfrm>
            <a:off x="406400" y="6248400"/>
            <a:ext cx="113792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406400" y="637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11252200" y="63500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zh-CN" sz="1000"/>
          </a:p>
        </p:txBody>
      </p:sp>
      <p:sp>
        <p:nvSpPr>
          <p:cNvPr id="7" name="Rectangle 7"/>
          <p:cNvSpPr/>
          <p:nvPr/>
        </p:nvSpPr>
        <p:spPr>
          <a:xfrm>
            <a:off x="406400" y="1422400"/>
            <a:ext cx="4953000" cy="55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558800" y="1562100"/>
            <a:ext cx="4648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业务场景</a:t>
            </a:r>
            <a:endParaRPr lang="zh-CN" sz="1400"/>
          </a:p>
        </p:txBody>
      </p:sp>
      <p:sp>
        <p:nvSpPr>
          <p:cNvPr id="9" name="Rectangle 9"/>
          <p:cNvSpPr/>
          <p:nvPr/>
        </p:nvSpPr>
        <p:spPr>
          <a:xfrm>
            <a:off x="5359400" y="1422400"/>
            <a:ext cx="2489200" cy="55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511800" y="15621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一致性</a:t>
            </a:r>
            <a:endParaRPr lang="zh-CN" sz="1400"/>
          </a:p>
        </p:txBody>
      </p:sp>
      <p:sp>
        <p:nvSpPr>
          <p:cNvPr id="11" name="Rectangle 11"/>
          <p:cNvSpPr/>
          <p:nvPr/>
        </p:nvSpPr>
        <p:spPr>
          <a:xfrm>
            <a:off x="7848600" y="1422400"/>
            <a:ext cx="3327400" cy="55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001000" y="1562100"/>
            <a:ext cx="302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实际连接</a:t>
            </a:r>
            <a:endParaRPr lang="zh-CN" sz="1400"/>
          </a:p>
        </p:txBody>
      </p:sp>
      <p:sp>
        <p:nvSpPr>
          <p:cNvPr id="13" name="Rectangle 13"/>
          <p:cNvSpPr/>
          <p:nvPr/>
        </p:nvSpPr>
        <p:spPr>
          <a:xfrm>
            <a:off x="406400" y="1981200"/>
            <a:ext cx="4953000" cy="711200"/>
          </a:xfrm>
          <a:prstGeom prst="rect">
            <a:avLst/>
          </a:prstGeom>
          <a:solidFill>
            <a:srgbClr val="F7F7F7"/>
          </a:solidFill>
          <a:ln w="10160">
            <a:solidFill>
              <a:srgbClr val="B8BCC4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558800" y="21590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登录 / 会话恢复 / 管理员权限</a:t>
            </a:r>
            <a:endParaRPr lang="zh-CN" sz="1400"/>
          </a:p>
        </p:txBody>
      </p:sp>
      <p:sp>
        <p:nvSpPr>
          <p:cNvPr id="15" name="Rectangle 15"/>
          <p:cNvSpPr/>
          <p:nvPr/>
        </p:nvSpPr>
        <p:spPr>
          <a:xfrm>
            <a:off x="5359400" y="1981200"/>
            <a:ext cx="2489200" cy="711200"/>
          </a:xfrm>
          <a:prstGeom prst="rect">
            <a:avLst/>
          </a:prstGeom>
          <a:solidFill>
            <a:srgbClr val="F7F7F7"/>
          </a:solidFill>
          <a:ln w="10160">
            <a:solidFill>
              <a:srgbClr val="B8BCC4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5511800" y="2159000"/>
            <a:ext cx="218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STRONG</a:t>
            </a:r>
            <a:endParaRPr lang="zh-CN" sz="1400"/>
          </a:p>
        </p:txBody>
      </p:sp>
      <p:sp>
        <p:nvSpPr>
          <p:cNvPr id="17" name="Rectangle 17"/>
          <p:cNvSpPr/>
          <p:nvPr/>
        </p:nvSpPr>
        <p:spPr>
          <a:xfrm>
            <a:off x="7848600" y="1981200"/>
            <a:ext cx="3327400" cy="711200"/>
          </a:xfrm>
          <a:prstGeom prst="rect">
            <a:avLst/>
          </a:prstGeom>
          <a:solidFill>
            <a:srgbClr val="F7F7F7"/>
          </a:solidFill>
          <a:ln w="10160">
            <a:solidFill>
              <a:srgbClr val="B8BCC4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8001000" y="2159000"/>
            <a:ext cx="3022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主库</a:t>
            </a:r>
            <a:endParaRPr lang="zh-CN" sz="1400"/>
          </a:p>
        </p:txBody>
      </p:sp>
      <p:sp>
        <p:nvSpPr>
          <p:cNvPr id="19" name="Rectangle 19"/>
          <p:cNvSpPr/>
          <p:nvPr/>
        </p:nvSpPr>
        <p:spPr>
          <a:xfrm>
            <a:off x="406400" y="2705100"/>
            <a:ext cx="4953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8BCC4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558800" y="28829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详情预览 / Job Event</a:t>
            </a:r>
            <a:endParaRPr lang="zh-CN" sz="1400"/>
          </a:p>
        </p:txBody>
      </p:sp>
      <p:sp>
        <p:nvSpPr>
          <p:cNvPr id="21" name="Rectangle 21"/>
          <p:cNvSpPr/>
          <p:nvPr/>
        </p:nvSpPr>
        <p:spPr>
          <a:xfrm>
            <a:off x="5359400" y="2705100"/>
            <a:ext cx="24892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8BCC4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5511800" y="2882900"/>
            <a:ext cx="218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STRONG</a:t>
            </a:r>
            <a:endParaRPr lang="zh-CN" sz="1400"/>
          </a:p>
        </p:txBody>
      </p:sp>
      <p:sp>
        <p:nvSpPr>
          <p:cNvPr id="23" name="Rectangle 23"/>
          <p:cNvSpPr/>
          <p:nvPr/>
        </p:nvSpPr>
        <p:spPr>
          <a:xfrm>
            <a:off x="7848600" y="2705100"/>
            <a:ext cx="33274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8BCC4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8001000" y="2882900"/>
            <a:ext cx="3022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主库</a:t>
            </a:r>
            <a:endParaRPr lang="zh-CN" sz="1400"/>
          </a:p>
        </p:txBody>
      </p:sp>
      <p:sp>
        <p:nvSpPr>
          <p:cNvPr id="25" name="Rectangle 25"/>
          <p:cNvSpPr/>
          <p:nvPr/>
        </p:nvSpPr>
        <p:spPr>
          <a:xfrm>
            <a:off x="406400" y="3429000"/>
            <a:ext cx="4953000" cy="711200"/>
          </a:xfrm>
          <a:prstGeom prst="rect">
            <a:avLst/>
          </a:prstGeom>
          <a:solidFill>
            <a:srgbClr val="F7F7F7"/>
          </a:solidFill>
          <a:ln w="10160">
            <a:solidFill>
              <a:srgbClr val="B8BCC4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558800" y="36068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普通历史 / 容量读取</a:t>
            </a:r>
            <a:endParaRPr lang="zh-CN" sz="1400"/>
          </a:p>
        </p:txBody>
      </p:sp>
      <p:sp>
        <p:nvSpPr>
          <p:cNvPr id="27" name="Rectangle 27"/>
          <p:cNvSpPr/>
          <p:nvPr/>
        </p:nvSpPr>
        <p:spPr>
          <a:xfrm>
            <a:off x="5359400" y="3429000"/>
            <a:ext cx="2489200" cy="711200"/>
          </a:xfrm>
          <a:prstGeom prst="rect">
            <a:avLst/>
          </a:prstGeom>
          <a:solidFill>
            <a:srgbClr val="F7F7F7"/>
          </a:solidFill>
          <a:ln w="10160">
            <a:solidFill>
              <a:srgbClr val="B8BCC4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5511800" y="3606800"/>
            <a:ext cx="218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276EF1"/>
                </a:solidFill>
                <a:latin typeface="微软雅黑" panose="020B0503020204020204" charset="-122"/>
                <a:ea typeface="微软雅黑" panose="020B0503020204020204" charset="-122"/>
              </a:rPr>
              <a:t>EVENTUAL</a:t>
            </a:r>
            <a:endParaRPr lang="zh-CN" sz="1400"/>
          </a:p>
        </p:txBody>
      </p:sp>
      <p:sp>
        <p:nvSpPr>
          <p:cNvPr id="29" name="Rectangle 29"/>
          <p:cNvSpPr/>
          <p:nvPr/>
        </p:nvSpPr>
        <p:spPr>
          <a:xfrm>
            <a:off x="7848600" y="3429000"/>
            <a:ext cx="3327400" cy="711200"/>
          </a:xfrm>
          <a:prstGeom prst="rect">
            <a:avLst/>
          </a:prstGeom>
          <a:solidFill>
            <a:srgbClr val="F7F7F7"/>
          </a:solidFill>
          <a:ln w="10160">
            <a:solidFill>
              <a:srgbClr val="B8BCC4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8001000" y="3606800"/>
            <a:ext cx="3022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健康且延迟合格才用副本</a:t>
            </a:r>
            <a:endParaRPr lang="zh-CN" sz="1400"/>
          </a:p>
        </p:txBody>
      </p:sp>
      <p:sp>
        <p:nvSpPr>
          <p:cNvPr id="31" name="Rectangle 31"/>
          <p:cNvSpPr/>
          <p:nvPr/>
        </p:nvSpPr>
        <p:spPr>
          <a:xfrm>
            <a:off x="406400" y="4152900"/>
            <a:ext cx="49530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8BCC4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558800" y="4330700"/>
            <a:ext cx="4648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所有业务写入</a:t>
            </a:r>
            <a:endParaRPr lang="zh-CN" sz="1400"/>
          </a:p>
        </p:txBody>
      </p:sp>
      <p:sp>
        <p:nvSpPr>
          <p:cNvPr id="33" name="Rectangle 33"/>
          <p:cNvSpPr/>
          <p:nvPr/>
        </p:nvSpPr>
        <p:spPr>
          <a:xfrm>
            <a:off x="5359400" y="4152900"/>
            <a:ext cx="24892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8BCC4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5511800" y="4330700"/>
            <a:ext cx="218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178A5B"/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zh-CN" sz="1400"/>
          </a:p>
        </p:txBody>
      </p:sp>
      <p:sp>
        <p:nvSpPr>
          <p:cNvPr id="35" name="Rectangle 35"/>
          <p:cNvSpPr/>
          <p:nvPr/>
        </p:nvSpPr>
        <p:spPr>
          <a:xfrm>
            <a:off x="7848600" y="4152900"/>
            <a:ext cx="3327400" cy="711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8BCC4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8001000" y="4330700"/>
            <a:ext cx="3022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主库</a:t>
            </a:r>
            <a:endParaRPr lang="zh-CN" sz="1400"/>
          </a:p>
        </p:txBody>
      </p:sp>
      <p:sp>
        <p:nvSpPr>
          <p:cNvPr id="37" name="Text 37"/>
          <p:cNvSpPr txBox="1"/>
          <p:nvPr/>
        </p:nvSpPr>
        <p:spPr>
          <a:xfrm>
            <a:off x="406400" y="5283200"/>
            <a:ext cx="10769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副本状态异常或延迟超阈值 → 安全回退主库，不自动切主</a:t>
            </a:r>
            <a:endParaRPr lang="zh-CN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06400" y="304800"/>
            <a:ext cx="127000" cy="127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11200" y="203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权限是三道独立闸门</a:t>
            </a:r>
            <a:endParaRPr lang="zh-CN" sz="3400"/>
          </a:p>
        </p:txBody>
      </p:sp>
      <p:cxnSp>
        <p:nvCxnSpPr>
          <p:cNvPr id="4" name="Connector 4"/>
          <p:cNvCxnSpPr/>
          <p:nvPr/>
        </p:nvCxnSpPr>
        <p:spPr>
          <a:xfrm>
            <a:off x="406400" y="6248400"/>
            <a:ext cx="113792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406400" y="637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11252200" y="63500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zh-CN" sz="1000"/>
          </a:p>
        </p:txBody>
      </p:sp>
      <p:sp>
        <p:nvSpPr>
          <p:cNvPr id="7" name="Rectangle 7"/>
          <p:cNvSpPr/>
          <p:nvPr/>
        </p:nvSpPr>
        <p:spPr>
          <a:xfrm>
            <a:off x="406400" y="1422400"/>
            <a:ext cx="3352800" cy="218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406400" y="1422400"/>
            <a:ext cx="88900" cy="2184400"/>
          </a:xfrm>
          <a:prstGeom prst="rect">
            <a:avLst/>
          </a:prstGeom>
          <a:solidFill>
            <a:srgbClr val="555555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660400" y="1638300"/>
            <a:ext cx="2895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01 · 界面层</a:t>
            </a:r>
            <a:endParaRPr lang="zh-CN" sz="2000"/>
          </a:p>
        </p:txBody>
      </p:sp>
      <p:sp>
        <p:nvSpPr>
          <p:cNvPr id="10" name="Text 10"/>
          <p:cNvSpPr txBox="1"/>
          <p:nvPr/>
        </p:nvSpPr>
        <p:spPr>
          <a:xfrm>
            <a:off x="660400" y="2146300"/>
            <a:ext cx="28956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导航可见性</a:t>
            </a:r>
            <a:endParaRPr lang="zh-CN" sz="1500"/>
          </a:p>
          <a:p>
            <a:pPr algn="l"/>
            <a:r>
              <a:rPr lang="zh-CN" altLang="en-US" sz="15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不是安全边界</a:t>
            </a:r>
            <a:endParaRPr lang="zh-CN" sz="1500"/>
          </a:p>
        </p:txBody>
      </p:sp>
      <p:sp>
        <p:nvSpPr>
          <p:cNvPr id="11" name="Rectangle 11"/>
          <p:cNvSpPr/>
          <p:nvPr/>
        </p:nvSpPr>
        <p:spPr>
          <a:xfrm>
            <a:off x="4419600" y="1422400"/>
            <a:ext cx="3352800" cy="218440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419600" y="1422400"/>
            <a:ext cx="88900" cy="218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673600" y="1638300"/>
            <a:ext cx="2895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02 · 应用层</a:t>
            </a:r>
            <a:endParaRPr lang="zh-CN" sz="2000"/>
          </a:p>
        </p:txBody>
      </p:sp>
      <p:sp>
        <p:nvSpPr>
          <p:cNvPr id="14" name="Text 14"/>
          <p:cNvSpPr txBox="1"/>
          <p:nvPr/>
        </p:nvSpPr>
        <p:spPr>
          <a:xfrm>
            <a:off x="4673600" y="2146300"/>
            <a:ext cx="28956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主库复核 role / is_active</a:t>
            </a:r>
            <a:endParaRPr lang="zh-CN" sz="1400"/>
          </a:p>
          <a:p>
            <a:pPr algn="l"/>
            <a:r>
              <a:rPr lang="zh-CN" altLang="en-US" sz="14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401 / 403 · CSRF · 重新认证</a:t>
            </a:r>
            <a:endParaRPr lang="zh-CN" sz="1400"/>
          </a:p>
        </p:txBody>
      </p:sp>
      <p:sp>
        <p:nvSpPr>
          <p:cNvPr id="15" name="Rectangle 15"/>
          <p:cNvSpPr/>
          <p:nvPr/>
        </p:nvSpPr>
        <p:spPr>
          <a:xfrm>
            <a:off x="8432800" y="1422400"/>
            <a:ext cx="3352800" cy="218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8432800" y="1422400"/>
            <a:ext cx="88900" cy="218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686800" y="1638300"/>
            <a:ext cx="2895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03 · 数据库层</a:t>
            </a:r>
            <a:endParaRPr lang="zh-CN" sz="2000"/>
          </a:p>
        </p:txBody>
      </p:sp>
      <p:sp>
        <p:nvSpPr>
          <p:cNvPr id="18" name="Text 18"/>
          <p:cNvSpPr txBox="1"/>
          <p:nvPr/>
        </p:nvSpPr>
        <p:spPr>
          <a:xfrm>
            <a:off x="8686800" y="2146300"/>
            <a:ext cx="28956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5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按职责拆分账号</a:t>
            </a:r>
            <a:endParaRPr lang="zh-CN" sz="1500"/>
          </a:p>
          <a:p>
            <a:pPr algn="l"/>
            <a:r>
              <a:rPr lang="zh-CN" altLang="en-US" sz="15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最小权限兜底</a:t>
            </a:r>
            <a:endParaRPr lang="zh-CN" sz="1500"/>
          </a:p>
        </p:txBody>
      </p:sp>
      <p:cxnSp>
        <p:nvCxnSpPr>
          <p:cNvPr id="19" name="Connector 19"/>
          <p:cNvCxnSpPr/>
          <p:nvPr/>
        </p:nvCxnSpPr>
        <p:spPr>
          <a:xfrm>
            <a:off x="3759200" y="2514600"/>
            <a:ext cx="660400" cy="1270"/>
          </a:xfrm>
          <a:prstGeom prst="line">
            <a:avLst/>
          </a:prstGeom>
          <a:ln w="25400">
            <a:solidFill>
              <a:srgbClr val="B8BCC4"/>
            </a:solidFill>
            <a:tailEnd type="triangle" w="sm" len="sm"/>
          </a:ln>
        </p:spPr>
      </p:cxnSp>
      <p:cxnSp>
        <p:nvCxnSpPr>
          <p:cNvPr id="20" name="Connector 20"/>
          <p:cNvCxnSpPr/>
          <p:nvPr/>
        </p:nvCxnSpPr>
        <p:spPr>
          <a:xfrm>
            <a:off x="7772400" y="2514600"/>
            <a:ext cx="660400" cy="1270"/>
          </a:xfrm>
          <a:prstGeom prst="line">
            <a:avLst/>
          </a:prstGeom>
          <a:ln w="25400">
            <a:solidFill>
              <a:srgbClr val="B8BCC4"/>
            </a:solidFill>
            <a:tailEnd type="triangle" w="sm" len="sm"/>
          </a:ln>
        </p:spPr>
      </p:cxnSp>
      <p:sp>
        <p:nvSpPr>
          <p:cNvPr id="21" name="Rectangle 21"/>
          <p:cNvSpPr/>
          <p:nvPr/>
        </p:nvSpPr>
        <p:spPr>
          <a:xfrm>
            <a:off x="406400" y="4191000"/>
            <a:ext cx="2565400" cy="127000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558800" y="4406900"/>
            <a:ext cx="226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WRITE</a:t>
            </a:r>
            <a:endParaRPr lang="zh-CN" sz="1400"/>
          </a:p>
        </p:txBody>
      </p:sp>
      <p:sp>
        <p:nvSpPr>
          <p:cNvPr id="23" name="Text 23"/>
          <p:cNvSpPr txBox="1"/>
          <p:nvPr/>
        </p:nvSpPr>
        <p:spPr>
          <a:xfrm>
            <a:off x="558800" y="4826000"/>
            <a:ext cx="2260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业务写 / 迁移 / 就绪检查</a:t>
            </a:r>
            <a:endParaRPr lang="zh-CN" sz="1150"/>
          </a:p>
        </p:txBody>
      </p:sp>
      <p:sp>
        <p:nvSpPr>
          <p:cNvPr id="24" name="Rectangle 24"/>
          <p:cNvSpPr/>
          <p:nvPr/>
        </p:nvSpPr>
        <p:spPr>
          <a:xfrm>
            <a:off x="3251200" y="4191000"/>
            <a:ext cx="2565400" cy="1270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3403600" y="4406900"/>
            <a:ext cx="226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READ</a:t>
            </a:r>
            <a:endParaRPr lang="zh-CN" sz="1400"/>
          </a:p>
        </p:txBody>
      </p:sp>
      <p:sp>
        <p:nvSpPr>
          <p:cNvPr id="26" name="Text 26"/>
          <p:cNvSpPr txBox="1"/>
          <p:nvPr/>
        </p:nvSpPr>
        <p:spPr>
          <a:xfrm>
            <a:off x="3403600" y="4826000"/>
            <a:ext cx="2260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业务 SELECT + 指定 Digest</a:t>
            </a:r>
            <a:endParaRPr lang="zh-CN" sz="1150"/>
          </a:p>
        </p:txBody>
      </p:sp>
      <p:sp>
        <p:nvSpPr>
          <p:cNvPr id="27" name="Rectangle 27"/>
          <p:cNvSpPr/>
          <p:nvPr/>
        </p:nvSpPr>
        <p:spPr>
          <a:xfrm>
            <a:off x="6096000" y="4191000"/>
            <a:ext cx="2565400" cy="1270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6248400" y="4406900"/>
            <a:ext cx="226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STATUS</a:t>
            </a:r>
            <a:endParaRPr lang="zh-CN" sz="1400"/>
          </a:p>
        </p:txBody>
      </p:sp>
      <p:sp>
        <p:nvSpPr>
          <p:cNvPr id="29" name="Text 29"/>
          <p:cNvSpPr txBox="1"/>
          <p:nvPr/>
        </p:nvSpPr>
        <p:spPr>
          <a:xfrm>
            <a:off x="6248400" y="4826000"/>
            <a:ext cx="2260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SHOW REPLICA STATUS</a:t>
            </a:r>
            <a:endParaRPr lang="zh-CN" sz="1150"/>
          </a:p>
        </p:txBody>
      </p:sp>
      <p:sp>
        <p:nvSpPr>
          <p:cNvPr id="30" name="Rectangle 30"/>
          <p:cNvSpPr/>
          <p:nvPr/>
        </p:nvSpPr>
        <p:spPr>
          <a:xfrm>
            <a:off x="8940800" y="4191000"/>
            <a:ext cx="2565400" cy="1270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9093200" y="4406900"/>
            <a:ext cx="2260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REPLICATION</a:t>
            </a:r>
            <a:endParaRPr lang="zh-CN" sz="1400"/>
          </a:p>
        </p:txBody>
      </p:sp>
      <p:sp>
        <p:nvSpPr>
          <p:cNvPr id="32" name="Text 32"/>
          <p:cNvSpPr txBox="1"/>
          <p:nvPr/>
        </p:nvSpPr>
        <p:spPr>
          <a:xfrm>
            <a:off x="9093200" y="4826000"/>
            <a:ext cx="2260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复制通道拉 binlog</a:t>
            </a:r>
            <a:endParaRPr lang="zh-CN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06400" y="304800"/>
            <a:ext cx="127000" cy="127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11200" y="203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用不同的锁，解决不同的竞争</a:t>
            </a:r>
            <a:endParaRPr lang="zh-CN" sz="3400"/>
          </a:p>
        </p:txBody>
      </p:sp>
      <p:cxnSp>
        <p:nvCxnSpPr>
          <p:cNvPr id="4" name="Connector 4"/>
          <p:cNvCxnSpPr/>
          <p:nvPr/>
        </p:nvCxnSpPr>
        <p:spPr>
          <a:xfrm>
            <a:off x="406400" y="6248400"/>
            <a:ext cx="113792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406400" y="637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11252200" y="63500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lang="zh-CN" sz="1000"/>
          </a:p>
        </p:txBody>
      </p:sp>
      <p:sp>
        <p:nvSpPr>
          <p:cNvPr id="7" name="Rectangle 7"/>
          <p:cNvSpPr/>
          <p:nvPr/>
        </p:nvSpPr>
        <p:spPr>
          <a:xfrm>
            <a:off x="406400" y="1422400"/>
            <a:ext cx="5435600" cy="175260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406400" y="1422400"/>
            <a:ext cx="88900" cy="17526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660400" y="1638300"/>
            <a:ext cx="497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监控采集</a:t>
            </a:r>
            <a:endParaRPr lang="zh-CN" sz="2000"/>
          </a:p>
        </p:txBody>
      </p:sp>
      <p:sp>
        <p:nvSpPr>
          <p:cNvPr id="10" name="Text 10"/>
          <p:cNvSpPr txBox="1"/>
          <p:nvPr/>
        </p:nvSpPr>
        <p:spPr>
          <a:xfrm>
            <a:off x="660400" y="2146300"/>
            <a:ext cx="4978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GET_LOCK(key, 0)</a:t>
            </a:r>
            <a:endParaRPr lang="zh-CN" sz="1400"/>
          </a:p>
          <a:p>
            <a:pPr algn="l"/>
            <a:r>
              <a:rPr lang="zh-CN" altLang="en-US" sz="14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抢不到就跳过，不排队</a:t>
            </a:r>
            <a:endParaRPr lang="zh-CN" sz="1400"/>
          </a:p>
        </p:txBody>
      </p:sp>
      <p:sp>
        <p:nvSpPr>
          <p:cNvPr id="11" name="Rectangle 11"/>
          <p:cNvSpPr/>
          <p:nvPr/>
        </p:nvSpPr>
        <p:spPr>
          <a:xfrm>
            <a:off x="6350000" y="1422400"/>
            <a:ext cx="5435600" cy="17526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350000" y="1422400"/>
            <a:ext cx="8890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604000" y="1638300"/>
            <a:ext cx="497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管理员写入</a:t>
            </a:r>
            <a:endParaRPr lang="zh-CN" sz="2000"/>
          </a:p>
        </p:txBody>
      </p:sp>
      <p:sp>
        <p:nvSpPr>
          <p:cNvPr id="14" name="Text 14"/>
          <p:cNvSpPr txBox="1"/>
          <p:nvPr/>
        </p:nvSpPr>
        <p:spPr>
          <a:xfrm>
            <a:off x="6604000" y="2146300"/>
            <a:ext cx="4978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READ COMMITTED · 5s</a:t>
            </a:r>
            <a:endParaRPr lang="zh-CN" sz="1400"/>
          </a:p>
          <a:p>
            <a:pPr algn="l"/>
            <a:r>
              <a:rPr lang="zh-CN" altLang="en-US" sz="14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按操作者 → 管理员 → 目标 ID 加锁</a:t>
            </a:r>
            <a:endParaRPr lang="zh-CN" sz="1400"/>
          </a:p>
        </p:txBody>
      </p:sp>
      <p:sp>
        <p:nvSpPr>
          <p:cNvPr id="15" name="Rectangle 15"/>
          <p:cNvSpPr/>
          <p:nvPr/>
        </p:nvSpPr>
        <p:spPr>
          <a:xfrm>
            <a:off x="406400" y="3530600"/>
            <a:ext cx="5435600" cy="17526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06400" y="3530600"/>
            <a:ext cx="88900" cy="1752600"/>
          </a:xfrm>
          <a:prstGeom prst="rect">
            <a:avLst/>
          </a:prstGeom>
          <a:solidFill>
            <a:srgbClr val="276EF1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60400" y="3746500"/>
            <a:ext cx="497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任务领取</a:t>
            </a:r>
            <a:endParaRPr lang="zh-CN" sz="2000"/>
          </a:p>
        </p:txBody>
      </p:sp>
      <p:sp>
        <p:nvSpPr>
          <p:cNvPr id="18" name="Text 18"/>
          <p:cNvSpPr txBox="1"/>
          <p:nvPr/>
        </p:nvSpPr>
        <p:spPr>
          <a:xfrm>
            <a:off x="660400" y="4254500"/>
            <a:ext cx="4978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FOR UPDATE SKIP LOCKED</a:t>
            </a:r>
            <a:endParaRPr lang="zh-CN" sz="1400"/>
          </a:p>
          <a:p>
            <a:pPr algn="l"/>
            <a:r>
              <a:rPr lang="zh-CN" altLang="en-US" sz="14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多个 worker 各领各的</a:t>
            </a:r>
            <a:endParaRPr lang="zh-CN" sz="1400"/>
          </a:p>
        </p:txBody>
      </p:sp>
      <p:sp>
        <p:nvSpPr>
          <p:cNvPr id="19" name="Rectangle 19"/>
          <p:cNvSpPr/>
          <p:nvPr/>
        </p:nvSpPr>
        <p:spPr>
          <a:xfrm>
            <a:off x="6350000" y="3530600"/>
            <a:ext cx="5435600" cy="17526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6350000" y="3530600"/>
            <a:ext cx="88900" cy="1752600"/>
          </a:xfrm>
          <a:prstGeom prst="rect">
            <a:avLst/>
          </a:prstGeom>
          <a:solidFill>
            <a:srgbClr val="178A5B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604000" y="3746500"/>
            <a:ext cx="49784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配置保存</a:t>
            </a:r>
            <a:endParaRPr lang="zh-CN" sz="2000"/>
          </a:p>
        </p:txBody>
      </p:sp>
      <p:sp>
        <p:nvSpPr>
          <p:cNvPr id="22" name="Text 22"/>
          <p:cNvSpPr txBox="1"/>
          <p:nvPr/>
        </p:nvSpPr>
        <p:spPr>
          <a:xfrm>
            <a:off x="6604000" y="4254500"/>
            <a:ext cx="49784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4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乐观版本锁</a:t>
            </a:r>
            <a:endParaRPr lang="zh-CN" sz="1400"/>
          </a:p>
          <a:p>
            <a:pPr algn="l"/>
            <a:r>
              <a:rPr lang="zh-CN" altLang="en-US" sz="14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冲突时拒绝覆盖</a:t>
            </a:r>
            <a:endParaRPr lang="zh-CN" sz="1400"/>
          </a:p>
        </p:txBody>
      </p:sp>
      <p:sp>
        <p:nvSpPr>
          <p:cNvPr id="23" name="Text 23"/>
          <p:cNvSpPr txBox="1"/>
          <p:nvPr/>
        </p:nvSpPr>
        <p:spPr>
          <a:xfrm>
            <a:off x="406400" y="55626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8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不同场景，使用不同的并发工具</a:t>
            </a:r>
            <a:endParaRPr lang="zh-CN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06400" y="304800"/>
            <a:ext cx="127000" cy="127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11200" y="203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一次安全写入，是一条完整证据链</a:t>
            </a:r>
            <a:endParaRPr lang="zh-CN" sz="3400"/>
          </a:p>
        </p:txBody>
      </p:sp>
      <p:cxnSp>
        <p:nvCxnSpPr>
          <p:cNvPr id="4" name="Connector 4"/>
          <p:cNvCxnSpPr/>
          <p:nvPr/>
        </p:nvCxnSpPr>
        <p:spPr>
          <a:xfrm>
            <a:off x="406400" y="6248400"/>
            <a:ext cx="113792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406400" y="637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11252200" y="63500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zh-CN" sz="1000"/>
          </a:p>
        </p:txBody>
      </p:sp>
      <p:sp>
        <p:nvSpPr>
          <p:cNvPr id="7" name="Rectangle 7"/>
          <p:cNvSpPr/>
          <p:nvPr/>
        </p:nvSpPr>
        <p:spPr>
          <a:xfrm>
            <a:off x="406400" y="1422400"/>
            <a:ext cx="2565400" cy="13208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406400" y="1422400"/>
            <a:ext cx="431800" cy="4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406400" y="14605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1200"/>
          </a:p>
        </p:txBody>
      </p:sp>
      <p:sp>
        <p:nvSpPr>
          <p:cNvPr id="10" name="Text 10"/>
          <p:cNvSpPr txBox="1"/>
          <p:nvPr/>
        </p:nvSpPr>
        <p:spPr>
          <a:xfrm>
            <a:off x="1016000" y="15875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主库预览</a:t>
            </a:r>
            <a:endParaRPr lang="zh-CN" sz="1600"/>
          </a:p>
        </p:txBody>
      </p:sp>
      <p:sp>
        <p:nvSpPr>
          <p:cNvPr id="11" name="Text 11"/>
          <p:cNvSpPr txBox="1"/>
          <p:nvPr/>
        </p:nvSpPr>
        <p:spPr>
          <a:xfrm>
            <a:off x="609600" y="2082800"/>
            <a:ext cx="2159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先算影响范围</a:t>
            </a:r>
            <a:endParaRPr lang="zh-CN" sz="1250"/>
          </a:p>
        </p:txBody>
      </p:sp>
      <p:sp>
        <p:nvSpPr>
          <p:cNvPr id="12" name="Rectangle 12"/>
          <p:cNvSpPr/>
          <p:nvPr/>
        </p:nvSpPr>
        <p:spPr>
          <a:xfrm>
            <a:off x="3276600" y="1422400"/>
            <a:ext cx="2565400" cy="13208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3276600" y="1422400"/>
            <a:ext cx="431800" cy="4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3276600" y="14605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1200"/>
          </a:p>
        </p:txBody>
      </p:sp>
      <p:sp>
        <p:nvSpPr>
          <p:cNvPr id="15" name="Text 15"/>
          <p:cNvSpPr txBox="1"/>
          <p:nvPr/>
        </p:nvSpPr>
        <p:spPr>
          <a:xfrm>
            <a:off x="3886200" y="15875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请求校验</a:t>
            </a:r>
            <a:endParaRPr lang="zh-CN" sz="1600"/>
          </a:p>
        </p:txBody>
      </p:sp>
      <p:sp>
        <p:nvSpPr>
          <p:cNvPr id="16" name="Text 16"/>
          <p:cNvSpPr txBox="1"/>
          <p:nvPr/>
        </p:nvSpPr>
        <p:spPr>
          <a:xfrm>
            <a:off x="3479800" y="2082800"/>
            <a:ext cx="2159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CSRF + 明确确认</a:t>
            </a:r>
            <a:endParaRPr lang="zh-CN" sz="1250"/>
          </a:p>
        </p:txBody>
      </p:sp>
      <p:sp>
        <p:nvSpPr>
          <p:cNvPr id="17" name="Rectangle 17"/>
          <p:cNvSpPr/>
          <p:nvPr/>
        </p:nvSpPr>
        <p:spPr>
          <a:xfrm>
            <a:off x="6146800" y="1422400"/>
            <a:ext cx="2565400" cy="13208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46800" y="1422400"/>
            <a:ext cx="431800" cy="4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146800" y="14605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1200"/>
          </a:p>
        </p:txBody>
      </p:sp>
      <p:sp>
        <p:nvSpPr>
          <p:cNvPr id="20" name="Text 20"/>
          <p:cNvSpPr txBox="1"/>
          <p:nvPr/>
        </p:nvSpPr>
        <p:spPr>
          <a:xfrm>
            <a:off x="6756400" y="15875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重新认证</a:t>
            </a:r>
            <a:endParaRPr lang="zh-CN" sz="1600"/>
          </a:p>
        </p:txBody>
      </p:sp>
      <p:sp>
        <p:nvSpPr>
          <p:cNvPr id="21" name="Text 21"/>
          <p:cNvSpPr txBox="1"/>
          <p:nvPr/>
        </p:nvSpPr>
        <p:spPr>
          <a:xfrm>
            <a:off x="6350000" y="2082800"/>
            <a:ext cx="2159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当前管理员密码</a:t>
            </a:r>
            <a:endParaRPr lang="zh-CN" sz="1250"/>
          </a:p>
        </p:txBody>
      </p:sp>
      <p:sp>
        <p:nvSpPr>
          <p:cNvPr id="22" name="Rectangle 22"/>
          <p:cNvSpPr/>
          <p:nvPr/>
        </p:nvSpPr>
        <p:spPr>
          <a:xfrm>
            <a:off x="9017000" y="1422400"/>
            <a:ext cx="2768600" cy="13208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9017000" y="1422400"/>
            <a:ext cx="431800" cy="4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9017000" y="14605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1200"/>
          </a:p>
        </p:txBody>
      </p:sp>
      <p:sp>
        <p:nvSpPr>
          <p:cNvPr id="25" name="Text 25"/>
          <p:cNvSpPr txBox="1"/>
          <p:nvPr/>
        </p:nvSpPr>
        <p:spPr>
          <a:xfrm>
            <a:off x="9626600" y="1587500"/>
            <a:ext cx="2032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幂等入口</a:t>
            </a:r>
            <a:endParaRPr lang="zh-CN" sz="1600"/>
          </a:p>
        </p:txBody>
      </p:sp>
      <p:sp>
        <p:nvSpPr>
          <p:cNvPr id="26" name="Text 26"/>
          <p:cNvSpPr txBox="1"/>
          <p:nvPr/>
        </p:nvSpPr>
        <p:spPr>
          <a:xfrm>
            <a:off x="9220200" y="2082800"/>
            <a:ext cx="2362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Idempotency-Key</a:t>
            </a:r>
            <a:endParaRPr lang="zh-CN" sz="1250"/>
          </a:p>
        </p:txBody>
      </p:sp>
      <p:cxnSp>
        <p:nvCxnSpPr>
          <p:cNvPr id="27" name="Connector 27"/>
          <p:cNvCxnSpPr/>
          <p:nvPr/>
        </p:nvCxnSpPr>
        <p:spPr>
          <a:xfrm>
            <a:off x="2971800" y="2082800"/>
            <a:ext cx="304800" cy="1270"/>
          </a:xfrm>
          <a:prstGeom prst="line">
            <a:avLst/>
          </a:prstGeom>
          <a:ln w="25400">
            <a:solidFill>
              <a:srgbClr val="FF6B35"/>
            </a:solidFill>
            <a:tailEnd type="triangle" w="sm" len="sm"/>
          </a:ln>
        </p:spPr>
      </p:cxnSp>
      <p:cxnSp>
        <p:nvCxnSpPr>
          <p:cNvPr id="28" name="Connector 28"/>
          <p:cNvCxnSpPr/>
          <p:nvPr/>
        </p:nvCxnSpPr>
        <p:spPr>
          <a:xfrm>
            <a:off x="5842000" y="2082800"/>
            <a:ext cx="304800" cy="1270"/>
          </a:xfrm>
          <a:prstGeom prst="line">
            <a:avLst/>
          </a:prstGeom>
          <a:ln w="25400">
            <a:solidFill>
              <a:srgbClr val="FF6B35"/>
            </a:solidFill>
            <a:tailEnd type="triangle" w="sm" len="sm"/>
          </a:ln>
        </p:spPr>
      </p:cxnSp>
      <p:cxnSp>
        <p:nvCxnSpPr>
          <p:cNvPr id="29" name="Connector 29"/>
          <p:cNvCxnSpPr/>
          <p:nvPr/>
        </p:nvCxnSpPr>
        <p:spPr>
          <a:xfrm>
            <a:off x="8712200" y="2082800"/>
            <a:ext cx="304800" cy="1270"/>
          </a:xfrm>
          <a:prstGeom prst="line">
            <a:avLst/>
          </a:prstGeom>
          <a:ln w="25400">
            <a:solidFill>
              <a:srgbClr val="FF6B35"/>
            </a:solidFill>
            <a:tailEnd type="triangle" w="sm" len="sm"/>
          </a:ln>
        </p:spPr>
      </p:cxnSp>
      <p:sp>
        <p:nvSpPr>
          <p:cNvPr id="30" name="Rectangle 30"/>
          <p:cNvSpPr/>
          <p:nvPr/>
        </p:nvSpPr>
        <p:spPr>
          <a:xfrm>
            <a:off x="1841500" y="3429000"/>
            <a:ext cx="2565400" cy="13208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1841500" y="3429000"/>
            <a:ext cx="431800" cy="4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1841500" y="34671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 sz="1200"/>
          </a:p>
        </p:txBody>
      </p:sp>
      <p:sp>
        <p:nvSpPr>
          <p:cNvPr id="33" name="Text 33"/>
          <p:cNvSpPr txBox="1"/>
          <p:nvPr/>
        </p:nvSpPr>
        <p:spPr>
          <a:xfrm>
            <a:off x="2451100" y="35941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稳定加锁</a:t>
            </a:r>
            <a:endParaRPr lang="zh-CN" sz="1600"/>
          </a:p>
        </p:txBody>
      </p:sp>
      <p:sp>
        <p:nvSpPr>
          <p:cNvPr id="34" name="Text 34"/>
          <p:cNvSpPr txBox="1"/>
          <p:nvPr/>
        </p:nvSpPr>
        <p:spPr>
          <a:xfrm>
            <a:off x="2044700" y="4089400"/>
            <a:ext cx="2159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actor → admins → targets</a:t>
            </a:r>
            <a:endParaRPr lang="zh-CN" sz="1250"/>
          </a:p>
        </p:txBody>
      </p:sp>
      <p:sp>
        <p:nvSpPr>
          <p:cNvPr id="35" name="Rectangle 35"/>
          <p:cNvSpPr/>
          <p:nvPr/>
        </p:nvSpPr>
        <p:spPr>
          <a:xfrm>
            <a:off x="4813300" y="3429000"/>
            <a:ext cx="2565400" cy="13208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4813300" y="3429000"/>
            <a:ext cx="431800" cy="4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4813300" y="34671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zh-CN" sz="1200"/>
          </a:p>
        </p:txBody>
      </p:sp>
      <p:sp>
        <p:nvSpPr>
          <p:cNvPr id="38" name="Text 38"/>
          <p:cNvSpPr txBox="1"/>
          <p:nvPr/>
        </p:nvSpPr>
        <p:spPr>
          <a:xfrm>
            <a:off x="5422900" y="35941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业务变更</a:t>
            </a:r>
            <a:endParaRPr lang="zh-CN" sz="1600"/>
          </a:p>
        </p:txBody>
      </p:sp>
      <p:sp>
        <p:nvSpPr>
          <p:cNvPr id="39" name="Text 39"/>
          <p:cNvSpPr txBox="1"/>
          <p:nvPr/>
        </p:nvSpPr>
        <p:spPr>
          <a:xfrm>
            <a:off x="5016500" y="4089400"/>
            <a:ext cx="2159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用户 / 角色 / 文件</a:t>
            </a:r>
            <a:endParaRPr lang="zh-CN" sz="1250"/>
          </a:p>
        </p:txBody>
      </p:sp>
      <p:sp>
        <p:nvSpPr>
          <p:cNvPr id="40" name="Rectangle 40"/>
          <p:cNvSpPr/>
          <p:nvPr/>
        </p:nvSpPr>
        <p:spPr>
          <a:xfrm>
            <a:off x="7785100" y="3429000"/>
            <a:ext cx="2565400" cy="13208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7785100" y="3429000"/>
            <a:ext cx="431800" cy="4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7785100" y="34671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zh-CN" sz="1200"/>
          </a:p>
        </p:txBody>
      </p:sp>
      <p:sp>
        <p:nvSpPr>
          <p:cNvPr id="43" name="Text 43"/>
          <p:cNvSpPr txBox="1"/>
          <p:nvPr/>
        </p:nvSpPr>
        <p:spPr>
          <a:xfrm>
            <a:off x="8394700" y="3594100"/>
            <a:ext cx="1828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同事务证据</a:t>
            </a:r>
            <a:endParaRPr lang="zh-CN" sz="1600"/>
          </a:p>
        </p:txBody>
      </p:sp>
      <p:sp>
        <p:nvSpPr>
          <p:cNvPr id="44" name="Text 44"/>
          <p:cNvSpPr txBox="1"/>
          <p:nvPr/>
        </p:nvSpPr>
        <p:spPr>
          <a:xfrm>
            <a:off x="7988300" y="4089400"/>
            <a:ext cx="2159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operation + items + audit</a:t>
            </a:r>
            <a:endParaRPr lang="zh-CN" sz="1250"/>
          </a:p>
        </p:txBody>
      </p:sp>
      <p:cxnSp>
        <p:nvCxnSpPr>
          <p:cNvPr id="45" name="Connector 45"/>
          <p:cNvCxnSpPr/>
          <p:nvPr/>
        </p:nvCxnSpPr>
        <p:spPr>
          <a:xfrm>
            <a:off x="9017000" y="2743200"/>
            <a:ext cx="50800" cy="317500"/>
          </a:xfrm>
          <a:prstGeom prst="line">
            <a:avLst/>
          </a:prstGeom>
          <a:ln w="19050">
            <a:solidFill>
              <a:srgbClr val="B8BCC4"/>
            </a:solidFill>
          </a:ln>
        </p:spPr>
      </p:cxnSp>
      <p:cxnSp>
        <p:nvCxnSpPr>
          <p:cNvPr id="46" name="Connector 46"/>
          <p:cNvCxnSpPr/>
          <p:nvPr/>
        </p:nvCxnSpPr>
        <p:spPr>
          <a:xfrm flipH="1">
            <a:off x="3124200" y="3060700"/>
            <a:ext cx="5943600" cy="1270"/>
          </a:xfrm>
          <a:prstGeom prst="line">
            <a:avLst/>
          </a:prstGeom>
          <a:ln w="19050">
            <a:solidFill>
              <a:srgbClr val="B8BCC4"/>
            </a:solidFill>
          </a:ln>
        </p:spPr>
      </p:cxnSp>
      <p:cxnSp>
        <p:nvCxnSpPr>
          <p:cNvPr id="47" name="Connector 47"/>
          <p:cNvCxnSpPr/>
          <p:nvPr/>
        </p:nvCxnSpPr>
        <p:spPr>
          <a:xfrm>
            <a:off x="3124200" y="3060700"/>
            <a:ext cx="1270" cy="368300"/>
          </a:xfrm>
          <a:prstGeom prst="line">
            <a:avLst/>
          </a:prstGeom>
          <a:ln w="19050">
            <a:solidFill>
              <a:srgbClr val="B8BCC4"/>
            </a:solidFill>
            <a:tailEnd type="triangle" w="sm" len="sm"/>
          </a:ln>
        </p:spPr>
      </p:cxnSp>
      <p:cxnSp>
        <p:nvCxnSpPr>
          <p:cNvPr id="48" name="Connector 48"/>
          <p:cNvCxnSpPr/>
          <p:nvPr/>
        </p:nvCxnSpPr>
        <p:spPr>
          <a:xfrm>
            <a:off x="4406900" y="4089400"/>
            <a:ext cx="406400" cy="1270"/>
          </a:xfrm>
          <a:prstGeom prst="line">
            <a:avLst/>
          </a:prstGeom>
          <a:ln w="25400">
            <a:solidFill>
              <a:srgbClr val="FF6B35"/>
            </a:solidFill>
            <a:tailEnd type="triangle" w="sm" len="sm"/>
          </a:ln>
        </p:spPr>
      </p:cxnSp>
      <p:cxnSp>
        <p:nvCxnSpPr>
          <p:cNvPr id="49" name="Connector 49"/>
          <p:cNvCxnSpPr/>
          <p:nvPr/>
        </p:nvCxnSpPr>
        <p:spPr>
          <a:xfrm>
            <a:off x="7378700" y="4089400"/>
            <a:ext cx="406400" cy="1270"/>
          </a:xfrm>
          <a:prstGeom prst="line">
            <a:avLst/>
          </a:prstGeom>
          <a:ln w="25400">
            <a:solidFill>
              <a:srgbClr val="FF6B35"/>
            </a:solidFill>
            <a:tailEnd type="triangle" w="sm" len="sm"/>
          </a:ln>
        </p:spPr>
      </p:cxnSp>
      <p:sp>
        <p:nvSpPr>
          <p:cNvPr id="50" name="Rectangle 50"/>
          <p:cNvSpPr/>
          <p:nvPr/>
        </p:nvSpPr>
        <p:spPr>
          <a:xfrm>
            <a:off x="1841500" y="5105400"/>
            <a:ext cx="8509000" cy="60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51" name="Text 51"/>
          <p:cNvSpPr txBox="1"/>
          <p:nvPr/>
        </p:nvSpPr>
        <p:spPr>
          <a:xfrm>
            <a:off x="2146300" y="5283200"/>
            <a:ext cx="7899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失败重试：使用同一个幂等键，不重复执行同一动作</a:t>
            </a:r>
            <a:endParaRPr lang="zh-CN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06400" y="304800"/>
            <a:ext cx="127000" cy="127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11200" y="203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删除是生命周期结算，不是一条 SQL</a:t>
            </a:r>
            <a:endParaRPr lang="zh-CN" sz="3400"/>
          </a:p>
        </p:txBody>
      </p:sp>
      <p:cxnSp>
        <p:nvCxnSpPr>
          <p:cNvPr id="4" name="Connector 4"/>
          <p:cNvCxnSpPr/>
          <p:nvPr/>
        </p:nvCxnSpPr>
        <p:spPr>
          <a:xfrm>
            <a:off x="406400" y="6248400"/>
            <a:ext cx="113792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406400" y="637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11252200" y="63500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zh-CN" sz="1000"/>
          </a:p>
        </p:txBody>
      </p:sp>
      <p:sp>
        <p:nvSpPr>
          <p:cNvPr id="7" name="Rectangle 7"/>
          <p:cNvSpPr/>
          <p:nvPr/>
        </p:nvSpPr>
        <p:spPr>
          <a:xfrm>
            <a:off x="406400" y="1422400"/>
            <a:ext cx="3556000" cy="14986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406400" y="1422400"/>
            <a:ext cx="431800" cy="4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406400" y="14605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1200"/>
          </a:p>
        </p:txBody>
      </p:sp>
      <p:sp>
        <p:nvSpPr>
          <p:cNvPr id="10" name="Text 10"/>
          <p:cNvSpPr txBox="1"/>
          <p:nvPr/>
        </p:nvSpPr>
        <p:spPr>
          <a:xfrm>
            <a:off x="1016000" y="1587500"/>
            <a:ext cx="2819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影响预览</a:t>
            </a:r>
            <a:endParaRPr lang="zh-CN" sz="1600"/>
          </a:p>
        </p:txBody>
      </p:sp>
      <p:sp>
        <p:nvSpPr>
          <p:cNvPr id="11" name="Text 11"/>
          <p:cNvSpPr txBox="1"/>
          <p:nvPr/>
        </p:nvSpPr>
        <p:spPr>
          <a:xfrm>
            <a:off x="609600" y="2082800"/>
            <a:ext cx="3149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会话 / 任务 / 文件 / checkpoint</a:t>
            </a:r>
            <a:endParaRPr lang="zh-CN" sz="1250"/>
          </a:p>
        </p:txBody>
      </p:sp>
      <p:cxnSp>
        <p:nvCxnSpPr>
          <p:cNvPr id="12" name="Connector 12"/>
          <p:cNvCxnSpPr/>
          <p:nvPr/>
        </p:nvCxnSpPr>
        <p:spPr>
          <a:xfrm>
            <a:off x="3962400" y="2171700"/>
            <a:ext cx="304800" cy="1270"/>
          </a:xfrm>
          <a:prstGeom prst="line">
            <a:avLst/>
          </a:prstGeom>
          <a:ln w="25400">
            <a:solidFill>
              <a:srgbClr val="FF6B35"/>
            </a:solidFill>
            <a:tailEnd type="triangle" w="sm" len="sm"/>
          </a:ln>
        </p:spPr>
      </p:cxnSp>
      <p:sp>
        <p:nvSpPr>
          <p:cNvPr id="13" name="Rectangle 13"/>
          <p:cNvSpPr/>
          <p:nvPr/>
        </p:nvSpPr>
        <p:spPr>
          <a:xfrm>
            <a:off x="4267200" y="1422400"/>
            <a:ext cx="3556000" cy="14986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267200" y="1422400"/>
            <a:ext cx="431800" cy="4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267200" y="14605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1200"/>
          </a:p>
        </p:txBody>
      </p:sp>
      <p:sp>
        <p:nvSpPr>
          <p:cNvPr id="16" name="Text 16"/>
          <p:cNvSpPr txBox="1"/>
          <p:nvPr/>
        </p:nvSpPr>
        <p:spPr>
          <a:xfrm>
            <a:off x="4876800" y="1587500"/>
            <a:ext cx="2819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运行态阻断</a:t>
            </a:r>
            <a:endParaRPr lang="zh-CN" sz="1600"/>
          </a:p>
        </p:txBody>
      </p:sp>
      <p:sp>
        <p:nvSpPr>
          <p:cNvPr id="17" name="Text 17"/>
          <p:cNvSpPr txBox="1"/>
          <p:nvPr/>
        </p:nvSpPr>
        <p:spPr>
          <a:xfrm>
            <a:off x="4470400" y="2082800"/>
            <a:ext cx="3149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queued / running 时保守拒绝</a:t>
            </a:r>
            <a:endParaRPr lang="zh-CN" sz="1250"/>
          </a:p>
        </p:txBody>
      </p:sp>
      <p:cxnSp>
        <p:nvCxnSpPr>
          <p:cNvPr id="18" name="Connector 18"/>
          <p:cNvCxnSpPr/>
          <p:nvPr/>
        </p:nvCxnSpPr>
        <p:spPr>
          <a:xfrm>
            <a:off x="7823200" y="2171700"/>
            <a:ext cx="304800" cy="1270"/>
          </a:xfrm>
          <a:prstGeom prst="line">
            <a:avLst/>
          </a:prstGeom>
          <a:ln w="25400">
            <a:solidFill>
              <a:srgbClr val="FF6B35"/>
            </a:solidFill>
            <a:tailEnd type="triangle" w="sm" len="sm"/>
          </a:ln>
        </p:spPr>
      </p:cxnSp>
      <p:sp>
        <p:nvSpPr>
          <p:cNvPr id="19" name="Rectangle 19"/>
          <p:cNvSpPr/>
          <p:nvPr/>
        </p:nvSpPr>
        <p:spPr>
          <a:xfrm>
            <a:off x="8128000" y="1422400"/>
            <a:ext cx="3556000" cy="14986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8128000" y="1422400"/>
            <a:ext cx="431800" cy="4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8128000" y="14605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1200"/>
          </a:p>
        </p:txBody>
      </p:sp>
      <p:sp>
        <p:nvSpPr>
          <p:cNvPr id="22" name="Text 22"/>
          <p:cNvSpPr txBox="1"/>
          <p:nvPr/>
        </p:nvSpPr>
        <p:spPr>
          <a:xfrm>
            <a:off x="8737600" y="1587500"/>
            <a:ext cx="2819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安全护栏</a:t>
            </a:r>
            <a:endParaRPr lang="zh-CN" sz="1600"/>
          </a:p>
        </p:txBody>
      </p:sp>
      <p:sp>
        <p:nvSpPr>
          <p:cNvPr id="23" name="Text 23"/>
          <p:cNvSpPr txBox="1"/>
          <p:nvPr/>
        </p:nvSpPr>
        <p:spPr>
          <a:xfrm>
            <a:off x="8331200" y="2082800"/>
            <a:ext cx="3149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不能删自己 · 保护最后管理员</a:t>
            </a:r>
            <a:endParaRPr lang="zh-CN" sz="1250"/>
          </a:p>
        </p:txBody>
      </p:sp>
      <p:sp>
        <p:nvSpPr>
          <p:cNvPr id="24" name="Rectangle 24"/>
          <p:cNvSpPr/>
          <p:nvPr/>
        </p:nvSpPr>
        <p:spPr>
          <a:xfrm>
            <a:off x="406400" y="3225800"/>
            <a:ext cx="3556000" cy="14986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406400" y="3225800"/>
            <a:ext cx="431800" cy="4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406400" y="32639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1200"/>
          </a:p>
        </p:txBody>
      </p:sp>
      <p:sp>
        <p:nvSpPr>
          <p:cNvPr id="27" name="Text 27"/>
          <p:cNvSpPr txBox="1"/>
          <p:nvPr/>
        </p:nvSpPr>
        <p:spPr>
          <a:xfrm>
            <a:off x="1016000" y="3390900"/>
            <a:ext cx="2819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关系结算</a:t>
            </a:r>
            <a:endParaRPr lang="zh-CN" sz="1600"/>
          </a:p>
        </p:txBody>
      </p:sp>
      <p:sp>
        <p:nvSpPr>
          <p:cNvPr id="28" name="Text 28"/>
          <p:cNvSpPr txBox="1"/>
          <p:nvPr/>
        </p:nvSpPr>
        <p:spPr>
          <a:xfrm>
            <a:off x="609600" y="3886200"/>
            <a:ext cx="3149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checkpoint 显式清理 + 外键级联</a:t>
            </a:r>
            <a:endParaRPr lang="zh-CN" sz="1250"/>
          </a:p>
        </p:txBody>
      </p:sp>
      <p:cxnSp>
        <p:nvCxnSpPr>
          <p:cNvPr id="29" name="Connector 29"/>
          <p:cNvCxnSpPr/>
          <p:nvPr/>
        </p:nvCxnSpPr>
        <p:spPr>
          <a:xfrm>
            <a:off x="3962400" y="3975100"/>
            <a:ext cx="304800" cy="1270"/>
          </a:xfrm>
          <a:prstGeom prst="line">
            <a:avLst/>
          </a:prstGeom>
          <a:ln w="25400">
            <a:solidFill>
              <a:srgbClr val="FF6B35"/>
            </a:solidFill>
            <a:tailEnd type="triangle" w="sm" len="sm"/>
          </a:ln>
        </p:spPr>
      </p:cxnSp>
      <p:sp>
        <p:nvSpPr>
          <p:cNvPr id="30" name="Rectangle 30"/>
          <p:cNvSpPr/>
          <p:nvPr/>
        </p:nvSpPr>
        <p:spPr>
          <a:xfrm>
            <a:off x="4267200" y="3225800"/>
            <a:ext cx="3556000" cy="14986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4267200" y="3225800"/>
            <a:ext cx="431800" cy="4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2" name="Text 32"/>
          <p:cNvSpPr txBox="1"/>
          <p:nvPr/>
        </p:nvSpPr>
        <p:spPr>
          <a:xfrm>
            <a:off x="4267200" y="32639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 sz="1200"/>
          </a:p>
        </p:txBody>
      </p:sp>
      <p:sp>
        <p:nvSpPr>
          <p:cNvPr id="33" name="Text 33"/>
          <p:cNvSpPr txBox="1"/>
          <p:nvPr/>
        </p:nvSpPr>
        <p:spPr>
          <a:xfrm>
            <a:off x="4876800" y="3390900"/>
            <a:ext cx="2819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物理删除</a:t>
            </a:r>
            <a:endParaRPr lang="zh-CN" sz="1600"/>
          </a:p>
        </p:txBody>
      </p:sp>
      <p:sp>
        <p:nvSpPr>
          <p:cNvPr id="34" name="Text 34"/>
          <p:cNvSpPr txBox="1"/>
          <p:nvPr/>
        </p:nvSpPr>
        <p:spPr>
          <a:xfrm>
            <a:off x="4470400" y="3886200"/>
            <a:ext cx="3149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文件行与 BLOB 同时删除</a:t>
            </a:r>
            <a:endParaRPr lang="zh-CN" sz="1250"/>
          </a:p>
        </p:txBody>
      </p:sp>
      <p:cxnSp>
        <p:nvCxnSpPr>
          <p:cNvPr id="35" name="Connector 35"/>
          <p:cNvCxnSpPr/>
          <p:nvPr/>
        </p:nvCxnSpPr>
        <p:spPr>
          <a:xfrm>
            <a:off x="7823200" y="3975100"/>
            <a:ext cx="304800" cy="1270"/>
          </a:xfrm>
          <a:prstGeom prst="line">
            <a:avLst/>
          </a:prstGeom>
          <a:ln w="25400">
            <a:solidFill>
              <a:srgbClr val="FF6B35"/>
            </a:solidFill>
            <a:tailEnd type="triangle" w="sm" len="sm"/>
          </a:ln>
        </p:spPr>
      </p:cxnSp>
      <p:sp>
        <p:nvSpPr>
          <p:cNvPr id="36" name="Rectangle 36"/>
          <p:cNvSpPr/>
          <p:nvPr/>
        </p:nvSpPr>
        <p:spPr>
          <a:xfrm>
            <a:off x="8128000" y="3225800"/>
            <a:ext cx="3556000" cy="14986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128000" y="3225800"/>
            <a:ext cx="431800" cy="431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8128000" y="32639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zh-CN" sz="1200"/>
          </a:p>
        </p:txBody>
      </p:sp>
      <p:sp>
        <p:nvSpPr>
          <p:cNvPr id="39" name="Text 39"/>
          <p:cNvSpPr txBox="1"/>
          <p:nvPr/>
        </p:nvSpPr>
        <p:spPr>
          <a:xfrm>
            <a:off x="8737600" y="3390900"/>
            <a:ext cx="2819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审计提交</a:t>
            </a:r>
            <a:endParaRPr lang="zh-CN" sz="1600"/>
          </a:p>
        </p:txBody>
      </p:sp>
      <p:sp>
        <p:nvSpPr>
          <p:cNvPr id="40" name="Text 40"/>
          <p:cNvSpPr txBox="1"/>
          <p:nvPr/>
        </p:nvSpPr>
        <p:spPr>
          <a:xfrm>
            <a:off x="8331200" y="3886200"/>
            <a:ext cx="3149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2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业务结果与证据同事务</a:t>
            </a:r>
            <a:endParaRPr lang="zh-CN" sz="1250"/>
          </a:p>
        </p:txBody>
      </p:sp>
      <p:sp>
        <p:nvSpPr>
          <p:cNvPr id="41" name="Text 41"/>
          <p:cNvSpPr txBox="1"/>
          <p:nvPr/>
        </p:nvSpPr>
        <p:spPr>
          <a:xfrm>
            <a:off x="406400" y="5295900"/>
            <a:ext cx="11379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700" b="1" dirty="0">
                <a:solidFill>
                  <a:srgbClr val="C23B22"/>
                </a:solidFill>
                <a:latin typeface="微软雅黑" panose="020B0503020204020204" charset="-122"/>
                <a:ea typeface="微软雅黑" panose="020B0503020204020204" charset="-122"/>
              </a:rPr>
              <a:t>批量默认 20 / 硬上限 50 · 文件物理删除没有回收站</a:t>
            </a:r>
            <a:endParaRPr lang="zh-CN"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06400" y="304800"/>
            <a:ext cx="127000" cy="127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11200" y="203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37 次提交，把「能看」推进到「能治理」</a:t>
            </a:r>
            <a:endParaRPr lang="zh-CN" sz="3400"/>
          </a:p>
        </p:txBody>
      </p:sp>
      <p:cxnSp>
        <p:nvCxnSpPr>
          <p:cNvPr id="4" name="Connector 4"/>
          <p:cNvCxnSpPr/>
          <p:nvPr/>
        </p:nvCxnSpPr>
        <p:spPr>
          <a:xfrm>
            <a:off x="406400" y="6248400"/>
            <a:ext cx="113792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406400" y="637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11252200" y="63500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zh-CN" sz="1000"/>
          </a:p>
        </p:txBody>
      </p:sp>
      <p:cxnSp>
        <p:nvCxnSpPr>
          <p:cNvPr id="7" name="Connector 7"/>
          <p:cNvCxnSpPr/>
          <p:nvPr/>
        </p:nvCxnSpPr>
        <p:spPr>
          <a:xfrm>
            <a:off x="889000" y="3581400"/>
            <a:ext cx="10388600" cy="127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8" name="Rectangle 8"/>
          <p:cNvSpPr/>
          <p:nvPr/>
        </p:nvSpPr>
        <p:spPr>
          <a:xfrm>
            <a:off x="914400" y="3429000"/>
            <a:ext cx="304800" cy="30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863600" y="2667000"/>
            <a:ext cx="175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STEP 1</a:t>
            </a:r>
            <a:endParaRPr lang="zh-CN" sz="1100"/>
          </a:p>
        </p:txBody>
      </p:sp>
      <p:sp>
        <p:nvSpPr>
          <p:cNvPr id="10" name="Text 10"/>
          <p:cNvSpPr txBox="1"/>
          <p:nvPr/>
        </p:nvSpPr>
        <p:spPr>
          <a:xfrm>
            <a:off x="863600" y="3962400"/>
            <a:ext cx="711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sz="2700"/>
          </a:p>
        </p:txBody>
      </p:sp>
      <p:sp>
        <p:nvSpPr>
          <p:cNvPr id="11" name="Text 11"/>
          <p:cNvSpPr txBox="1"/>
          <p:nvPr/>
        </p:nvSpPr>
        <p:spPr>
          <a:xfrm>
            <a:off x="1435100" y="41529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次提交</a:t>
            </a:r>
            <a:endParaRPr lang="zh-CN" sz="1100"/>
          </a:p>
        </p:txBody>
      </p:sp>
      <p:sp>
        <p:nvSpPr>
          <p:cNvPr id="12" name="Text 12"/>
          <p:cNvSpPr txBox="1"/>
          <p:nvPr/>
        </p:nvSpPr>
        <p:spPr>
          <a:xfrm>
            <a:off x="863600" y="4635500"/>
            <a:ext cx="1803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数据库基础</a:t>
            </a:r>
            <a:endParaRPr lang="zh-CN" sz="1600"/>
          </a:p>
        </p:txBody>
      </p:sp>
      <p:sp>
        <p:nvSpPr>
          <p:cNvPr id="13" name="Text 13"/>
          <p:cNvSpPr txBox="1"/>
          <p:nvPr/>
        </p:nvSpPr>
        <p:spPr>
          <a:xfrm>
            <a:off x="863600" y="5092700"/>
            <a:ext cx="18288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读写分离 / 权限基线</a:t>
            </a:r>
            <a:endParaRPr lang="zh-CN" sz="1150"/>
          </a:p>
        </p:txBody>
      </p:sp>
      <p:sp>
        <p:nvSpPr>
          <p:cNvPr id="14" name="Rectangle 14"/>
          <p:cNvSpPr/>
          <p:nvPr/>
        </p:nvSpPr>
        <p:spPr>
          <a:xfrm>
            <a:off x="3098800" y="3429000"/>
            <a:ext cx="304800" cy="30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3048000" y="2667000"/>
            <a:ext cx="175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STEP 2</a:t>
            </a:r>
            <a:endParaRPr lang="zh-CN" sz="1100"/>
          </a:p>
        </p:txBody>
      </p:sp>
      <p:sp>
        <p:nvSpPr>
          <p:cNvPr id="16" name="Text 16"/>
          <p:cNvSpPr txBox="1"/>
          <p:nvPr/>
        </p:nvSpPr>
        <p:spPr>
          <a:xfrm>
            <a:off x="3048000" y="3962400"/>
            <a:ext cx="711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zh-CN" sz="2700"/>
          </a:p>
        </p:txBody>
      </p:sp>
      <p:sp>
        <p:nvSpPr>
          <p:cNvPr id="17" name="Text 17"/>
          <p:cNvSpPr txBox="1"/>
          <p:nvPr/>
        </p:nvSpPr>
        <p:spPr>
          <a:xfrm>
            <a:off x="3619500" y="41529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次提交</a:t>
            </a:r>
            <a:endParaRPr lang="zh-CN" sz="1100"/>
          </a:p>
        </p:txBody>
      </p:sp>
      <p:sp>
        <p:nvSpPr>
          <p:cNvPr id="18" name="Text 18"/>
          <p:cNvSpPr txBox="1"/>
          <p:nvPr/>
        </p:nvSpPr>
        <p:spPr>
          <a:xfrm>
            <a:off x="3048000" y="4635500"/>
            <a:ext cx="1803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安全只读后台</a:t>
            </a:r>
            <a:endParaRPr lang="zh-CN" sz="1600"/>
          </a:p>
        </p:txBody>
      </p:sp>
      <p:sp>
        <p:nvSpPr>
          <p:cNvPr id="19" name="Text 19"/>
          <p:cNvSpPr txBox="1"/>
          <p:nvPr/>
        </p:nvSpPr>
        <p:spPr>
          <a:xfrm>
            <a:off x="3048000" y="5092700"/>
            <a:ext cx="18288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管理员入口 / 审计</a:t>
            </a:r>
            <a:endParaRPr lang="zh-CN" sz="1150"/>
          </a:p>
        </p:txBody>
      </p:sp>
      <p:sp>
        <p:nvSpPr>
          <p:cNvPr id="20" name="Rectangle 20"/>
          <p:cNvSpPr/>
          <p:nvPr/>
        </p:nvSpPr>
        <p:spPr>
          <a:xfrm>
            <a:off x="5283200" y="3429000"/>
            <a:ext cx="304800" cy="30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5232400" y="2667000"/>
            <a:ext cx="175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STEP 2.5</a:t>
            </a:r>
            <a:endParaRPr lang="zh-CN" sz="1100"/>
          </a:p>
        </p:txBody>
      </p:sp>
      <p:sp>
        <p:nvSpPr>
          <p:cNvPr id="22" name="Text 22"/>
          <p:cNvSpPr txBox="1"/>
          <p:nvPr/>
        </p:nvSpPr>
        <p:spPr>
          <a:xfrm>
            <a:off x="5232400" y="3962400"/>
            <a:ext cx="711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zh-CN" sz="2700"/>
          </a:p>
        </p:txBody>
      </p:sp>
      <p:sp>
        <p:nvSpPr>
          <p:cNvPr id="23" name="Text 23"/>
          <p:cNvSpPr txBox="1"/>
          <p:nvPr/>
        </p:nvSpPr>
        <p:spPr>
          <a:xfrm>
            <a:off x="5803900" y="41529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次提交</a:t>
            </a:r>
            <a:endParaRPr lang="zh-CN" sz="1100"/>
          </a:p>
        </p:txBody>
      </p:sp>
      <p:sp>
        <p:nvSpPr>
          <p:cNvPr id="24" name="Text 24"/>
          <p:cNvSpPr txBox="1"/>
          <p:nvPr/>
        </p:nvSpPr>
        <p:spPr>
          <a:xfrm>
            <a:off x="5232400" y="4635500"/>
            <a:ext cx="1803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共享监控</a:t>
            </a:r>
            <a:endParaRPr lang="zh-CN" sz="1600"/>
          </a:p>
        </p:txBody>
      </p:sp>
      <p:sp>
        <p:nvSpPr>
          <p:cNvPr id="25" name="Text 25"/>
          <p:cNvSpPr txBox="1"/>
          <p:nvPr/>
        </p:nvSpPr>
        <p:spPr>
          <a:xfrm>
            <a:off x="5232400" y="5092700"/>
            <a:ext cx="18288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独立采集 / 快照</a:t>
            </a:r>
            <a:endParaRPr lang="zh-CN" sz="1150"/>
          </a:p>
        </p:txBody>
      </p:sp>
      <p:sp>
        <p:nvSpPr>
          <p:cNvPr id="26" name="Rectangle 26"/>
          <p:cNvSpPr/>
          <p:nvPr/>
        </p:nvSpPr>
        <p:spPr>
          <a:xfrm>
            <a:off x="7467600" y="3429000"/>
            <a:ext cx="304800" cy="30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7416800" y="2667000"/>
            <a:ext cx="175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STEP 3.1</a:t>
            </a:r>
            <a:endParaRPr lang="zh-CN" sz="1100"/>
          </a:p>
        </p:txBody>
      </p:sp>
      <p:sp>
        <p:nvSpPr>
          <p:cNvPr id="28" name="Text 28"/>
          <p:cNvSpPr txBox="1"/>
          <p:nvPr/>
        </p:nvSpPr>
        <p:spPr>
          <a:xfrm>
            <a:off x="7416800" y="3962400"/>
            <a:ext cx="711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zh-CN" sz="2700"/>
          </a:p>
        </p:txBody>
      </p:sp>
      <p:sp>
        <p:nvSpPr>
          <p:cNvPr id="29" name="Text 29"/>
          <p:cNvSpPr txBox="1"/>
          <p:nvPr/>
        </p:nvSpPr>
        <p:spPr>
          <a:xfrm>
            <a:off x="7988300" y="41529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次提交</a:t>
            </a:r>
            <a:endParaRPr lang="zh-CN" sz="1100"/>
          </a:p>
        </p:txBody>
      </p:sp>
      <p:sp>
        <p:nvSpPr>
          <p:cNvPr id="30" name="Text 30"/>
          <p:cNvSpPr txBox="1"/>
          <p:nvPr/>
        </p:nvSpPr>
        <p:spPr>
          <a:xfrm>
            <a:off x="7416800" y="4635500"/>
            <a:ext cx="1803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业务只读治理</a:t>
            </a:r>
            <a:endParaRPr lang="zh-CN" sz="1600"/>
          </a:p>
        </p:txBody>
      </p:sp>
      <p:sp>
        <p:nvSpPr>
          <p:cNvPr id="31" name="Text 31"/>
          <p:cNvSpPr txBox="1"/>
          <p:nvPr/>
        </p:nvSpPr>
        <p:spPr>
          <a:xfrm>
            <a:off x="7416800" y="5092700"/>
            <a:ext cx="18288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游标 / 分块 / deep</a:t>
            </a:r>
            <a:endParaRPr lang="zh-CN" sz="1150"/>
          </a:p>
        </p:txBody>
      </p:sp>
      <p:sp>
        <p:nvSpPr>
          <p:cNvPr id="32" name="Rectangle 32"/>
          <p:cNvSpPr/>
          <p:nvPr/>
        </p:nvSpPr>
        <p:spPr>
          <a:xfrm>
            <a:off x="9652000" y="3429000"/>
            <a:ext cx="304800" cy="3048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9601200" y="2667000"/>
            <a:ext cx="17526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1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STEP 3.2</a:t>
            </a:r>
            <a:endParaRPr lang="zh-CN" sz="1100"/>
          </a:p>
        </p:txBody>
      </p:sp>
      <p:sp>
        <p:nvSpPr>
          <p:cNvPr id="34" name="Text 34"/>
          <p:cNvSpPr txBox="1"/>
          <p:nvPr/>
        </p:nvSpPr>
        <p:spPr>
          <a:xfrm>
            <a:off x="9601200" y="3962400"/>
            <a:ext cx="711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2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sz="2700"/>
          </a:p>
        </p:txBody>
      </p:sp>
      <p:sp>
        <p:nvSpPr>
          <p:cNvPr id="35" name="Text 35"/>
          <p:cNvSpPr txBox="1"/>
          <p:nvPr/>
        </p:nvSpPr>
        <p:spPr>
          <a:xfrm>
            <a:off x="10172700" y="4152900"/>
            <a:ext cx="88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次提交</a:t>
            </a:r>
            <a:endParaRPr lang="zh-CN" sz="1100"/>
          </a:p>
        </p:txBody>
      </p:sp>
      <p:sp>
        <p:nvSpPr>
          <p:cNvPr id="36" name="Text 36"/>
          <p:cNvSpPr txBox="1"/>
          <p:nvPr/>
        </p:nvSpPr>
        <p:spPr>
          <a:xfrm>
            <a:off x="9601200" y="4635500"/>
            <a:ext cx="1803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受控写入</a:t>
            </a:r>
            <a:endParaRPr lang="zh-CN" sz="1600"/>
          </a:p>
        </p:txBody>
      </p:sp>
      <p:sp>
        <p:nvSpPr>
          <p:cNvPr id="37" name="Text 37"/>
          <p:cNvSpPr txBox="1"/>
          <p:nvPr/>
        </p:nvSpPr>
        <p:spPr>
          <a:xfrm>
            <a:off x="9601200" y="5092700"/>
            <a:ext cx="18288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15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幂等 / 生命周期 / 修复</a:t>
            </a:r>
            <a:endParaRPr lang="zh-CN" sz="1150"/>
          </a:p>
        </p:txBody>
      </p:sp>
      <p:sp>
        <p:nvSpPr>
          <p:cNvPr id="38" name="Text 38"/>
          <p:cNvSpPr txBox="1"/>
          <p:nvPr/>
        </p:nvSpPr>
        <p:spPr>
          <a:xfrm>
            <a:off x="6858000" y="1422400"/>
            <a:ext cx="44196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2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5 + 9 + 10 + 8 + 5 = 37</a:t>
            </a:r>
            <a:endParaRPr lang="zh-CN" sz="2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06400" y="304800"/>
            <a:ext cx="127000" cy="127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11200" y="203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做什么，以及明确不做什么</a:t>
            </a:r>
            <a:endParaRPr lang="zh-CN" sz="3400"/>
          </a:p>
        </p:txBody>
      </p:sp>
      <p:cxnSp>
        <p:nvCxnSpPr>
          <p:cNvPr id="4" name="Connector 4"/>
          <p:cNvCxnSpPr/>
          <p:nvPr/>
        </p:nvCxnSpPr>
        <p:spPr>
          <a:xfrm>
            <a:off x="406400" y="6248400"/>
            <a:ext cx="113792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406400" y="637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11252200" y="63500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zh-CN" sz="1000"/>
          </a:p>
        </p:txBody>
      </p:sp>
      <p:sp>
        <p:nvSpPr>
          <p:cNvPr id="7" name="Rectangle 7"/>
          <p:cNvSpPr/>
          <p:nvPr/>
        </p:nvSpPr>
        <p:spPr>
          <a:xfrm>
            <a:off x="406400" y="1422400"/>
            <a:ext cx="1244600" cy="317500"/>
          </a:xfrm>
          <a:prstGeom prst="rect">
            <a:avLst/>
          </a:prstGeom>
          <a:solidFill>
            <a:srgbClr val="178A5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06400" y="1447800"/>
            <a:ext cx="1244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DELIVERED</a:t>
            </a:r>
            <a:endParaRPr lang="zh-CN" sz="1100"/>
          </a:p>
        </p:txBody>
      </p:sp>
      <p:sp>
        <p:nvSpPr>
          <p:cNvPr id="9" name="Rectangle 9"/>
          <p:cNvSpPr/>
          <p:nvPr/>
        </p:nvSpPr>
        <p:spPr>
          <a:xfrm>
            <a:off x="6350000" y="1422400"/>
            <a:ext cx="1320800" cy="3175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6350000" y="1447800"/>
            <a:ext cx="132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1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NON-GOALS</a:t>
            </a:r>
            <a:endParaRPr lang="zh-CN" sz="1100"/>
          </a:p>
        </p:txBody>
      </p:sp>
      <p:sp>
        <p:nvSpPr>
          <p:cNvPr id="11" name="Rectangle 11"/>
          <p:cNvSpPr/>
          <p:nvPr/>
        </p:nvSpPr>
        <p:spPr>
          <a:xfrm>
            <a:off x="406400" y="1955800"/>
            <a:ext cx="5435600" cy="3175000"/>
          </a:xfrm>
          <a:prstGeom prst="rect">
            <a:avLst/>
          </a:prstGeom>
          <a:solidFill>
            <a:srgbClr val="E8F5EF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350000" y="1955800"/>
            <a:ext cx="5435600" cy="31750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736600" y="2260600"/>
            <a:ext cx="4724400" cy="259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三条数据路径</a:t>
            </a:r>
            <a:endParaRPr lang="zh-CN" sz="1700"/>
          </a:p>
          <a:p>
            <a:pPr algn="l"/>
            <a:r>
              <a:rPr lang="zh-CN" alt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共享快照与分层采集</a:t>
            </a:r>
            <a:endParaRPr lang="zh-CN" sz="1700"/>
          </a:p>
          <a:p>
            <a:pPr algn="l"/>
            <a:r>
              <a:rPr lang="zh-CN" alt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strong / eventual 路由</a:t>
            </a:r>
            <a:endParaRPr lang="zh-CN" sz="1700"/>
          </a:p>
          <a:p>
            <a:pPr algn="l"/>
            <a:r>
              <a:rPr lang="zh-CN" alt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分层权限与四类账号</a:t>
            </a:r>
            <a:endParaRPr lang="zh-CN" sz="1700"/>
          </a:p>
          <a:p>
            <a:pPr algn="l"/>
            <a:r>
              <a:rPr lang="zh-CN" alt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受控写入、幂等与审计</a:t>
            </a:r>
            <a:endParaRPr lang="zh-CN" sz="1700"/>
          </a:p>
        </p:txBody>
      </p:sp>
      <p:sp>
        <p:nvSpPr>
          <p:cNvPr id="14" name="Text 14"/>
          <p:cNvSpPr txBox="1"/>
          <p:nvPr/>
        </p:nvSpPr>
        <p:spPr>
          <a:xfrm>
            <a:off x="6680200" y="2260600"/>
            <a:ext cx="4724400" cy="2590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任意 SQL</a:t>
            </a:r>
            <a:endParaRPr lang="zh-CN" sz="1700"/>
          </a:p>
          <a:p>
            <a:pPr algn="l"/>
            <a:r>
              <a:rPr lang="zh-CN" alt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迁移 / grants</a:t>
            </a:r>
            <a:endParaRPr lang="zh-CN" sz="1700"/>
          </a:p>
          <a:p>
            <a:pPr algn="l"/>
            <a:r>
              <a:rPr lang="zh-CN" alt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复制控制</a:t>
            </a:r>
            <a:endParaRPr lang="zh-CN" sz="1700"/>
          </a:p>
          <a:p>
            <a:pPr algn="l"/>
            <a:r>
              <a:rPr lang="zh-CN" alt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自动故障切换</a:t>
            </a:r>
            <a:endParaRPr lang="zh-CN" sz="1700"/>
          </a:p>
          <a:p>
            <a:pPr algn="l"/>
            <a:r>
              <a:rPr lang="zh-CN" altLang="en-US" sz="17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任务控制</a:t>
            </a:r>
            <a:endParaRPr lang="zh-CN" sz="1700"/>
          </a:p>
        </p:txBody>
      </p:sp>
      <p:sp>
        <p:nvSpPr>
          <p:cNvPr id="15" name="Text 15"/>
          <p:cNvSpPr txBox="1"/>
          <p:nvPr/>
        </p:nvSpPr>
        <p:spPr>
          <a:xfrm>
            <a:off x="406400" y="5422900"/>
            <a:ext cx="11379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9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边界越清楚，系统越可靠</a:t>
            </a:r>
            <a:endParaRPr lang="zh-CN"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406400" y="304800"/>
            <a:ext cx="127000" cy="127000"/>
          </a:xfrm>
          <a:prstGeom prst="rect">
            <a:avLst/>
          </a:prstGeom>
          <a:solidFill>
            <a:srgbClr val="FF6B35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711200" y="2032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最终得到的是数据库治理闭环</a:t>
            </a:r>
            <a:endParaRPr lang="zh-CN" sz="3400"/>
          </a:p>
        </p:txBody>
      </p:sp>
      <p:cxnSp>
        <p:nvCxnSpPr>
          <p:cNvPr id="4" name="Connector 4"/>
          <p:cNvCxnSpPr/>
          <p:nvPr/>
        </p:nvCxnSpPr>
        <p:spPr>
          <a:xfrm>
            <a:off x="406400" y="6248400"/>
            <a:ext cx="11379200" cy="1270"/>
          </a:xfrm>
          <a:prstGeom prst="line">
            <a:avLst/>
          </a:prstGeom>
          <a:ln w="12700">
            <a:solidFill>
              <a:srgbClr val="B8BCC4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406400" y="6375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CausalChat · 阶段一数据库管理</a:t>
            </a:r>
            <a:endParaRPr lang="zh-CN" sz="1000"/>
          </a:p>
        </p:txBody>
      </p:sp>
      <p:sp>
        <p:nvSpPr>
          <p:cNvPr id="6" name="Text 6"/>
          <p:cNvSpPr txBox="1"/>
          <p:nvPr/>
        </p:nvSpPr>
        <p:spPr>
          <a:xfrm>
            <a:off x="11252200" y="6350000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/>
            <a:r>
              <a:rPr lang="zh-CN" altLang="en-US" sz="1000" b="0" dirty="0">
                <a:solidFill>
                  <a:srgbClr val="555555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zh-CN" sz="1000"/>
          </a:p>
        </p:txBody>
      </p:sp>
      <p:sp>
        <p:nvSpPr>
          <p:cNvPr id="7" name="Rectangle 7"/>
          <p:cNvSpPr/>
          <p:nvPr/>
        </p:nvSpPr>
        <p:spPr>
          <a:xfrm>
            <a:off x="4572000" y="2387600"/>
            <a:ext cx="3048000" cy="149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953000" y="2679700"/>
            <a:ext cx="2286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13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DATABASE</a:t>
            </a:r>
            <a:endParaRPr lang="zh-CN" sz="1300"/>
          </a:p>
        </p:txBody>
      </p:sp>
      <p:sp>
        <p:nvSpPr>
          <p:cNvPr id="9" name="Text 9"/>
          <p:cNvSpPr txBox="1"/>
          <p:nvPr/>
        </p:nvSpPr>
        <p:spPr>
          <a:xfrm>
            <a:off x="4953000" y="3149600"/>
            <a:ext cx="2286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数据库治理</a:t>
            </a:r>
            <a:endParaRPr lang="zh-CN" sz="2400"/>
          </a:p>
        </p:txBody>
      </p:sp>
      <p:sp>
        <p:nvSpPr>
          <p:cNvPr id="10" name="Rectangle 10"/>
          <p:cNvSpPr/>
          <p:nvPr/>
        </p:nvSpPr>
        <p:spPr>
          <a:xfrm>
            <a:off x="1143000" y="1625600"/>
            <a:ext cx="1981200" cy="914400"/>
          </a:xfrm>
          <a:prstGeom prst="rect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346200" y="1879600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9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观测</a:t>
            </a:r>
            <a:endParaRPr lang="zh-CN" sz="1900"/>
          </a:p>
        </p:txBody>
      </p:sp>
      <p:sp>
        <p:nvSpPr>
          <p:cNvPr id="12" name="Rectangle 12"/>
          <p:cNvSpPr/>
          <p:nvPr/>
        </p:nvSpPr>
        <p:spPr>
          <a:xfrm>
            <a:off x="4953000" y="1371600"/>
            <a:ext cx="198120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156200" y="1625600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降压</a:t>
            </a:r>
            <a:endParaRPr lang="zh-CN" sz="1900"/>
          </a:p>
        </p:txBody>
      </p:sp>
      <p:sp>
        <p:nvSpPr>
          <p:cNvPr id="14" name="Rectangle 14"/>
          <p:cNvSpPr/>
          <p:nvPr/>
        </p:nvSpPr>
        <p:spPr>
          <a:xfrm>
            <a:off x="9067800" y="1625600"/>
            <a:ext cx="1981200" cy="914400"/>
          </a:xfrm>
          <a:prstGeom prst="rect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9271000" y="1879600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900" b="1" dirty="0">
                <a:solidFill>
                  <a:srgbClr val="276EF1"/>
                </a:solidFill>
                <a:latin typeface="微软雅黑" panose="020B0503020204020204" charset="-122"/>
                <a:ea typeface="微软雅黑" panose="020B0503020204020204" charset="-122"/>
              </a:rPr>
              <a:t>一致性</a:t>
            </a:r>
            <a:endParaRPr lang="zh-CN" sz="1900"/>
          </a:p>
        </p:txBody>
      </p:sp>
      <p:sp>
        <p:nvSpPr>
          <p:cNvPr id="16" name="Rectangle 16"/>
          <p:cNvSpPr/>
          <p:nvPr/>
        </p:nvSpPr>
        <p:spPr>
          <a:xfrm>
            <a:off x="9067800" y="4343400"/>
            <a:ext cx="198120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9271000" y="4597400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权限</a:t>
            </a:r>
            <a:endParaRPr lang="zh-CN" sz="1900"/>
          </a:p>
        </p:txBody>
      </p:sp>
      <p:sp>
        <p:nvSpPr>
          <p:cNvPr id="18" name="Rectangle 18"/>
          <p:cNvSpPr/>
          <p:nvPr/>
        </p:nvSpPr>
        <p:spPr>
          <a:xfrm>
            <a:off x="4953000" y="4749800"/>
            <a:ext cx="198120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5156200" y="5003800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9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并发</a:t>
            </a:r>
            <a:endParaRPr lang="zh-CN" sz="1900"/>
          </a:p>
        </p:txBody>
      </p:sp>
      <p:sp>
        <p:nvSpPr>
          <p:cNvPr id="20" name="Rectangle 20"/>
          <p:cNvSpPr/>
          <p:nvPr/>
        </p:nvSpPr>
        <p:spPr>
          <a:xfrm>
            <a:off x="1143000" y="4343400"/>
            <a:ext cx="1981200" cy="914400"/>
          </a:xfrm>
          <a:prstGeom prst="rect">
            <a:avLst/>
          </a:prstGeom>
          <a:solidFill>
            <a:srgbClr val="E8F5EF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1346200" y="4597400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lang="zh-CN" altLang="en-US" sz="1900" b="1" dirty="0">
                <a:solidFill>
                  <a:srgbClr val="178A5B"/>
                </a:solidFill>
                <a:latin typeface="微软雅黑" panose="020B0503020204020204" charset="-122"/>
                <a:ea typeface="微软雅黑" panose="020B0503020204020204" charset="-122"/>
              </a:rPr>
              <a:t>审计</a:t>
            </a:r>
            <a:endParaRPr lang="zh-CN" sz="1900"/>
          </a:p>
        </p:txBody>
      </p:sp>
      <p:cxnSp>
        <p:nvCxnSpPr>
          <p:cNvPr id="22" name="Connector 22"/>
          <p:cNvCxnSpPr/>
          <p:nvPr/>
        </p:nvCxnSpPr>
        <p:spPr>
          <a:xfrm>
            <a:off x="3124200" y="2082800"/>
            <a:ext cx="1447800" cy="711200"/>
          </a:xfrm>
          <a:prstGeom prst="line">
            <a:avLst/>
          </a:prstGeom>
          <a:ln w="19050">
            <a:solidFill>
              <a:srgbClr val="B8BCC4"/>
            </a:solidFill>
            <a:tailEnd type="triangle" w="sm" len="sm"/>
          </a:ln>
        </p:spPr>
      </p:cxnSp>
      <p:cxnSp>
        <p:nvCxnSpPr>
          <p:cNvPr id="23" name="Connector 23"/>
          <p:cNvCxnSpPr/>
          <p:nvPr/>
        </p:nvCxnSpPr>
        <p:spPr>
          <a:xfrm>
            <a:off x="5943600" y="2286000"/>
            <a:ext cx="152400" cy="101600"/>
          </a:xfrm>
          <a:prstGeom prst="line">
            <a:avLst/>
          </a:prstGeom>
          <a:ln w="19050">
            <a:solidFill>
              <a:srgbClr val="B8BCC4"/>
            </a:solidFill>
            <a:tailEnd type="triangle" w="sm" len="sm"/>
          </a:ln>
        </p:spPr>
      </p:cxnSp>
      <p:cxnSp>
        <p:nvCxnSpPr>
          <p:cNvPr id="24" name="Connector 24"/>
          <p:cNvCxnSpPr/>
          <p:nvPr/>
        </p:nvCxnSpPr>
        <p:spPr>
          <a:xfrm flipH="1">
            <a:off x="7620000" y="2082800"/>
            <a:ext cx="1447800" cy="711200"/>
          </a:xfrm>
          <a:prstGeom prst="line">
            <a:avLst/>
          </a:prstGeom>
          <a:ln w="19050">
            <a:solidFill>
              <a:srgbClr val="B8BCC4"/>
            </a:solidFill>
            <a:tailEnd type="triangle" w="sm" len="sm"/>
          </a:ln>
        </p:spPr>
      </p:cxnSp>
      <p:cxnSp>
        <p:nvCxnSpPr>
          <p:cNvPr id="25" name="Connector 25"/>
          <p:cNvCxnSpPr/>
          <p:nvPr/>
        </p:nvCxnSpPr>
        <p:spPr>
          <a:xfrm flipH="1" flipV="1">
            <a:off x="7620000" y="3632200"/>
            <a:ext cx="1447800" cy="1168400"/>
          </a:xfrm>
          <a:prstGeom prst="line">
            <a:avLst/>
          </a:prstGeom>
          <a:ln w="19050">
            <a:solidFill>
              <a:srgbClr val="B8BCC4"/>
            </a:solidFill>
            <a:tailEnd type="triangle" w="sm" len="sm"/>
          </a:ln>
        </p:spPr>
      </p:cxnSp>
      <p:cxnSp>
        <p:nvCxnSpPr>
          <p:cNvPr id="26" name="Connector 26"/>
          <p:cNvCxnSpPr/>
          <p:nvPr/>
        </p:nvCxnSpPr>
        <p:spPr>
          <a:xfrm flipV="1">
            <a:off x="5943600" y="3886200"/>
            <a:ext cx="152400" cy="863600"/>
          </a:xfrm>
          <a:prstGeom prst="line">
            <a:avLst/>
          </a:prstGeom>
          <a:ln w="19050">
            <a:solidFill>
              <a:srgbClr val="B8BCC4"/>
            </a:solidFill>
            <a:tailEnd type="triangle" w="sm" len="sm"/>
          </a:ln>
        </p:spPr>
      </p:cxnSp>
      <p:cxnSp>
        <p:nvCxnSpPr>
          <p:cNvPr id="27" name="Connector 27"/>
          <p:cNvCxnSpPr/>
          <p:nvPr/>
        </p:nvCxnSpPr>
        <p:spPr>
          <a:xfrm flipV="1">
            <a:off x="3124200" y="3632200"/>
            <a:ext cx="1447800" cy="1168400"/>
          </a:xfrm>
          <a:prstGeom prst="line">
            <a:avLst/>
          </a:prstGeom>
          <a:ln w="19050">
            <a:solidFill>
              <a:srgbClr val="B8BCC4"/>
            </a:solidFill>
            <a:tailEnd type="triangle" w="sm" len="sm"/>
          </a:ln>
        </p:spPr>
      </p:cxnSp>
      <p:sp>
        <p:nvSpPr>
          <p:cNvPr id="28" name="Text 28"/>
          <p:cNvSpPr txBox="1"/>
          <p:nvPr/>
        </p:nvSpPr>
        <p:spPr>
          <a:xfrm>
            <a:off x="3302000" y="55626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zh-CN" altLang="en-US" sz="2000" b="1" dirty="0">
                <a:solidFill>
                  <a:srgbClr val="FF6B35"/>
                </a:solidFill>
                <a:latin typeface="微软雅黑" panose="020B0503020204020204" charset="-122"/>
                <a:ea typeface="微软雅黑" panose="020B0503020204020204" charset="-122"/>
              </a:rPr>
              <a:t>看得见 · 读得稳 · 写得住 · 查得到</a:t>
            </a:r>
            <a:endParaRPr lang="zh-CN" sz="2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8,&quot;left&quot;:32,&quot;top&quot;:114,&quot;width&quot;:896}"/>
</p:tagLst>
</file>

<file path=ppt/tags/tag2.xml><?xml version="1.0" encoding="utf-8"?>
<p:tagLst xmlns:p="http://schemas.openxmlformats.org/presentationml/2006/main">
  <p:tag name="KSO_WM_DIAGRAM_VIRTUALLY_FRAME" val="{&quot;height&quot;:228,&quot;left&quot;:32,&quot;top&quot;:114,&quot;width&quot;:896}"/>
</p:tagLst>
</file>

<file path=ppt/tags/tag3.xml><?xml version="1.0" encoding="utf-8"?>
<p:tagLst xmlns:p="http://schemas.openxmlformats.org/presentationml/2006/main">
  <p:tag name="KSO_WM_DIAGRAM_VIRTUALLY_FRAME" val="{&quot;height&quot;:228,&quot;left&quot;:32,&quot;top&quot;:114,&quot;width&quot;:896}"/>
</p:tagLst>
</file>

<file path=ppt/tags/tag4.xml><?xml version="1.0" encoding="utf-8"?>
<p:tagLst xmlns:p="http://schemas.openxmlformats.org/presentationml/2006/main">
  <p:tag name="KSO_WM_DIAGRAM_VIRTUALLY_FRAME" val="{&quot;height&quot;:228,&quot;left&quot;:32,&quot;top&quot;:114,&quot;width&quot;:896}"/>
</p:tagLst>
</file>

<file path=ppt/tags/tag5.xml><?xml version="1.0" encoding="utf-8"?>
<p:tagLst xmlns:p="http://schemas.openxmlformats.org/presentationml/2006/main">
  <p:tag name="KSO_WM_DIAGRAM_VIRTUALLY_FRAME" val="{&quot;height&quot;:228,&quot;left&quot;:32,&quot;top&quot;:114,&quot;width&quot;:896}"/>
</p:tagLst>
</file>

<file path=ppt/tags/tag6.xml><?xml version="1.0" encoding="utf-8"?>
<p:tagLst xmlns:p="http://schemas.openxmlformats.org/presentationml/2006/main">
  <p:tag name="KSO_WM_DIAGRAM_VIRTUALLY_FRAME" val="{&quot;height&quot;:228,&quot;left&quot;:32,&quot;top&quot;:114,&quot;width&quot;:896}"/>
</p:tagLst>
</file>

<file path=ppt/tags/tag7.xml><?xml version="1.0" encoding="utf-8"?>
<p:tagLst xmlns:p="http://schemas.openxmlformats.org/presentationml/2006/main">
  <p:tag name="KSO_WM_DIAGRAM_VIRTUALLY_FRAME" val="{&quot;height&quot;:228,&quot;left&quot;:32,&quot;top&quot;:114,&quot;width&quot;:896}"/>
</p:tagLst>
</file>

<file path=ppt/tags/tag8.xml><?xml version="1.0" encoding="utf-8"?>
<p:tagLst xmlns:p="http://schemas.openxmlformats.org/presentationml/2006/main">
  <p:tag name="KSO_WM_DIAGRAM_VIRTUALLY_FRAME" val="{&quot;height&quot;:228,&quot;left&quot;:32,&quot;top&quot;:114,&quot;width&quot;:896}"/>
</p:tagLst>
</file>

<file path=ppt/tags/tag9.xml><?xml version="1.0" encoding="utf-8"?>
<p:tagLst xmlns:p="http://schemas.openxmlformats.org/presentationml/2006/main">
  <p:tag name="KSO_WM_DIAGRAM_VIRTUALLY_FRAME" val="{&quot;height&quot;:228,&quot;left&quot;:32,&quot;top&quot;:114,&quot;width&quot;:896}"/>
</p:tagLst>
</file>

<file path=ppt/tags/tag10.xml><?xml version="1.0" encoding="utf-8"?>
<p:tagLst xmlns:p="http://schemas.openxmlformats.org/presentationml/2006/main">
  <p:tag name="KSO_WM_DIAGRAM_VIRTUALLY_FRAME" val="{&quot;height&quot;:228,&quot;left&quot;:32,&quot;top&quot;:114,&quot;width&quot;:896}"/>
</p:tagLst>
</file>

<file path=ppt/tags/tag11.xml><?xml version="1.0" encoding="utf-8"?>
<p:tagLst xmlns:p="http://schemas.openxmlformats.org/presentationml/2006/main">
  <p:tag name="KSO_WM_DIAGRAM_VIRTUALLY_FRAME" val="{&quot;height&quot;:228,&quot;left&quot;:32,&quot;top&quot;:114,&quot;width&quot;:896}"/>
</p:tagLst>
</file>

<file path=ppt/tags/tag12.xml><?xml version="1.0" encoding="utf-8"?>
<p:tagLst xmlns:p="http://schemas.openxmlformats.org/presentationml/2006/main">
  <p:tag name="KSO_WM_DIAGRAM_VIRTUALLY_FRAME" val="{&quot;height&quot;:228,&quot;left&quot;:32,&quot;top&quot;:114,&quot;width&quot;:896}"/>
</p:tagLst>
</file>

<file path=ppt/tags/tag13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14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15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16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17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18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19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20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21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22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23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24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25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26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27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28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29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ags/tag30.xml><?xml version="1.0" encoding="utf-8"?>
<p:tagLst xmlns:p="http://schemas.openxmlformats.org/presentationml/2006/main">
  <p:tag name="KSO_WM_DIAGRAM_VIRTUALLY_FRAME" val="{&quot;height&quot;:264,&quot;left&quot;:32,&quot;top&quot;:112,&quot;width&quot;:888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16x9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2508</Words>
  <Application>WPS 演示</Application>
  <PresentationFormat>全屏显示(16:9)</PresentationFormat>
  <Paragraphs>490</Paragraphs>
  <Slides>14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Wingdings 2</vt:lpstr>
      <vt:lpstr>微软雅黑</vt:lpstr>
      <vt:lpstr>Tw Cen MT</vt:lpstr>
      <vt:lpstr>Arial Unicode MS</vt:lpstr>
      <vt:lpstr>华文仿宋</vt:lpstr>
      <vt:lpstr>Calibri</vt:lpstr>
      <vt:lpstr>WidescreenPresentation16x9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CausalChat 阶段一数据库管理 · 投屏版</dc:title>
  <dc:creator>CausalChat</dc:creator>
  <dc:subject>CausalChat 阶段一数据库管理</dc:subject>
  <cp:lastModifiedBy>钟江铭</cp:lastModifiedBy>
  <cp:revision>8</cp:revision>
  <dcterms:created xsi:type="dcterms:W3CDTF">2006-07-12T22:21:00Z</dcterms:created>
  <dcterms:modified xsi:type="dcterms:W3CDTF">2026-07-30T13:05:45Z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2052</vt:i4>
  </property>
  <property fmtid="{D5CDD505-2E9C-101B-9397-08002B2CF9AE}" pid="3" name="_Version">
    <vt:lpwstr>12.0.4518</vt:lpwstr>
  </property>
  <property fmtid="{D5CDD505-2E9C-101B-9397-08002B2CF9AE}" pid="4" name="KSOProductBuildVer">
    <vt:lpwstr>2052-12.1.0.26895</vt:lpwstr>
  </property>
  <property fmtid="{D5CDD505-2E9C-101B-9397-08002B2CF9AE}" pid="5" name="ICV">
    <vt:lpwstr>409D701E059541CABAFD0033835E6C8A_12</vt:lpwstr>
  </property>
</Properties>
</file>